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54965cb53c940c9" /><Relationship Type="http://schemas.openxmlformats.org/officeDocument/2006/relationships/extended-properties" Target="/docProps/app.xml" Id="Rc92794caabd84c04" /><Relationship Type="http://schemas.openxmlformats.org/officeDocument/2006/relationships/officeDocument" Target="/ppt/presentation.xml" Id="R8623a52a7238447f" /></Relationships>
</file>

<file path=ppt/presentation.xml><?xml version="1.0" encoding="utf-8"?>
<p:presentation xmlns:p="http://schemas.openxmlformats.org/presentationml/2006/main">
  <p:sldMasterIdLst>
    <p:sldMasterId xmlns:r="http://schemas.openxmlformats.org/officeDocument/2006/relationships" id="2147483648" r:id="R213ef111b0da4789"/>
  </p:sldMasterIdLst>
  <p:notesMasterIdLst>
    <p:notesMasterId xmlns:r="http://schemas.openxmlformats.org/officeDocument/2006/relationships" r:id="R6dbae2f1a8be4c30"/>
  </p:notesMasterIdLst>
  <p:sldIdLst>
    <p:sldId xmlns:r="http://schemas.openxmlformats.org/officeDocument/2006/relationships" id="256" r:id="R208be3f2a6954cb2"/>
    <p:sldId xmlns:r="http://schemas.openxmlformats.org/officeDocument/2006/relationships" id="257" r:id="Rf94153d5e64a453d"/>
    <p:sldId xmlns:r="http://schemas.openxmlformats.org/officeDocument/2006/relationships" id="258" r:id="R4c8872ce21324aa3"/>
    <p:sldId xmlns:r="http://schemas.openxmlformats.org/officeDocument/2006/relationships" id="259" r:id="R1db027f53a20498a"/>
    <p:sldId xmlns:r="http://schemas.openxmlformats.org/officeDocument/2006/relationships" id="260" r:id="Rec4d278c4d9a4513"/>
    <p:sldId xmlns:r="http://schemas.openxmlformats.org/officeDocument/2006/relationships" id="261" r:id="Rbd22c99a3c144656"/>
    <p:sldId xmlns:r="http://schemas.openxmlformats.org/officeDocument/2006/relationships" id="262" r:id="R4be4c64e50e74204"/>
    <p:sldId xmlns:r="http://schemas.openxmlformats.org/officeDocument/2006/relationships" id="263" r:id="R2ef532d7438c43bd"/>
    <p:sldId xmlns:r="http://schemas.openxmlformats.org/officeDocument/2006/relationships" id="264" r:id="R5917d8740e794c97"/>
    <p:sldId xmlns:r="http://schemas.openxmlformats.org/officeDocument/2006/relationships" id="265" r:id="R693401982d414bc1"/>
    <p:sldId xmlns:r="http://schemas.openxmlformats.org/officeDocument/2006/relationships" id="266" r:id="R834d0cede99f436b"/>
    <p:sldId xmlns:r="http://schemas.openxmlformats.org/officeDocument/2006/relationships" id="267" r:id="R7938490537284ea4"/>
    <p:sldId xmlns:r="http://schemas.openxmlformats.org/officeDocument/2006/relationships" id="268" r:id="Rdf1a5e66599f43fb"/>
    <p:sldId xmlns:r="http://schemas.openxmlformats.org/officeDocument/2006/relationships" id="269" r:id="Re2de9e5ca0a344d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b342db8136c44e4" /><Relationship Type="http://schemas.openxmlformats.org/officeDocument/2006/relationships/slideMaster" Target="/ppt/slideMasters/slideMaster1.xml" Id="R213ef111b0da4789" /><Relationship Type="http://schemas.openxmlformats.org/officeDocument/2006/relationships/notesMaster" Target="/ppt/notesMasters/notesMaster1.xml" Id="R6dbae2f1a8be4c30" /><Relationship Type="http://schemas.openxmlformats.org/officeDocument/2006/relationships/presProps" Target="/ppt/presProps.xml" Id="R9741a20004064249" /><Relationship Type="http://schemas.openxmlformats.org/officeDocument/2006/relationships/viewProps" Target="/ppt/viewProps.xml" Id="Rdc1259302d404fca" /><Relationship Type="http://schemas.openxmlformats.org/officeDocument/2006/relationships/tableStyles" Target="/ppt/tableStyles.xml" Id="R9eda17052ed34f62" /><Relationship Type="http://schemas.openxmlformats.org/officeDocument/2006/relationships/slide" Target="/ppt/slides/slide1.xml" Id="R208be3f2a6954cb2" /><Relationship Type="http://schemas.openxmlformats.org/officeDocument/2006/relationships/slide" Target="/ppt/slides/slide2.xml" Id="Rf94153d5e64a453d" /><Relationship Type="http://schemas.openxmlformats.org/officeDocument/2006/relationships/slide" Target="/ppt/slides/slide3.xml" Id="R4c8872ce21324aa3" /><Relationship Type="http://schemas.openxmlformats.org/officeDocument/2006/relationships/slide" Target="/ppt/slides/slide4.xml" Id="R1db027f53a20498a" /><Relationship Type="http://schemas.openxmlformats.org/officeDocument/2006/relationships/slide" Target="/ppt/slides/slide5.xml" Id="Rec4d278c4d9a4513" /><Relationship Type="http://schemas.openxmlformats.org/officeDocument/2006/relationships/slide" Target="/ppt/slides/slide6.xml" Id="Rbd22c99a3c144656" /><Relationship Type="http://schemas.openxmlformats.org/officeDocument/2006/relationships/slide" Target="/ppt/slides/slide7.xml" Id="R4be4c64e50e74204" /><Relationship Type="http://schemas.openxmlformats.org/officeDocument/2006/relationships/slide" Target="/ppt/slides/slide8.xml" Id="R2ef532d7438c43bd" /><Relationship Type="http://schemas.openxmlformats.org/officeDocument/2006/relationships/slide" Target="/ppt/slides/slide9.xml" Id="R5917d8740e794c97" /><Relationship Type="http://schemas.openxmlformats.org/officeDocument/2006/relationships/slide" Target="/ppt/slides/slide10.xml" Id="R693401982d414bc1" /><Relationship Type="http://schemas.openxmlformats.org/officeDocument/2006/relationships/slide" Target="/ppt/slides/slide11.xml" Id="R834d0cede99f436b" /><Relationship Type="http://schemas.openxmlformats.org/officeDocument/2006/relationships/slide" Target="/ppt/slides/slide12.xml" Id="R7938490537284ea4" /><Relationship Type="http://schemas.openxmlformats.org/officeDocument/2006/relationships/slide" Target="/ppt/slides/slide13.xml" Id="Rdf1a5e66599f43fb" /><Relationship Type="http://schemas.openxmlformats.org/officeDocument/2006/relationships/slide" Target="/ppt/slides/slide14.xml" Id="Re2de9e5ca0a344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0c634f00934b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e179b7e99b4c9a" /><Relationship Type="http://schemas.openxmlformats.org/officeDocument/2006/relationships/notesMaster" Target="/ppt/notesMasters/notesMaster1.xml" Id="R7903ad60ad624c17" /></Relationships>
</file>

<file path=ppt/notesSlides/_rels/notesSlide2.xml.rels>&#65279;<?xml version="1.0" encoding="utf-8"?><Relationships xmlns="http://schemas.openxmlformats.org/package/2006/relationships"><Relationship Type="http://schemas.openxmlformats.org/officeDocument/2006/relationships/slide" Target="/ppt/slides/slide2.xml" Id="R8ef380bd7e684a18" /><Relationship Type="http://schemas.openxmlformats.org/officeDocument/2006/relationships/notesMaster" Target="/ppt/notesMasters/notesMaster1.xml" Id="R2272df787ff143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265410744394993" /><Relationship Type="http://schemas.openxmlformats.org/officeDocument/2006/relationships/notesMaster" Target="/ppt/notesMasters/notesMaster1.xml" Id="R85e418e2971a44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49d9d8d2124d23" /><Relationship Type="http://schemas.openxmlformats.org/officeDocument/2006/relationships/notesMaster" Target="/ppt/notesMasters/notesMaster1.xml" Id="Rc8d18d1ca0bf4a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070969c56a3e48de" /><Relationship Type="http://schemas.openxmlformats.org/officeDocument/2006/relationships/notesMaster" Target="/ppt/notesMasters/notesMaster1.xml" Id="R6c793c4443914d47"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f323a22bc645e4" /><Relationship Type="http://schemas.openxmlformats.org/officeDocument/2006/relationships/notesMaster" Target="/ppt/notesMasters/notesMaster1.xml" Id="R521a32da674e40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ba4d8020e94ab0" /><Relationship Type="http://schemas.openxmlformats.org/officeDocument/2006/relationships/notesMaster" Target="/ppt/notesMasters/notesMaster1.xml" Id="R491b978b9362408b" /></Relationships>
</file>

<file path=ppt/notesSlides/_rels/notesSlide8.xml.rels>&#65279;<?xml version="1.0" encoding="utf-8"?><Relationships xmlns="http://schemas.openxmlformats.org/package/2006/relationships"><Relationship Type="http://schemas.openxmlformats.org/officeDocument/2006/relationships/slide" Target="/ppt/slides/slide8.xml" Id="R91d9a35517fe4b73" /><Relationship Type="http://schemas.openxmlformats.org/officeDocument/2006/relationships/notesMaster" Target="/ppt/notesMasters/notesMaster1.xml" Id="R75fdc0080b2a4262" /></Relationships>
</file>

<file path=ppt/notesSlides/_rels/notesSlide9.xml.rels>&#65279;<?xml version="1.0" encoding="utf-8"?><Relationships xmlns="http://schemas.openxmlformats.org/package/2006/relationships"><Relationship Type="http://schemas.openxmlformats.org/officeDocument/2006/relationships/slide" Target="/ppt/slides/slide9.xml" Id="R6e43da7659e04ea9" /><Relationship Type="http://schemas.openxmlformats.org/officeDocument/2006/relationships/notesMaster" Target="/ppt/notesMasters/notesMaster1.xml" Id="R0aadb4e23012463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432b3c65c2d4504" /><Relationship Type="http://schemas.openxmlformats.org/officeDocument/2006/relationships/notesMaster" Target="/ppt/notesMasters/notesMaster1.xml" Id="R0730647054ac4b0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5a920f0e17343e3" /><Relationship Type="http://schemas.openxmlformats.org/officeDocument/2006/relationships/notesMaster" Target="/ppt/notesMasters/notesMaster1.xml" Id="R334322f89ba3461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ffa9168e0ad415e" /><Relationship Type="http://schemas.openxmlformats.org/officeDocument/2006/relationships/notesMaster" Target="/ppt/notesMasters/notesMaster1.xml" Id="Rcb97b055b9594ec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30465229ba24ed6" /><Relationship Type="http://schemas.openxmlformats.org/officeDocument/2006/relationships/notesMaster" Target="/ppt/notesMasters/notesMaster1.xml" Id="Ra758dd3804a2467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37d3f7757b949dc" /><Relationship Type="http://schemas.openxmlformats.org/officeDocument/2006/relationships/notesMaster" Target="/ppt/notesMasters/notesMaster1.xml" Id="R3f0483cdbc69492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Counts come from the completed normalized-full-sequence audit. 589 means additional copies, not 589 repeated groups. Identical observed API behavior does not necessarily imply identical malware or erroneous labels. Tokenization documentation: https://scikit-learn.org/stable/modules/generated/sklearn.feature_extraction.text.TfidfVectorizer.html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StratifiedGroupKFold: https://scikit-learn.org/stable/modules/generated/sklearn.model_selection.StratifiedGroupKFold.html . Random seed 42. Outer training only for TF-IDF and models. SVC internal probability calibration is not group-aware, although it uses outer-training data only.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XGBoost: learning_rate 0.1, subsample 0.8, colsample_bytree 0.8, tree_method hist, multi:softprob. RF and SVM use balanced class weights in weighted settings; XGBoost uses balanced sample weights. No hyperparameter search. All models use seed 42.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saved five-fold summary CSVs supplied by the team. Best observed CV configuration, not performance on an independent final test set. Do not attribute the old-to-new difference to a single fix.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three saved five-fold summary files. Most-common-class baseline: mean accuracy 0.1272; mean macro-F1 0.0282. Weighted unigram, weighted 1–3 gram, unweighted 1–3 gram configurations. SD describes variation across the five folds.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xgboost_per_class_means.csv and xgboost_confusion_matrix_counts.csv. The table averages fold metrics and is not recomputed from the pooled confusion matrix. Original supplied figures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Class weighting may change category-level performance even when macro-F1 changes little. Weighted XGBoost Adware mean recall 0.7681 versus unweighted 0.7490. No significance test or equivalence test was 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 experiment verified from MalAPI_Split_Comparison_20260921_123136.zip: all 7,107 held-out prediction rows, sample IDs, labels, fold assignments, overlap flags and metrics checked. Ordinary five-fold mean minus grouped: accuracy 2.258758 percentage points; macro precision 2.204661 pp; macro recall 2.412876 pp; macro-F1 2.404634 pp. Ordinary test overlap counts: 165,159,145,158,161. Shared groups: 122,113,111,110,128. No significance claim. Different partitions prevent causal attribution of the complete difference to overlap. Only weighted combined 1–3 gram Random Forest was compared. Settings record sklearn 1.6.1. Feature fitting uses each training fold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unmodified figure supplied in MalAPI_Split_Comparison_20260921_123136.zip, ordinary_vs_grouped_rf/split_comparison.png. Weighted combined 1–3 grams and RF with 300 trees, seed 42. Five-fold means and standard deviations. Accuracy 0.6397 grouped versus 0.6623 ordinary; macro-F1 0.6498 versus 0.6738. These error bars are not confidence intervals. Test composition differs between protocols; no causal or significance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Published scores cannot be compared as controlled head-to-head results because preprocessing, model selection and splits differ. No global first or new algorithm claim.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1 is completed; points 2–5 are proposed extensions, not completed findings or guaranteed gains. Point 2: overlap and non-overlap subsets differ in composition; report counts and per-class support and interpret descriptively. Point 3: a post-hoc sensitivity analysis of existing held-out predictions, with no relabelling or retraining; excluding groups changes the evaluation population and does not establish improvement on the original task. Point 4: restrict the RF search budget, select settings in inner grouped validation using only outer-training data, then evaluate on the original untouched outer test fold; fit TF-IDF within each inner training fold. Compare tuned versus fixed RF over the same outer folds. Point 5: average class-aligned saved out-of-fold RF and XGBoost probabilities with equal weights; compare against existing three-model equal voting and XGBoost. Treat this as exploratory analysis because the configuration was proposed after seeing current results; an independent evaluation would be needed to confirm any selected improvement.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notebook: https://colab.research.google.com/drive/15LGubBMgX0g2SrTR0kcktygGyAW1ZC4v?usp=sharing . Main result directory: /content/drive/MyDrive/MalAPI_Corrected_Results/20260919_182045 . The earlier notebook is superseded.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14525214eac4328"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b36f03b4a54c9d" /><Relationship Type="http://schemas.openxmlformats.org/officeDocument/2006/relationships/slideLayout" Target="/ppt/slideLayouts/slideLayout1.xml" Id="R5496288921464fb8"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96288921464fb8"/>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541e366f8524b08" /><Relationship Type="http://schemas.openxmlformats.org/officeDocument/2006/relationships/notesSlide" Target="/ppt/notesSlides/notesSlide1.xml" Id="R31cd76f7e84648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2dadf5e9d2f4b54" /><Relationship Type="http://schemas.openxmlformats.org/officeDocument/2006/relationships/notesSlide" Target="/ppt/notesSlides/notesSlide2.xml" Id="Rf386a10749a5440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0e53e44ce184581" /><Relationship Type="http://schemas.openxmlformats.org/officeDocument/2006/relationships/notesSlide" Target="/ppt/notesSlides/notesSlide3.xml" Id="R59b0b247835d49a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7a021cec904472e" /><Relationship Type="http://schemas.openxmlformats.org/officeDocument/2006/relationships/notesSlide" Target="/ppt/notesSlides/notesSlide4.xml" Id="R635b0a1a2b604d3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394ca900f134b0b" /><Relationship Type="http://schemas.openxmlformats.org/officeDocument/2006/relationships/notesSlide" Target="/ppt/notesSlides/notesSlide5.xml" Id="Rffc3619bcac4434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15a754f92944d4e" /><Relationship Type="http://schemas.openxmlformats.org/officeDocument/2006/relationships/image" Target="/ppt/media/image.png" Id="R98ff63a0419f48f0" /><Relationship Type="http://schemas.openxmlformats.org/officeDocument/2006/relationships/notesSlide" Target="/ppt/notesSlides/notesSlide6.xml" Id="R1832417eeff347b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6bdceb392844db9" /><Relationship Type="http://schemas.openxmlformats.org/officeDocument/2006/relationships/notesSlide" Target="/ppt/notesSlides/notesSlide7.xml" Id="R8d10700ce82941d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199d0e4668045ba" /><Relationship Type="http://schemas.openxmlformats.org/officeDocument/2006/relationships/image" Target="/ppt/media/image2.png" Id="R7ac69dbefa674942" /><Relationship Type="http://schemas.openxmlformats.org/officeDocument/2006/relationships/notesSlide" Target="/ppt/notesSlides/notesSlide8.xml" Id="R228c873313104fe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224d824d5f24c2b" /><Relationship Type="http://schemas.openxmlformats.org/officeDocument/2006/relationships/image" Target="/ppt/media/image3.png" Id="R4cc508b9cad346f9" /><Relationship Type="http://schemas.openxmlformats.org/officeDocument/2006/relationships/notesSlide" Target="/ppt/notesSlides/notesSlide9.xml" Id="R11487041d5fd4ed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73481e4791f4e5a" /><Relationship Type="http://schemas.openxmlformats.org/officeDocument/2006/relationships/notesSlide" Target="/ppt/notesSlides/notesSlide10.xml" Id="R4c4c0382a54146e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4ae9e45ce984a2b" /><Relationship Type="http://schemas.openxmlformats.org/officeDocument/2006/relationships/image" Target="/ppt/media/image4.png" Id="Rcd26390a34aa4355" /><Relationship Type="http://schemas.openxmlformats.org/officeDocument/2006/relationships/notesSlide" Target="/ppt/notesSlides/notesSlide11.xml" Id="Rd456f67b21fc481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24d12aadd324bfa" /><Relationship Type="http://schemas.openxmlformats.org/officeDocument/2006/relationships/notesSlide" Target="/ppt/notesSlides/notesSlide12.xml" Id="R031a5b0358a84c8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edd565ac0d441b1" /><Relationship Type="http://schemas.openxmlformats.org/officeDocument/2006/relationships/notesSlide" Target="/ppt/notesSlides/notesSlide13.xml" Id="Rb93c3212b18a489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1fee0469e2a42b9" /><Relationship Type="http://schemas.openxmlformats.org/officeDocument/2006/relationships/hyperlink" Target="https://colab.research.google.com/drive/15LGubBMgX0g2SrTR0kcktygGyAW1ZC4v?usp=sharing" TargetMode="External" Id="R2bb21a9a11d045d3" /><Relationship Type="http://schemas.openxmlformats.org/officeDocument/2006/relationships/hyperlink" Target="https://colab.research.google.com/drive/1XHOD0KMd84VnPwSvnEXc-sr5DxjpEI9T?usp=sharing" TargetMode="External" Id="Rd94647bd20ae420f" /><Relationship Type="http://schemas.openxmlformats.org/officeDocument/2006/relationships/notesSlide" Target="/ppt/notesSlides/notesSlide14.xml" Id="R424a32ec18e3402a" /></Relationships>
</file>

<file path=ppt/slides/slide1.xml><?xml version="1.0" encoding="utf-8"?>
<p:sld xmlns:p="http://schemas.openxmlformats.org/presentationml/2006/main">
  <p:cSld>
    <p:bg>
      <p:bgPr>
        <a:solidFill xmlns:a="http://schemas.openxmlformats.org/drawingml/2006/main">
          <a:srgbClr val="1E2761"/>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0F0D22D-19F0-485D-A1A7-9ADA393BD780}"/>
              </a:ext>
            </a:extLst>
          </p:cNvPr>
          <p:cNvSpPr>
            <a:spLocks xmlns:a="http://schemas.openxmlformats.org/drawingml/2006/main" noGrp="1"/>
          </p:cNvSpPr>
          <p:nvPr/>
        </p:nvSpPr>
        <p:spPr>
          <a:xfrm xmlns:a="http://schemas.openxmlformats.org/drawingml/2006/main">
            <a:off x="0" y="0"/>
            <a:ext cx="12188952" cy="6858000"/>
          </a:xfrm>
          <a:prstGeom xmlns:a="http://schemas.openxmlformats.org/drawingml/2006/main" prst="rect">
            <a:avLst/>
          </a:prstGeom>
          <a:solidFill xmlns:a="http://schemas.openxmlformats.org/drawingml/2006/main">
            <a:srgbClr val="1E2761"/>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6F7ACB4A-9A82-434F-837D-6F56F20A39E3}"/>
              </a:ext>
            </a:extLst>
          </p:cNvPr>
          <p:cNvSpPr>
            <a:spLocks xmlns:a="http://schemas.openxmlformats.org/drawingml/2006/main" noGrp="1"/>
          </p:cNvSpPr>
          <p:nvPr/>
        </p:nvSpPr>
        <p:spPr>
          <a:xfrm xmlns:a="http://schemas.openxmlformats.org/drawingml/2006/main">
            <a:off x="9326880" y="-1645920"/>
            <a:ext cx="4572000" cy="4572000"/>
          </a:xfrm>
          <a:prstGeom xmlns:a="http://schemas.openxmlformats.org/drawingml/2006/main" prst="ellipse">
            <a:avLst/>
          </a:prstGeom>
          <a:solidFill xmlns:a="http://schemas.openxmlformats.org/drawingml/2006/main">
            <a:srgbClr val="263070"/>
          </a:solidFill>
        </p:spPr>
        <p:txBody>
          <a:bodyPr xmlns:a="http://schemas.openxmlformats.org/drawingml/2006/main"/>
          <a:lstStyle xmlns:a="http://schemas.openxmlformats.org/drawingml/2006/main"/>
          <a:p xmlns:a="http://schemas.openxmlformats.org/drawingml/2006/main">
            <a:endParaRPr/>
          </a:p>
        </p:txBody>
      </p:sp>
      <p:sp>
        <p:nvSpPr>
          <p:cNvPr id="4" name="Shape 2">
            <a:extLst xmlns:a="http://schemas.openxmlformats.org/drawingml/2006/main">
              <a:ext uri="{FF2B5EF4-FFF2-40B4-BE49-F238E27FC236}">
                <a16:creationId xmlns:a16="http://schemas.microsoft.com/office/drawing/2014/main" id="{114F200B-B02B-4E8F-B597-15491F1A68AD}"/>
              </a:ext>
            </a:extLst>
          </p:cNvPr>
          <p:cNvSpPr>
            <a:spLocks xmlns:a="http://schemas.openxmlformats.org/drawingml/2006/main" noGrp="1"/>
          </p:cNvSpPr>
          <p:nvPr/>
        </p:nvSpPr>
        <p:spPr>
          <a:xfrm xmlns:a="http://schemas.openxmlformats.org/drawingml/2006/main">
            <a:off x="-1371600" y="4754880"/>
            <a:ext cx="3657600" cy="3657600"/>
          </a:xfrm>
          <a:prstGeom xmlns:a="http://schemas.openxmlformats.org/drawingml/2006/main" prst="ellipse">
            <a:avLst/>
          </a:prstGeom>
          <a:solidFill xmlns:a="http://schemas.openxmlformats.org/drawingml/2006/main">
            <a:srgbClr val="263070"/>
          </a:solidFill>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A1E6B1B5-A480-48AA-87A9-C2793695E845}"/>
              </a:ext>
            </a:extLst>
          </p:cNvPr>
          <p:cNvSpPr>
            <a:spLocks xmlns:a="http://schemas.openxmlformats.org/drawingml/2006/main" noGrp="1"/>
          </p:cNvSpPr>
          <p:nvPr/>
        </p:nvSpPr>
        <p:spPr>
          <a:xfrm xmlns:a="http://schemas.openxmlformats.org/drawingml/2006/main">
            <a:off x="822960" y="137160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spc="300">
                <a:solidFill>
                  <a:srgbClr val="CADCFC"/>
                </a:solidFill>
                <a:latin typeface="Calibri"/>
                <a:ea typeface="Calibri"/>
                <a:cs typeface="Calibri"/>
              </a:rPr>
              <a:t>GROUP 16 RESEARCH PROJECT</a:t>
            </a:r>
            <a:endParaRPr sz="1400"/>
          </a:p>
        </p:txBody>
      </p:sp>
      <p:sp>
        <p:nvSpPr>
          <p:cNvPr id="6" name="Text 4">
            <a:extLst xmlns:a="http://schemas.openxmlformats.org/drawingml/2006/main">
              <a:ext uri="{FF2B5EF4-FFF2-40B4-BE49-F238E27FC236}">
                <a16:creationId xmlns:a16="http://schemas.microsoft.com/office/drawing/2014/main" id="{FD87B347-C2EA-4BA2-9D71-44FA392F64C2}"/>
              </a:ext>
            </a:extLst>
          </p:cNvPr>
          <p:cNvSpPr>
            <a:spLocks xmlns:a="http://schemas.openxmlformats.org/drawingml/2006/main" noGrp="1"/>
          </p:cNvSpPr>
          <p:nvPr/>
        </p:nvSpPr>
        <p:spPr>
          <a:xfrm xmlns:a="http://schemas.openxmlformats.org/drawingml/2006/main">
            <a:off x="822960" y="1828800"/>
            <a:ext cx="9875520" cy="1828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4400"/>
              </a:lnSpc>
              <a:buNone/>
            </a:pPr>
            <a:r>
              <a:rPr sz="3800" b="1">
                <a:solidFill>
                  <a:srgbClr val="FFFFFF"/>
                </a:solidFill>
                <a:latin typeface="Cambria"/>
                <a:ea typeface="Cambria"/>
                <a:cs typeface="Cambria"/>
              </a:rPr>
              <a:t>Duplicate-Aware Evaluation of</a:t>
            </a:r>
            <a:endParaRPr sz="3800"/>
          </a:p>
          <a:p xmlns:a="http://schemas.openxmlformats.org/drawingml/2006/main">
            <a:pPr marL="0" indent="0">
              <a:lnSpc>
                <a:spcPts val="4400"/>
              </a:lnSpc>
              <a:buNone/>
            </a:pPr>
            <a:r>
              <a:rPr sz="3800" b="1">
                <a:solidFill>
                  <a:srgbClr val="FFFFFF"/>
                </a:solidFill>
                <a:latin typeface="Cambria"/>
                <a:ea typeface="Cambria"/>
                <a:cs typeface="Cambria"/>
              </a:rPr>
              <a:t>API N-Gram Malware Classification</a:t>
            </a:r>
            <a:endParaRPr sz="3800"/>
          </a:p>
        </p:txBody>
      </p:sp>
      <p:sp>
        <p:nvSpPr>
          <p:cNvPr id="7" name="Text 5">
            <a:extLst xmlns:a="http://schemas.openxmlformats.org/drawingml/2006/main">
              <a:ext uri="{FF2B5EF4-FFF2-40B4-BE49-F238E27FC236}">
                <a16:creationId xmlns:a16="http://schemas.microsoft.com/office/drawing/2014/main" id="{5F47B024-F344-4D14-878F-479581F9DBA3}"/>
              </a:ext>
            </a:extLst>
          </p:cNvPr>
          <p:cNvSpPr>
            <a:spLocks xmlns:a="http://schemas.openxmlformats.org/drawingml/2006/main" noGrp="1"/>
          </p:cNvSpPr>
          <p:nvPr/>
        </p:nvSpPr>
        <p:spPr>
          <a:xfrm xmlns:a="http://schemas.openxmlformats.org/drawingml/2006/main">
            <a:off x="822960" y="3703320"/>
            <a:ext cx="96012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i="1">
                <a:solidFill>
                  <a:srgbClr val="CADCFC"/>
                </a:solidFill>
                <a:latin typeface="Calibri"/>
                <a:ea typeface="Calibri"/>
                <a:cs typeface="Calibri"/>
              </a:rPr>
              <a:t>Mal-API-2019: eight-category classification with RF, XGBoost, SVM and soft voting</a:t>
            </a:r>
            <a:endParaRPr sz="1500"/>
          </a:p>
        </p:txBody>
      </p:sp>
      <p:sp>
        <p:nvSpPr>
          <p:cNvPr id="8" name="Shape 6">
            <a:extLst xmlns:a="http://schemas.openxmlformats.org/drawingml/2006/main">
              <a:ext uri="{FF2B5EF4-FFF2-40B4-BE49-F238E27FC236}">
                <a16:creationId xmlns:a16="http://schemas.microsoft.com/office/drawing/2014/main" id="{196869E1-D85B-41F2-B910-78E0D542C0C0}"/>
              </a:ext>
            </a:extLst>
          </p:cNvPr>
          <p:cNvSpPr>
            <a:spLocks xmlns:a="http://schemas.openxmlformats.org/drawingml/2006/main" noGrp="1"/>
          </p:cNvSpPr>
          <p:nvPr/>
        </p:nvSpPr>
        <p:spPr>
          <a:xfrm xmlns:a="http://schemas.openxmlformats.org/drawingml/2006/main">
            <a:off x="822960" y="4343400"/>
            <a:ext cx="2926080" cy="0"/>
          </a:xfrm>
          <a:prstGeom xmlns:a="http://schemas.openxmlformats.org/drawingml/2006/main" prst="line">
            <a:avLst/>
          </a:prstGeom>
          <a:noFill xmlns:a="http://schemas.openxmlformats.org/drawingml/2006/main"/>
          <a:ln xmlns:a="http://schemas.openxmlformats.org/drawingml/2006/main" w="19050">
            <a:solidFill>
              <a:srgbClr val="CADCFC"/>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Text 7">
            <a:extLst xmlns:a="http://schemas.openxmlformats.org/drawingml/2006/main">
              <a:ext uri="{FF2B5EF4-FFF2-40B4-BE49-F238E27FC236}">
                <a16:creationId xmlns:a16="http://schemas.microsoft.com/office/drawing/2014/main" id="{D5864A69-0339-4624-90D8-5E9979286FB5}"/>
              </a:ext>
            </a:extLst>
          </p:cNvPr>
          <p:cNvSpPr>
            <a:spLocks xmlns:a="http://schemas.openxmlformats.org/drawingml/2006/main" noGrp="1"/>
          </p:cNvSpPr>
          <p:nvPr/>
        </p:nvSpPr>
        <p:spPr>
          <a:xfrm xmlns:a="http://schemas.openxmlformats.org/drawingml/2006/main">
            <a:off x="822960" y="4617720"/>
            <a:ext cx="457200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FFFFFF"/>
                </a:solidFill>
                <a:latin typeface="Calibri"/>
                <a:ea typeface="Calibri"/>
                <a:cs typeface="Calibri"/>
              </a:rPr>
              <a:t>Md Shohan Mia</a:t>
            </a:r>
            <a:endParaRPr sz="1600"/>
          </a:p>
          <a:p xmlns:a="http://schemas.openxmlformats.org/drawingml/2006/main">
            <a:pPr marL="0" indent="0">
              <a:buNone/>
            </a:pPr>
            <a:r>
              <a:rPr sz="1300">
                <a:solidFill>
                  <a:srgbClr val="CADCFC"/>
                </a:solidFill>
                <a:latin typeface="Calibri"/>
                <a:ea typeface="Calibri"/>
                <a:cs typeface="Calibri"/>
              </a:rPr>
              <a:t>0112230037   |   Group 16</a:t>
            </a:r>
            <a:endParaRPr sz="1600"/>
          </a:p>
        </p:txBody>
      </p:sp>
      <p:sp>
        <p:nvSpPr>
          <p:cNvPr id="10" name="Text 8">
            <a:extLst xmlns:a="http://schemas.openxmlformats.org/drawingml/2006/main">
              <a:ext uri="{FF2B5EF4-FFF2-40B4-BE49-F238E27FC236}">
                <a16:creationId xmlns:a16="http://schemas.microsoft.com/office/drawing/2014/main" id="{A632E552-56E3-4A2F-943E-9AA31B673CF2}"/>
              </a:ext>
            </a:extLst>
          </p:cNvPr>
          <p:cNvSpPr>
            <a:spLocks xmlns:a="http://schemas.openxmlformats.org/drawingml/2006/main" noGrp="1"/>
          </p:cNvSpPr>
          <p:nvPr/>
        </p:nvSpPr>
        <p:spPr>
          <a:xfrm xmlns:a="http://schemas.openxmlformats.org/drawingml/2006/main">
            <a:off x="5120640" y="4617720"/>
            <a:ext cx="457200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FFFFFF"/>
                </a:solidFill>
                <a:latin typeface="Calibri"/>
                <a:ea typeface="Calibri"/>
                <a:cs typeface="Calibri"/>
              </a:rPr>
              <a:t>Md. Asif Sarkar</a:t>
            </a:r>
            <a:endParaRPr sz="1600"/>
          </a:p>
          <a:p xmlns:a="http://schemas.openxmlformats.org/drawingml/2006/main">
            <a:pPr marL="0" indent="0">
              <a:buNone/>
            </a:pPr>
            <a:r>
              <a:rPr sz="1300">
                <a:solidFill>
                  <a:srgbClr val="CADCFC"/>
                </a:solidFill>
                <a:latin typeface="Calibri"/>
                <a:ea typeface="Calibri"/>
                <a:cs typeface="Calibri"/>
              </a:rPr>
              <a:t>0112230921   |   Group 16</a:t>
            </a:r>
            <a:endParaRPr sz="1600"/>
          </a:p>
        </p:txBody>
      </p:sp>
    </p:spTree>
    <p:extLst>
      <p:ext uri="{BB962C8B-B14F-4D97-AF65-F5344CB8AC3E}">
        <p14:creationId xmlns:p14="http://schemas.microsoft.com/office/powerpoint/2010/main" val="13517843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2">
            <a:extLst xmlns:a="http://schemas.openxmlformats.org/drawingml/2006/main">
              <a:ext uri="{FF2B5EF4-FFF2-40B4-BE49-F238E27FC236}">
                <a16:creationId xmlns:a16="http://schemas.microsoft.com/office/drawing/2014/main" id="{72C73FCE-ED3C-42BD-9322-897CC559CCB4}"/>
              </a:ext>
            </a:extLst>
          </p:cNvPr>
          <p:cNvSpPr>
            <a:spLocks xmlns:a="http://schemas.openxmlformats.org/drawingml/2006/main" noGrp="1"/>
          </p:cNvSpPr>
          <p:nvPr/>
        </p:nvSpPr>
        <p:spPr>
          <a:xfrm xmlns:a="http://schemas.openxmlformats.org/drawingml/2006/main">
            <a:off x="548640" y="365760"/>
            <a:ext cx="105156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spc="200">
                <a:solidFill>
                  <a:srgbClr val="1E2761"/>
                </a:solidFill>
                <a:latin typeface="Calibri"/>
                <a:ea typeface="Calibri"/>
                <a:cs typeface="Calibri"/>
              </a:rPr>
              <a:t>1. OBJECTIVES</a:t>
            </a:r>
          </a:p>
        </p:txBody>
      </p:sp>
      <p:sp>
        <p:nvSpPr>
          <p:cNvPr id="3" name="Text 3">
            <a:extLst xmlns:a="http://schemas.openxmlformats.org/drawingml/2006/main">
              <a:ext uri="{FF2B5EF4-FFF2-40B4-BE49-F238E27FC236}">
                <a16:creationId xmlns:a16="http://schemas.microsoft.com/office/drawing/2014/main" id="{174CAD5D-C80B-4E1D-BAA9-8FC200428D96}"/>
              </a:ext>
            </a:extLst>
          </p:cNvPr>
          <p:cNvSpPr>
            <a:spLocks xmlns:a="http://schemas.openxmlformats.org/drawingml/2006/main" noGrp="1"/>
          </p:cNvSpPr>
          <p:nvPr/>
        </p:nvSpPr>
        <p:spPr>
          <a:xfrm xmlns:a="http://schemas.openxmlformats.org/drawingml/2006/main">
            <a:off x="548640" y="685800"/>
            <a:ext cx="1131560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200" b="1">
                <a:solidFill>
                  <a:srgbClr val="1B1F2A"/>
                </a:solidFill>
                <a:latin typeface="Cambria"/>
                <a:ea typeface="Cambria"/>
                <a:cs typeface="Cambria"/>
              </a:rPr>
              <a:t>Project objectives</a:t>
            </a:r>
          </a:p>
        </p:txBody>
      </p:sp>
      <p:sp>
        <p:nvSpPr>
          <p:cNvPr id="4" name="Shape 4">
            <a:extLst xmlns:a="http://schemas.openxmlformats.org/drawingml/2006/main">
              <a:ext uri="{FF2B5EF4-FFF2-40B4-BE49-F238E27FC236}">
                <a16:creationId xmlns:a16="http://schemas.microsoft.com/office/drawing/2014/main" id="{DF086F6B-2A71-4AE3-8D8F-C4908C5CA929}"/>
              </a:ext>
            </a:extLst>
          </p:cNvPr>
          <p:cNvSpPr>
            <a:spLocks xmlns:a="http://schemas.openxmlformats.org/drawingml/2006/main" noGrp="1"/>
          </p:cNvSpPr>
          <p:nvPr/>
        </p:nvSpPr>
        <p:spPr>
          <a:xfrm xmlns:a="http://schemas.openxmlformats.org/drawingml/2006/main">
            <a:off x="548640" y="1600200"/>
            <a:ext cx="5588000" cy="1490980"/>
          </a:xfrm>
          <a:prstGeom xmlns:a="http://schemas.openxmlformats.org/drawingml/2006/main" prst="roundRect">
            <a:avLst>
              <a:gd name="adj" fmla="val 3600"/>
            </a:avLst>
          </a:prstGeom>
          <a:solidFill xmlns:a="http://schemas.openxmlformats.org/drawingml/2006/main">
            <a:srgbClr val="F4F6FB"/>
          </a:solidFill>
        </p:spPr>
        <p:txBody>
          <a:bodyPr xmlns:a="http://schemas.openxmlformats.org/drawingml/2006/main"/>
          <a:lstStyle xmlns:a="http://schemas.openxmlformats.org/drawingml/2006/main"/>
          <a:p xmlns:a="http://schemas.openxmlformats.org/drawingml/2006/main">
            <a:endParaRPr/>
          </a:p>
        </p:txBody>
      </p:sp>
      <p:sp>
        <p:nvSpPr>
          <p:cNvPr id="5" name="Circle 5">
            <a:extLst xmlns:a="http://schemas.openxmlformats.org/drawingml/2006/main">
              <a:ext uri="{FF2B5EF4-FFF2-40B4-BE49-F238E27FC236}">
                <a16:creationId xmlns:a16="http://schemas.microsoft.com/office/drawing/2014/main" id="{F0ED7842-0908-4900-A536-8077B550F985}"/>
              </a:ext>
            </a:extLst>
          </p:cNvPr>
          <p:cNvSpPr>
            <a:spLocks xmlns:a="http://schemas.openxmlformats.org/drawingml/2006/main" noGrp="1"/>
          </p:cNvSpPr>
          <p:nvPr/>
        </p:nvSpPr>
        <p:spPr>
          <a:xfrm xmlns:a="http://schemas.openxmlformats.org/drawingml/2006/main">
            <a:off x="777240" y="1828800"/>
            <a:ext cx="411480" cy="411480"/>
          </a:xfrm>
          <a:prstGeom xmlns:a="http://schemas.openxmlformats.org/drawingml/2006/main" prst="ellipse">
            <a:avLst/>
          </a:prstGeom>
          <a:solidFill xmlns:a="http://schemas.openxmlformats.org/drawingml/2006/main">
            <a:srgbClr val="1E2761"/>
          </a:solidFill>
        </p:spPr>
        <p:txBody>
          <a:bodyPr xmlns:a="http://schemas.openxmlformats.org/drawingml/2006/main" wrap="none" anchor="ctr"/>
          <a:lstStyle xmlns:a="http://schemas.openxmlformats.org/drawingml/2006/main"/>
          <a:p xmlns:a="http://schemas.openxmlformats.org/drawingml/2006/main">
            <a:pPr algn="ctr">
              <a:buNone/>
            </a:pPr>
            <a:r>
              <a:rPr sz="1400" b="1">
                <a:solidFill>
                  <a:srgbClr val="FFFFFF"/>
                </a:solidFill>
                <a:latin typeface="Cambria"/>
                <a:ea typeface="Cambria"/>
                <a:cs typeface="Cambria"/>
              </a:rPr>
              <a:t>1</a:t>
            </a:r>
          </a:p>
        </p:txBody>
      </p:sp>
      <p:sp>
        <p:nvSpPr>
          <p:cNvPr id="6" name="Text 6">
            <a:extLst xmlns:a="http://schemas.openxmlformats.org/drawingml/2006/main">
              <a:ext uri="{FF2B5EF4-FFF2-40B4-BE49-F238E27FC236}">
                <a16:creationId xmlns:a16="http://schemas.microsoft.com/office/drawing/2014/main" id="{F4D34CDE-B328-45C1-BF44-82E1669A9932}"/>
              </a:ext>
            </a:extLst>
          </p:cNvPr>
          <p:cNvSpPr>
            <a:spLocks xmlns:a="http://schemas.openxmlformats.org/drawingml/2006/main" noGrp="1"/>
          </p:cNvSpPr>
          <p:nvPr/>
        </p:nvSpPr>
        <p:spPr>
          <a:xfrm xmlns:a="http://schemas.openxmlformats.org/drawingml/2006/main">
            <a:off x="1348740" y="1811020"/>
            <a:ext cx="4538000" cy="4600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50" b="1">
                <a:solidFill>
                  <a:srgbClr val="1B1F2A"/>
                </a:solidFill>
                <a:latin typeface="Cambria"/>
                <a:ea typeface="Cambria"/>
                <a:cs typeface="Cambria"/>
              </a:rPr>
              <a:t>Compare local API-call patterns</a:t>
            </a:r>
          </a:p>
        </p:txBody>
      </p:sp>
      <p:sp>
        <p:nvSpPr>
          <p:cNvPr id="7" name="Text 7">
            <a:extLst xmlns:a="http://schemas.openxmlformats.org/drawingml/2006/main">
              <a:ext uri="{FF2B5EF4-FFF2-40B4-BE49-F238E27FC236}">
                <a16:creationId xmlns:a16="http://schemas.microsoft.com/office/drawing/2014/main" id="{72A3D803-4C65-4667-8D62-47DA2FF79666}"/>
              </a:ext>
            </a:extLst>
          </p:cNvPr>
          <p:cNvSpPr>
            <a:spLocks xmlns:a="http://schemas.openxmlformats.org/drawingml/2006/main" noGrp="1"/>
          </p:cNvSpPr>
          <p:nvPr/>
        </p:nvSpPr>
        <p:spPr>
          <a:xfrm xmlns:a="http://schemas.openxmlformats.org/drawingml/2006/main">
            <a:off x="822960" y="2331100"/>
            <a:ext cx="5039360" cy="6400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2000"/>
              </a:lnSpc>
              <a:buNone/>
            </a:pPr>
            <a:r>
              <a:rPr sz="1050">
                <a:solidFill>
                  <a:srgbClr val="1B1F2A"/>
                </a:solidFill>
                <a:latin typeface="Calibri"/>
                <a:ea typeface="Calibri"/>
                <a:cs typeface="Calibri"/>
              </a:rPr>
              <a:t>Compare weighted unigram and combined 1–3 gram TF-IDF using the same five grouped folds and fixed model settings. Measure the benefit of adding short API-call patterns.</a:t>
            </a:r>
          </a:p>
        </p:txBody>
      </p:sp>
      <p:sp>
        <p:nvSpPr>
          <p:cNvPr id="8" name="Shape 8">
            <a:extLst xmlns:a="http://schemas.openxmlformats.org/drawingml/2006/main">
              <a:ext uri="{FF2B5EF4-FFF2-40B4-BE49-F238E27FC236}">
                <a16:creationId xmlns:a16="http://schemas.microsoft.com/office/drawing/2014/main" id="{A2AF37C1-9CD8-4A69-AC60-B0FE671883B4}"/>
              </a:ext>
            </a:extLst>
          </p:cNvPr>
          <p:cNvSpPr>
            <a:spLocks xmlns:a="http://schemas.openxmlformats.org/drawingml/2006/main" noGrp="1"/>
          </p:cNvSpPr>
          <p:nvPr/>
        </p:nvSpPr>
        <p:spPr>
          <a:xfrm xmlns:a="http://schemas.openxmlformats.org/drawingml/2006/main">
            <a:off x="6410960" y="1600200"/>
            <a:ext cx="5571490" cy="1490980"/>
          </a:xfrm>
          <a:prstGeom xmlns:a="http://schemas.openxmlformats.org/drawingml/2006/main" prst="roundRect">
            <a:avLst>
              <a:gd name="adj" fmla="val 3600"/>
            </a:avLst>
          </a:prstGeom>
          <a:solidFill xmlns:a="http://schemas.openxmlformats.org/drawingml/2006/main">
            <a:srgbClr val="F4F6FB"/>
          </a:solidFill>
        </p:spPr>
        <p:txBody>
          <a:bodyPr xmlns:a="http://schemas.openxmlformats.org/drawingml/2006/main"/>
          <a:lstStyle xmlns:a="http://schemas.openxmlformats.org/drawingml/2006/main"/>
          <a:p xmlns:a="http://schemas.openxmlformats.org/drawingml/2006/main">
            <a:endParaRPr/>
          </a:p>
        </p:txBody>
      </p:sp>
      <p:sp>
        <p:nvSpPr>
          <p:cNvPr id="9" name="Circle 9">
            <a:extLst xmlns:a="http://schemas.openxmlformats.org/drawingml/2006/main">
              <a:ext uri="{FF2B5EF4-FFF2-40B4-BE49-F238E27FC236}">
                <a16:creationId xmlns:a16="http://schemas.microsoft.com/office/drawing/2014/main" id="{934EC1E4-0277-4113-A66D-AE3B9913E665}"/>
              </a:ext>
            </a:extLst>
          </p:cNvPr>
          <p:cNvSpPr>
            <a:spLocks xmlns:a="http://schemas.openxmlformats.org/drawingml/2006/main" noGrp="1"/>
          </p:cNvSpPr>
          <p:nvPr/>
        </p:nvSpPr>
        <p:spPr>
          <a:xfrm xmlns:a="http://schemas.openxmlformats.org/drawingml/2006/main">
            <a:off x="6639560" y="1828800"/>
            <a:ext cx="411480" cy="411480"/>
          </a:xfrm>
          <a:prstGeom xmlns:a="http://schemas.openxmlformats.org/drawingml/2006/main" prst="ellipse">
            <a:avLst/>
          </a:prstGeom>
          <a:solidFill xmlns:a="http://schemas.openxmlformats.org/drawingml/2006/main">
            <a:srgbClr val="1E2761"/>
          </a:solidFill>
        </p:spPr>
        <p:txBody>
          <a:bodyPr xmlns:a="http://schemas.openxmlformats.org/drawingml/2006/main" wrap="none" anchor="ctr"/>
          <a:lstStyle xmlns:a="http://schemas.openxmlformats.org/drawingml/2006/main"/>
          <a:p xmlns:a="http://schemas.openxmlformats.org/drawingml/2006/main">
            <a:pPr algn="ctr">
              <a:buNone/>
            </a:pPr>
            <a:r>
              <a:rPr sz="1400" b="1">
                <a:solidFill>
                  <a:srgbClr val="FFFFFF"/>
                </a:solidFill>
                <a:latin typeface="Cambria"/>
                <a:ea typeface="Cambria"/>
                <a:cs typeface="Cambria"/>
              </a:rPr>
              <a:t>2</a:t>
            </a:r>
          </a:p>
        </p:txBody>
      </p:sp>
      <p:sp>
        <p:nvSpPr>
          <p:cNvPr id="10" name="Text 10">
            <a:extLst xmlns:a="http://schemas.openxmlformats.org/drawingml/2006/main">
              <a:ext uri="{FF2B5EF4-FFF2-40B4-BE49-F238E27FC236}">
                <a16:creationId xmlns:a16="http://schemas.microsoft.com/office/drawing/2014/main" id="{DD9E03B7-65FD-4F79-B7B8-2E09327DE251}"/>
              </a:ext>
            </a:extLst>
          </p:cNvPr>
          <p:cNvSpPr>
            <a:spLocks xmlns:a="http://schemas.openxmlformats.org/drawingml/2006/main" noGrp="1"/>
          </p:cNvSpPr>
          <p:nvPr/>
        </p:nvSpPr>
        <p:spPr>
          <a:xfrm xmlns:a="http://schemas.openxmlformats.org/drawingml/2006/main">
            <a:off x="7211060" y="1811020"/>
            <a:ext cx="4538000" cy="4600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50" b="1">
                <a:solidFill>
                  <a:srgbClr val="1B1F2A"/>
                </a:solidFill>
                <a:latin typeface="Cambria"/>
                <a:ea typeface="Cambria"/>
                <a:cs typeface="Cambria"/>
              </a:rPr>
              <a:t>Audit duplicates and compare split protocols</a:t>
            </a:r>
          </a:p>
        </p:txBody>
      </p:sp>
      <p:sp>
        <p:nvSpPr>
          <p:cNvPr id="11" name="Text 11">
            <a:extLst xmlns:a="http://schemas.openxmlformats.org/drawingml/2006/main">
              <a:ext uri="{FF2B5EF4-FFF2-40B4-BE49-F238E27FC236}">
                <a16:creationId xmlns:a16="http://schemas.microsoft.com/office/drawing/2014/main" id="{A8D2266D-D662-4270-8630-2EFD86CE10C2}"/>
              </a:ext>
            </a:extLst>
          </p:cNvPr>
          <p:cNvSpPr>
            <a:spLocks xmlns:a="http://schemas.openxmlformats.org/drawingml/2006/main" noGrp="1"/>
          </p:cNvSpPr>
          <p:nvPr/>
        </p:nvSpPr>
        <p:spPr>
          <a:xfrm xmlns:a="http://schemas.openxmlformats.org/drawingml/2006/main">
            <a:off x="6685280" y="2331100"/>
            <a:ext cx="5039360" cy="6400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2000"/>
              </a:lnSpc>
              <a:buNone/>
            </a:pPr>
            <a:r>
              <a:rPr sz="1050">
                <a:solidFill>
                  <a:srgbClr val="1B1F2A"/>
                </a:solidFill>
                <a:latin typeface="Calibri"/>
                <a:ea typeface="Calibri"/>
                <a:cs typeface="Calibri"/>
              </a:rPr>
              <a:t>Audit repeated sequences and conflicting labels. Compare ordinary and grouped five-fold evaluation for weighted 1–3 gram Random Forest, recording overlap and performance.</a:t>
            </a:r>
          </a:p>
        </p:txBody>
      </p:sp>
      <p:sp>
        <p:nvSpPr>
          <p:cNvPr id="12" name="Shape 12">
            <a:extLst xmlns:a="http://schemas.openxmlformats.org/drawingml/2006/main">
              <a:ext uri="{FF2B5EF4-FFF2-40B4-BE49-F238E27FC236}">
                <a16:creationId xmlns:a16="http://schemas.microsoft.com/office/drawing/2014/main" id="{76A7BB86-B37E-405A-9851-86788397BCED}"/>
              </a:ext>
            </a:extLst>
          </p:cNvPr>
          <p:cNvSpPr>
            <a:spLocks xmlns:a="http://schemas.openxmlformats.org/drawingml/2006/main" noGrp="1"/>
          </p:cNvSpPr>
          <p:nvPr/>
        </p:nvSpPr>
        <p:spPr>
          <a:xfrm xmlns:a="http://schemas.openxmlformats.org/drawingml/2006/main">
            <a:off x="548640" y="3228340"/>
            <a:ext cx="5588000" cy="1490980"/>
          </a:xfrm>
          <a:prstGeom xmlns:a="http://schemas.openxmlformats.org/drawingml/2006/main" prst="roundRect">
            <a:avLst>
              <a:gd name="adj" fmla="val 3600"/>
            </a:avLst>
          </a:prstGeom>
          <a:solidFill xmlns:a="http://schemas.openxmlformats.org/drawingml/2006/main">
            <a:srgbClr val="F4F6FB"/>
          </a:solidFill>
        </p:spPr>
        <p:txBody>
          <a:bodyPr xmlns:a="http://schemas.openxmlformats.org/drawingml/2006/main"/>
          <a:lstStyle xmlns:a="http://schemas.openxmlformats.org/drawingml/2006/main"/>
          <a:p xmlns:a="http://schemas.openxmlformats.org/drawingml/2006/main">
            <a:endParaRPr/>
          </a:p>
        </p:txBody>
      </p:sp>
      <p:sp>
        <p:nvSpPr>
          <p:cNvPr id="13" name="Circle 13">
            <a:extLst xmlns:a="http://schemas.openxmlformats.org/drawingml/2006/main">
              <a:ext uri="{FF2B5EF4-FFF2-40B4-BE49-F238E27FC236}">
                <a16:creationId xmlns:a16="http://schemas.microsoft.com/office/drawing/2014/main" id="{1AB0279E-E4E7-4079-BF61-FCEFC6DA80F4}"/>
              </a:ext>
            </a:extLst>
          </p:cNvPr>
          <p:cNvSpPr>
            <a:spLocks xmlns:a="http://schemas.openxmlformats.org/drawingml/2006/main" noGrp="1"/>
          </p:cNvSpPr>
          <p:nvPr/>
        </p:nvSpPr>
        <p:spPr>
          <a:xfrm xmlns:a="http://schemas.openxmlformats.org/drawingml/2006/main">
            <a:off x="777240" y="3456940"/>
            <a:ext cx="411480" cy="411480"/>
          </a:xfrm>
          <a:prstGeom xmlns:a="http://schemas.openxmlformats.org/drawingml/2006/main" prst="ellipse">
            <a:avLst/>
          </a:prstGeom>
          <a:solidFill xmlns:a="http://schemas.openxmlformats.org/drawingml/2006/main">
            <a:srgbClr val="1E2761"/>
          </a:solidFill>
        </p:spPr>
        <p:txBody>
          <a:bodyPr xmlns:a="http://schemas.openxmlformats.org/drawingml/2006/main" wrap="none" anchor="ctr"/>
          <a:lstStyle xmlns:a="http://schemas.openxmlformats.org/drawingml/2006/main"/>
          <a:p xmlns:a="http://schemas.openxmlformats.org/drawingml/2006/main">
            <a:pPr algn="ctr">
              <a:buNone/>
            </a:pPr>
            <a:r>
              <a:rPr sz="1400" b="1">
                <a:solidFill>
                  <a:srgbClr val="FFFFFF"/>
                </a:solidFill>
                <a:latin typeface="Cambria"/>
                <a:ea typeface="Cambria"/>
                <a:cs typeface="Cambria"/>
              </a:rPr>
              <a:t>3</a:t>
            </a:r>
          </a:p>
        </p:txBody>
      </p:sp>
      <p:sp>
        <p:nvSpPr>
          <p:cNvPr id="14" name="Text 14">
            <a:extLst xmlns:a="http://schemas.openxmlformats.org/drawingml/2006/main">
              <a:ext uri="{FF2B5EF4-FFF2-40B4-BE49-F238E27FC236}">
                <a16:creationId xmlns:a16="http://schemas.microsoft.com/office/drawing/2014/main" id="{F1E8F1B6-8ABD-4C92-AD6C-C44409E47ED6}"/>
              </a:ext>
            </a:extLst>
          </p:cNvPr>
          <p:cNvSpPr>
            <a:spLocks xmlns:a="http://schemas.openxmlformats.org/drawingml/2006/main" noGrp="1"/>
          </p:cNvSpPr>
          <p:nvPr/>
        </p:nvSpPr>
        <p:spPr>
          <a:xfrm xmlns:a="http://schemas.openxmlformats.org/drawingml/2006/main">
            <a:off x="1348740" y="3439160"/>
            <a:ext cx="4538000" cy="4600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50" b="1">
                <a:solidFill>
                  <a:srgbClr val="1B1F2A"/>
                </a:solidFill>
                <a:latin typeface="Cambria"/>
                <a:ea typeface="Cambria"/>
                <a:cs typeface="Cambria"/>
              </a:rPr>
              <a:t>Evaluate the value of soft voting</a:t>
            </a:r>
          </a:p>
        </p:txBody>
      </p:sp>
      <p:sp>
        <p:nvSpPr>
          <p:cNvPr id="15" name="Text 15">
            <a:extLst xmlns:a="http://schemas.openxmlformats.org/drawingml/2006/main">
              <a:ext uri="{FF2B5EF4-FFF2-40B4-BE49-F238E27FC236}">
                <a16:creationId xmlns:a16="http://schemas.microsoft.com/office/drawing/2014/main" id="{F41A823A-2DDE-4360-B612-A2E328B81DE6}"/>
              </a:ext>
            </a:extLst>
          </p:cNvPr>
          <p:cNvSpPr>
            <a:spLocks xmlns:a="http://schemas.openxmlformats.org/drawingml/2006/main" noGrp="1"/>
          </p:cNvSpPr>
          <p:nvPr/>
        </p:nvSpPr>
        <p:spPr>
          <a:xfrm xmlns:a="http://schemas.openxmlformats.org/drawingml/2006/main">
            <a:off x="822960" y="3959240"/>
            <a:ext cx="5039360" cy="6400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2000"/>
              </a:lnSpc>
              <a:buNone/>
            </a:pPr>
            <a:r>
              <a:rPr sz="1050">
                <a:solidFill>
                  <a:srgbClr val="1B1F2A"/>
                </a:solidFill>
                <a:latin typeface="Calibri"/>
                <a:ea typeface="Calibri"/>
                <a:cs typeface="Calibri"/>
              </a:rPr>
              <a:t>Compare Random Forest, XGBoost and linear SVM with their equal-weight probability average. Determine whether combining the models improves held-out performance.</a:t>
            </a:r>
          </a:p>
        </p:txBody>
      </p:sp>
      <p:sp>
        <p:nvSpPr>
          <p:cNvPr id="16" name="Shape 16">
            <a:extLst xmlns:a="http://schemas.openxmlformats.org/drawingml/2006/main">
              <a:ext uri="{FF2B5EF4-FFF2-40B4-BE49-F238E27FC236}">
                <a16:creationId xmlns:a16="http://schemas.microsoft.com/office/drawing/2014/main" id="{5638D891-B517-4018-8D49-F990990BBB92}"/>
              </a:ext>
            </a:extLst>
          </p:cNvPr>
          <p:cNvSpPr>
            <a:spLocks xmlns:a="http://schemas.openxmlformats.org/drawingml/2006/main" noGrp="1"/>
          </p:cNvSpPr>
          <p:nvPr/>
        </p:nvSpPr>
        <p:spPr>
          <a:xfrm xmlns:a="http://schemas.openxmlformats.org/drawingml/2006/main">
            <a:off x="6410960" y="3228340"/>
            <a:ext cx="5571490" cy="1490980"/>
          </a:xfrm>
          <a:prstGeom xmlns:a="http://schemas.openxmlformats.org/drawingml/2006/main" prst="roundRect">
            <a:avLst>
              <a:gd name="adj" fmla="val 3600"/>
            </a:avLst>
          </a:prstGeom>
          <a:solidFill xmlns:a="http://schemas.openxmlformats.org/drawingml/2006/main">
            <a:srgbClr val="F4F6FB"/>
          </a:solidFill>
        </p:spPr>
        <p:txBody>
          <a:bodyPr xmlns:a="http://schemas.openxmlformats.org/drawingml/2006/main"/>
          <a:lstStyle xmlns:a="http://schemas.openxmlformats.org/drawingml/2006/main"/>
          <a:p xmlns:a="http://schemas.openxmlformats.org/drawingml/2006/main">
            <a:endParaRPr/>
          </a:p>
        </p:txBody>
      </p:sp>
      <p:sp>
        <p:nvSpPr>
          <p:cNvPr id="17" name="Circle 17">
            <a:extLst xmlns:a="http://schemas.openxmlformats.org/drawingml/2006/main">
              <a:ext uri="{FF2B5EF4-FFF2-40B4-BE49-F238E27FC236}">
                <a16:creationId xmlns:a16="http://schemas.microsoft.com/office/drawing/2014/main" id="{8277676E-8804-4143-8A5B-EDA8B5AE6833}"/>
              </a:ext>
            </a:extLst>
          </p:cNvPr>
          <p:cNvSpPr>
            <a:spLocks xmlns:a="http://schemas.openxmlformats.org/drawingml/2006/main" noGrp="1"/>
          </p:cNvSpPr>
          <p:nvPr/>
        </p:nvSpPr>
        <p:spPr>
          <a:xfrm xmlns:a="http://schemas.openxmlformats.org/drawingml/2006/main">
            <a:off x="6639560" y="3456940"/>
            <a:ext cx="411480" cy="411480"/>
          </a:xfrm>
          <a:prstGeom xmlns:a="http://schemas.openxmlformats.org/drawingml/2006/main" prst="ellipse">
            <a:avLst/>
          </a:prstGeom>
          <a:solidFill xmlns:a="http://schemas.openxmlformats.org/drawingml/2006/main">
            <a:srgbClr val="1E2761"/>
          </a:solidFill>
        </p:spPr>
        <p:txBody>
          <a:bodyPr xmlns:a="http://schemas.openxmlformats.org/drawingml/2006/main" wrap="none" anchor="ctr"/>
          <a:lstStyle xmlns:a="http://schemas.openxmlformats.org/drawingml/2006/main"/>
          <a:p xmlns:a="http://schemas.openxmlformats.org/drawingml/2006/main">
            <a:pPr algn="ctr">
              <a:buNone/>
            </a:pPr>
            <a:r>
              <a:rPr sz="1400" b="1">
                <a:solidFill>
                  <a:srgbClr val="FFFFFF"/>
                </a:solidFill>
                <a:latin typeface="Cambria"/>
                <a:ea typeface="Cambria"/>
                <a:cs typeface="Cambria"/>
              </a:rPr>
              <a:t>4</a:t>
            </a:r>
          </a:p>
        </p:txBody>
      </p:sp>
      <p:sp>
        <p:nvSpPr>
          <p:cNvPr id="18" name="Text 18">
            <a:extLst xmlns:a="http://schemas.openxmlformats.org/drawingml/2006/main">
              <a:ext uri="{FF2B5EF4-FFF2-40B4-BE49-F238E27FC236}">
                <a16:creationId xmlns:a16="http://schemas.microsoft.com/office/drawing/2014/main" id="{CE59948F-A3D1-42A6-9CFB-B51C53C1AECB}"/>
              </a:ext>
            </a:extLst>
          </p:cNvPr>
          <p:cNvSpPr>
            <a:spLocks xmlns:a="http://schemas.openxmlformats.org/drawingml/2006/main" noGrp="1"/>
          </p:cNvSpPr>
          <p:nvPr/>
        </p:nvSpPr>
        <p:spPr>
          <a:xfrm xmlns:a="http://schemas.openxmlformats.org/drawingml/2006/main">
            <a:off x="7211060" y="3439160"/>
            <a:ext cx="4538000" cy="4600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50" b="1">
                <a:solidFill>
                  <a:srgbClr val="1B1F2A"/>
                </a:solidFill>
                <a:latin typeface="Cambria"/>
                <a:ea typeface="Cambria"/>
                <a:cs typeface="Cambria"/>
              </a:rPr>
              <a:t>Measure the effect of class weighting</a:t>
            </a:r>
          </a:p>
        </p:txBody>
      </p:sp>
      <p:sp>
        <p:nvSpPr>
          <p:cNvPr id="19" name="Text 19">
            <a:extLst xmlns:a="http://schemas.openxmlformats.org/drawingml/2006/main">
              <a:ext uri="{FF2B5EF4-FFF2-40B4-BE49-F238E27FC236}">
                <a16:creationId xmlns:a16="http://schemas.microsoft.com/office/drawing/2014/main" id="{26B1916D-5E84-4853-BD4C-139743B20561}"/>
              </a:ext>
            </a:extLst>
          </p:cNvPr>
          <p:cNvSpPr>
            <a:spLocks xmlns:a="http://schemas.openxmlformats.org/drawingml/2006/main" noGrp="1"/>
          </p:cNvSpPr>
          <p:nvPr/>
        </p:nvSpPr>
        <p:spPr>
          <a:xfrm xmlns:a="http://schemas.openxmlformats.org/drawingml/2006/main">
            <a:off x="6685280" y="3959240"/>
            <a:ext cx="5039360" cy="6400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2000"/>
              </a:lnSpc>
              <a:buNone/>
            </a:pPr>
            <a:r>
              <a:rPr sz="1050">
                <a:solidFill>
                  <a:srgbClr val="1B1F2A"/>
                </a:solidFill>
                <a:latin typeface="Calibri"/>
                <a:ea typeface="Calibri"/>
                <a:cs typeface="Calibri"/>
              </a:rPr>
              <a:t>Compare weighted and unweighted 1–3 gram models. Report accuracy, macro precision, recall and F1, with fold variation and per-category results.</a:t>
            </a:r>
          </a:p>
        </p:txBody>
      </p:sp>
      <p:sp>
        <p:nvSpPr>
          <p:cNvPr id="20" name="Shape 20">
            <a:extLst xmlns:a="http://schemas.openxmlformats.org/drawingml/2006/main">
              <a:ext uri="{FF2B5EF4-FFF2-40B4-BE49-F238E27FC236}">
                <a16:creationId xmlns:a16="http://schemas.microsoft.com/office/drawing/2014/main" id="{0C08CAB3-DB0B-438E-9A64-BC4E062C86C3}"/>
              </a:ext>
            </a:extLst>
          </p:cNvPr>
          <p:cNvSpPr>
            <a:spLocks xmlns:a="http://schemas.openxmlformats.org/drawingml/2006/main" noGrp="1"/>
          </p:cNvSpPr>
          <p:nvPr/>
        </p:nvSpPr>
        <p:spPr>
          <a:xfrm xmlns:a="http://schemas.openxmlformats.org/drawingml/2006/main">
            <a:off x="548640" y="4902200"/>
            <a:ext cx="11433810" cy="1097280"/>
          </a:xfrm>
          <a:prstGeom xmlns:a="http://schemas.openxmlformats.org/drawingml/2006/main" prst="roundRect">
            <a:avLst>
              <a:gd name="adj" fmla="val 3200"/>
            </a:avLst>
          </a:prstGeom>
          <a:solidFill xmlns:a="http://schemas.openxmlformats.org/drawingml/2006/main">
            <a:srgbClr val="1E2761"/>
          </a:solidFill>
        </p:spPr>
        <p:txBody>
          <a:bodyPr xmlns:a="http://schemas.openxmlformats.org/drawingml/2006/main"/>
          <a:lstStyle xmlns:a="http://schemas.openxmlformats.org/drawingml/2006/main"/>
          <a:p xmlns:a="http://schemas.openxmlformats.org/drawingml/2006/main">
            <a:endParaRPr/>
          </a:p>
        </p:txBody>
      </p:sp>
      <p:sp>
        <p:nvSpPr>
          <p:cNvPr id="21" name="Circle 21">
            <a:extLst xmlns:a="http://schemas.openxmlformats.org/drawingml/2006/main">
              <a:ext uri="{FF2B5EF4-FFF2-40B4-BE49-F238E27FC236}">
                <a16:creationId xmlns:a16="http://schemas.microsoft.com/office/drawing/2014/main" id="{DDC93935-343C-4B9B-845C-C63EAC751176}"/>
              </a:ext>
            </a:extLst>
          </p:cNvPr>
          <p:cNvSpPr>
            <a:spLocks xmlns:a="http://schemas.openxmlformats.org/drawingml/2006/main" noGrp="1"/>
          </p:cNvSpPr>
          <p:nvPr/>
        </p:nvSpPr>
        <p:spPr>
          <a:xfrm xmlns:a="http://schemas.openxmlformats.org/drawingml/2006/main">
            <a:off x="777240" y="5130800"/>
            <a:ext cx="411480" cy="411480"/>
          </a:xfrm>
          <a:prstGeom xmlns:a="http://schemas.openxmlformats.org/drawingml/2006/main" prst="ellipse">
            <a:avLst/>
          </a:prstGeom>
          <a:solidFill xmlns:a="http://schemas.openxmlformats.org/drawingml/2006/main">
            <a:srgbClr val="FFFFFF"/>
          </a:solidFill>
        </p:spPr>
        <p:txBody>
          <a:bodyPr xmlns:a="http://schemas.openxmlformats.org/drawingml/2006/main" wrap="none" anchor="ctr"/>
          <a:lstStyle xmlns:a="http://schemas.openxmlformats.org/drawingml/2006/main"/>
          <a:p xmlns:a="http://schemas.openxmlformats.org/drawingml/2006/main">
            <a:pPr algn="ctr">
              <a:buNone/>
            </a:pPr>
            <a:r>
              <a:rPr sz="1400" b="1">
                <a:solidFill>
                  <a:srgbClr val="1E2761"/>
                </a:solidFill>
                <a:latin typeface="Cambria"/>
                <a:ea typeface="Cambria"/>
                <a:cs typeface="Cambria"/>
              </a:rPr>
              <a:t>5</a:t>
            </a:r>
          </a:p>
        </p:txBody>
      </p:sp>
      <p:sp>
        <p:nvSpPr>
          <p:cNvPr id="22" name="Text 22">
            <a:extLst xmlns:a="http://schemas.openxmlformats.org/drawingml/2006/main">
              <a:ext uri="{FF2B5EF4-FFF2-40B4-BE49-F238E27FC236}">
                <a16:creationId xmlns:a16="http://schemas.microsoft.com/office/drawing/2014/main" id="{52E9D094-AA4A-4528-90B8-639929ACF5DC}"/>
              </a:ext>
            </a:extLst>
          </p:cNvPr>
          <p:cNvSpPr>
            <a:spLocks xmlns:a="http://schemas.openxmlformats.org/drawingml/2006/main" noGrp="1"/>
          </p:cNvSpPr>
          <p:nvPr/>
        </p:nvSpPr>
        <p:spPr>
          <a:xfrm xmlns:a="http://schemas.openxmlformats.org/drawingml/2006/main">
            <a:off x="1348740" y="5039360"/>
            <a:ext cx="1040032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50" b="1">
                <a:solidFill>
                  <a:srgbClr val="FFFFFF"/>
                </a:solidFill>
                <a:latin typeface="Cambria"/>
                <a:ea typeface="Cambria"/>
                <a:cs typeface="Cambria"/>
              </a:rPr>
              <a:t>Classify the eight supplied malware categories</a:t>
            </a:r>
          </a:p>
        </p:txBody>
      </p:sp>
      <p:sp>
        <p:nvSpPr>
          <p:cNvPr id="23" name="Text 23">
            <a:extLst xmlns:a="http://schemas.openxmlformats.org/drawingml/2006/main">
              <a:ext uri="{FF2B5EF4-FFF2-40B4-BE49-F238E27FC236}">
                <a16:creationId xmlns:a16="http://schemas.microsoft.com/office/drawing/2014/main" id="{1BA8EEDD-F40A-44E9-B4FC-D050696DFD2C}"/>
              </a:ext>
            </a:extLst>
          </p:cNvPr>
          <p:cNvSpPr>
            <a:spLocks xmlns:a="http://schemas.openxmlformats.org/drawingml/2006/main" noGrp="1"/>
          </p:cNvSpPr>
          <p:nvPr/>
        </p:nvSpPr>
        <p:spPr>
          <a:xfrm xmlns:a="http://schemas.openxmlformats.org/drawingml/2006/main">
            <a:off x="1348740" y="5450840"/>
            <a:ext cx="10200320" cy="4572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2000"/>
              </a:lnSpc>
              <a:buNone/>
            </a:pPr>
            <a:r>
              <a:rPr sz="1050">
                <a:solidFill>
                  <a:srgbClr val="D7DEF2"/>
                </a:solidFill>
                <a:latin typeface="Calibri"/>
                <a:ea typeface="Calibri"/>
                <a:cs typeface="Calibri"/>
              </a:rPr>
              <a:t>Evaluate category prediction for already-malicious samples. The current study does not test benign detection or resistance to metamorphic transformations.</a:t>
            </a:r>
          </a:p>
        </p:txBody>
      </p:sp>
      <p:sp>
        <p:nvSpPr>
          <p:cNvPr id="24" name="Text 24">
            <a:extLst xmlns:a="http://schemas.openxmlformats.org/drawingml/2006/main">
              <a:ext uri="{FF2B5EF4-FFF2-40B4-BE49-F238E27FC236}">
                <a16:creationId xmlns:a16="http://schemas.microsoft.com/office/drawing/2014/main" id="{02C4684E-3F30-4974-82D2-B76199204624}"/>
              </a:ext>
            </a:extLst>
          </p:cNvPr>
          <p:cNvSpPr>
            <a:spLocks xmlns:a="http://schemas.openxmlformats.org/drawingml/2006/main" noGrp="1"/>
          </p:cNvSpPr>
          <p:nvPr/>
        </p:nvSpPr>
        <p:spPr>
          <a:xfrm xmlns:a="http://schemas.openxmlformats.org/drawingml/2006/main">
            <a:off x="11521440" y="6446520"/>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5B6472"/>
                </a:solidFill>
                <a:latin typeface="Calibri"/>
                <a:ea typeface="Calibri"/>
                <a:cs typeface="Calibri"/>
              </a:rPr>
              <a:t>2</a:t>
            </a:r>
          </a:p>
        </p:txBody>
      </p:sp>
    </p:spTree>
    <p:extLst>
      <p:ext uri="{BB962C8B-B14F-4D97-AF65-F5344CB8AC3E}">
        <p14:creationId xmlns:p14="http://schemas.microsoft.com/office/powerpoint/2010/main" val="142520102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2">
            <a:extLst xmlns:a="http://schemas.openxmlformats.org/drawingml/2006/main">
              <a:ext uri="{FF2B5EF4-FFF2-40B4-BE49-F238E27FC236}">
                <a16:creationId xmlns:a16="http://schemas.microsoft.com/office/drawing/2014/main" id="{4AA34F99-2DFA-4861-A008-1DACF7980BE4}"/>
              </a:ext>
            </a:extLst>
          </p:cNvPr>
          <p:cNvSpPr>
            <a:spLocks xmlns:a="http://schemas.openxmlformats.org/drawingml/2006/main" noGrp="1"/>
          </p:cNvSpPr>
          <p:nvPr/>
        </p:nvSpPr>
        <p:spPr>
          <a:xfrm xmlns:a="http://schemas.openxmlformats.org/drawingml/2006/main">
            <a:off x="548640" y="365760"/>
            <a:ext cx="105156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spc="200">
                <a:solidFill>
                  <a:srgbClr val="1E2761"/>
                </a:solidFill>
                <a:latin typeface="Calibri"/>
                <a:ea typeface="Calibri"/>
                <a:cs typeface="Calibri"/>
              </a:rPr>
              <a:t>2. METHODOLOGY</a:t>
            </a:r>
          </a:p>
        </p:txBody>
      </p:sp>
      <p:sp>
        <p:nvSpPr>
          <p:cNvPr id="3" name="Text 3">
            <a:extLst xmlns:a="http://schemas.openxmlformats.org/drawingml/2006/main">
              <a:ext uri="{FF2B5EF4-FFF2-40B4-BE49-F238E27FC236}">
                <a16:creationId xmlns:a16="http://schemas.microsoft.com/office/drawing/2014/main" id="{0ADC5645-A3FD-4C7B-B593-4BE50288213D}"/>
              </a:ext>
            </a:extLst>
          </p:cNvPr>
          <p:cNvSpPr>
            <a:spLocks xmlns:a="http://schemas.openxmlformats.org/drawingml/2006/main" noGrp="1"/>
          </p:cNvSpPr>
          <p:nvPr/>
        </p:nvSpPr>
        <p:spPr>
          <a:xfrm xmlns:a="http://schemas.openxmlformats.org/drawingml/2006/main">
            <a:off x="548640" y="685800"/>
            <a:ext cx="1131560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200" b="1">
                <a:solidFill>
                  <a:srgbClr val="1B1F2A"/>
                </a:solidFill>
                <a:latin typeface="Cambria"/>
                <a:ea typeface="Cambria"/>
                <a:cs typeface="Cambria"/>
              </a:rPr>
              <a:t>Data preparation and identical-sequence grouping</a:t>
            </a:r>
          </a:p>
        </p:txBody>
      </p:sp>
      <p:sp>
        <p:nvSpPr>
          <p:cNvPr id="4" name="Shape 4">
            <a:extLst xmlns:a="http://schemas.openxmlformats.org/drawingml/2006/main">
              <a:ext uri="{FF2B5EF4-FFF2-40B4-BE49-F238E27FC236}">
                <a16:creationId xmlns:a16="http://schemas.microsoft.com/office/drawing/2014/main" id="{B2E2A11B-3D8F-4331-AA02-0823A7E2BC29}"/>
              </a:ext>
            </a:extLst>
          </p:cNvPr>
          <p:cNvSpPr>
            <a:spLocks xmlns:a="http://schemas.openxmlformats.org/drawingml/2006/main" noGrp="1"/>
          </p:cNvSpPr>
          <p:nvPr/>
        </p:nvSpPr>
        <p:spPr>
          <a:xfrm xmlns:a="http://schemas.openxmlformats.org/drawingml/2006/main">
            <a:off x="548640" y="1600200"/>
            <a:ext cx="5588000" cy="2377440"/>
          </a:xfrm>
          <a:prstGeom xmlns:a="http://schemas.openxmlformats.org/drawingml/2006/main" prst="roundRect">
            <a:avLst>
              <a:gd name="adj" fmla="val 3000"/>
            </a:avLst>
          </a:prstGeom>
          <a:solidFill xmlns:a="http://schemas.openxmlformats.org/drawingml/2006/main">
            <a:srgbClr val="FBEAEA"/>
          </a:solidFill>
        </p:spPr>
        <p:txBody>
          <a:bodyPr xmlns:a="http://schemas.openxmlformats.org/drawingml/2006/main"/>
          <a:lstStyle xmlns:a="http://schemas.openxmlformats.org/drawingml/2006/main"/>
          <a:p xmlns:a="http://schemas.openxmlformats.org/drawingml/2006/main">
            <a:endParaRPr/>
          </a:p>
        </p:txBody>
      </p:sp>
      <p:sp>
        <p:nvSpPr>
          <p:cNvPr id="5" name="Tag 5">
            <a:extLst xmlns:a="http://schemas.openxmlformats.org/drawingml/2006/main">
              <a:ext uri="{FF2B5EF4-FFF2-40B4-BE49-F238E27FC236}">
                <a16:creationId xmlns:a16="http://schemas.microsoft.com/office/drawing/2014/main" id="{2B5E2FA7-09B5-4492-B299-CF8788B40F87}"/>
              </a:ext>
            </a:extLst>
          </p:cNvPr>
          <p:cNvSpPr>
            <a:spLocks xmlns:a="http://schemas.openxmlformats.org/drawingml/2006/main" noGrp="1"/>
          </p:cNvSpPr>
          <p:nvPr/>
        </p:nvSpPr>
        <p:spPr>
          <a:xfrm xmlns:a="http://schemas.openxmlformats.org/drawingml/2006/main">
            <a:off x="822960" y="1828800"/>
            <a:ext cx="1737360" cy="411480"/>
          </a:xfrm>
          <a:prstGeom xmlns:a="http://schemas.openxmlformats.org/drawingml/2006/main" prst="roundRect">
            <a:avLst>
              <a:gd name="adj" fmla="val 50000"/>
            </a:avLst>
          </a:prstGeom>
          <a:solidFill xmlns:a="http://schemas.openxmlformats.org/drawingml/2006/main">
            <a:srgbClr val="B3261E"/>
          </a:solidFill>
        </p:spPr>
        <p:txBody>
          <a:bodyPr xmlns:a="http://schemas.openxmlformats.org/drawingml/2006/main" anchor="ctr"/>
          <a:lstStyle xmlns:a="http://schemas.openxmlformats.org/drawingml/2006/main"/>
          <a:p xmlns:a="http://schemas.openxmlformats.org/drawingml/2006/main">
            <a:pPr algn="ctr">
              <a:buNone/>
            </a:pPr>
            <a:r>
              <a:rPr sz="1000" b="1">
                <a:solidFill>
                  <a:srgbClr val="FFFFFF"/>
                </a:solidFill>
                <a:latin typeface="Calibri"/>
                <a:ea typeface="Calibri"/>
                <a:cs typeface="Calibri"/>
              </a:rPr>
              <a:t>BUG FOUND</a:t>
            </a:r>
          </a:p>
        </p:txBody>
      </p:sp>
      <p:sp>
        <p:nvSpPr>
          <p:cNvPr id="6" name="Text 6">
            <a:extLst xmlns:a="http://schemas.openxmlformats.org/drawingml/2006/main">
              <a:ext uri="{FF2B5EF4-FFF2-40B4-BE49-F238E27FC236}">
                <a16:creationId xmlns:a16="http://schemas.microsoft.com/office/drawing/2014/main" id="{8E119170-9C61-4FEE-BEBA-AE01C9DB8384}"/>
              </a:ext>
            </a:extLst>
          </p:cNvPr>
          <p:cNvSpPr>
            <a:spLocks xmlns:a="http://schemas.openxmlformats.org/drawingml/2006/main" noGrp="1"/>
          </p:cNvSpPr>
          <p:nvPr/>
        </p:nvSpPr>
        <p:spPr>
          <a:xfrm xmlns:a="http://schemas.openxmlformats.org/drawingml/2006/main">
            <a:off x="822960" y="2331720"/>
            <a:ext cx="5039360" cy="4000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B3261E"/>
                </a:solidFill>
                <a:latin typeface="Cambria"/>
                <a:ea typeface="Cambria"/>
                <a:cs typeface="Cambria"/>
              </a:rPr>
              <a:t>Default tokenization loses single-digit IDs</a:t>
            </a:r>
          </a:p>
        </p:txBody>
      </p:sp>
      <p:sp>
        <p:nvSpPr>
          <p:cNvPr id="7" name="Text 7">
            <a:extLst xmlns:a="http://schemas.openxmlformats.org/drawingml/2006/main">
              <a:ext uri="{FF2B5EF4-FFF2-40B4-BE49-F238E27FC236}">
                <a16:creationId xmlns:a16="http://schemas.microsoft.com/office/drawing/2014/main" id="{1C4394FF-89E6-4930-A74B-4FB960EC8FEC}"/>
              </a:ext>
            </a:extLst>
          </p:cNvPr>
          <p:cNvSpPr>
            <a:spLocks xmlns:a="http://schemas.openxmlformats.org/drawingml/2006/main" noGrp="1"/>
          </p:cNvSpPr>
          <p:nvPr/>
        </p:nvSpPr>
        <p:spPr>
          <a:xfrm xmlns:a="http://schemas.openxmlformats.org/drawingml/2006/main">
            <a:off x="822960" y="2788920"/>
            <a:ext cx="5039360" cy="55880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4000"/>
              </a:lnSpc>
              <a:buNone/>
            </a:pPr>
            <a:r>
              <a:rPr sz="1050">
                <a:solidFill>
                  <a:srgbClr val="1B1F2A"/>
                </a:solidFill>
                <a:latin typeface="Calibri"/>
                <a:ea typeface="Calibri"/>
                <a:cs typeface="Calibri"/>
              </a:rPr>
              <a:t>The earlier TF-IDF token pattern excluded single-character tokens. The corrected loader also reads all 7,107 labels and retains the first API ID of each sequence.</a:t>
            </a:r>
          </a:p>
        </p:txBody>
      </p:sp>
      <p:sp>
        <p:nvSpPr>
          <p:cNvPr id="8" name="Shape 8">
            <a:extLst xmlns:a="http://schemas.openxmlformats.org/drawingml/2006/main">
              <a:ext uri="{FF2B5EF4-FFF2-40B4-BE49-F238E27FC236}">
                <a16:creationId xmlns:a16="http://schemas.microsoft.com/office/drawing/2014/main" id="{B2CB5191-9CE8-474B-9E8A-B388888B3E46}"/>
              </a:ext>
            </a:extLst>
          </p:cNvPr>
          <p:cNvSpPr>
            <a:spLocks xmlns:a="http://schemas.openxmlformats.org/drawingml/2006/main" noGrp="1"/>
          </p:cNvSpPr>
          <p:nvPr/>
        </p:nvSpPr>
        <p:spPr>
          <a:xfrm xmlns:a="http://schemas.openxmlformats.org/drawingml/2006/main">
            <a:off x="6410960" y="1600200"/>
            <a:ext cx="5571490" cy="2377440"/>
          </a:xfrm>
          <a:prstGeom xmlns:a="http://schemas.openxmlformats.org/drawingml/2006/main" prst="roundRect">
            <a:avLst>
              <a:gd name="adj" fmla="val 3000"/>
            </a:avLst>
          </a:prstGeom>
          <a:solidFill xmlns:a="http://schemas.openxmlformats.org/drawingml/2006/main">
            <a:srgbClr val="E8F5EE"/>
          </a:solidFill>
        </p:spPr>
        <p:txBody>
          <a:bodyPr xmlns:a="http://schemas.openxmlformats.org/drawingml/2006/main"/>
          <a:lstStyle xmlns:a="http://schemas.openxmlformats.org/drawingml/2006/main"/>
          <a:p xmlns:a="http://schemas.openxmlformats.org/drawingml/2006/main">
            <a:endParaRPr/>
          </a:p>
        </p:txBody>
      </p:sp>
      <p:sp>
        <p:nvSpPr>
          <p:cNvPr id="9" name="Tag 9">
            <a:extLst xmlns:a="http://schemas.openxmlformats.org/drawingml/2006/main">
              <a:ext uri="{FF2B5EF4-FFF2-40B4-BE49-F238E27FC236}">
                <a16:creationId xmlns:a16="http://schemas.microsoft.com/office/drawing/2014/main" id="{78AB4669-3D21-4685-973E-F6E245B21AAD}"/>
              </a:ext>
            </a:extLst>
          </p:cNvPr>
          <p:cNvSpPr>
            <a:spLocks xmlns:a="http://schemas.openxmlformats.org/drawingml/2006/main" noGrp="1"/>
          </p:cNvSpPr>
          <p:nvPr/>
        </p:nvSpPr>
        <p:spPr>
          <a:xfrm xmlns:a="http://schemas.openxmlformats.org/drawingml/2006/main">
            <a:off x="6685280" y="1828800"/>
            <a:ext cx="1188720" cy="411480"/>
          </a:xfrm>
          <a:prstGeom xmlns:a="http://schemas.openxmlformats.org/drawingml/2006/main" prst="roundRect">
            <a:avLst>
              <a:gd name="adj" fmla="val 50000"/>
            </a:avLst>
          </a:prstGeom>
          <a:solidFill xmlns:a="http://schemas.openxmlformats.org/drawingml/2006/main">
            <a:srgbClr val="1E7A4C"/>
          </a:solidFill>
        </p:spPr>
        <p:txBody>
          <a:bodyPr xmlns:a="http://schemas.openxmlformats.org/drawingml/2006/main" anchor="ctr"/>
          <a:lstStyle xmlns:a="http://schemas.openxmlformats.org/drawingml/2006/main"/>
          <a:p xmlns:a="http://schemas.openxmlformats.org/drawingml/2006/main">
            <a:pPr algn="ctr">
              <a:buNone/>
            </a:pPr>
            <a:r>
              <a:rPr sz="1000" b="1">
                <a:solidFill>
                  <a:srgbClr val="FFFFFF"/>
                </a:solidFill>
                <a:latin typeface="Calibri"/>
                <a:ea typeface="Calibri"/>
                <a:cs typeface="Calibri"/>
              </a:rPr>
              <a:t>FIXED</a:t>
            </a:r>
          </a:p>
        </p:txBody>
      </p:sp>
      <p:sp>
        <p:nvSpPr>
          <p:cNvPr id="10" name="Text 10">
            <a:extLst xmlns:a="http://schemas.openxmlformats.org/drawingml/2006/main">
              <a:ext uri="{FF2B5EF4-FFF2-40B4-BE49-F238E27FC236}">
                <a16:creationId xmlns:a16="http://schemas.microsoft.com/office/drawing/2014/main" id="{232946AB-AC46-4F4B-865F-B40ABFE3D2CB}"/>
              </a:ext>
            </a:extLst>
          </p:cNvPr>
          <p:cNvSpPr>
            <a:spLocks xmlns:a="http://schemas.openxmlformats.org/drawingml/2006/main" noGrp="1"/>
          </p:cNvSpPr>
          <p:nvPr/>
        </p:nvSpPr>
        <p:spPr>
          <a:xfrm xmlns:a="http://schemas.openxmlformats.org/drawingml/2006/main">
            <a:off x="6685280" y="2331720"/>
            <a:ext cx="5039360" cy="4000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1E7A4C"/>
                </a:solidFill>
                <a:latin typeface="Cambria"/>
                <a:ea typeface="Cambria"/>
                <a:cs typeface="Cambria"/>
              </a:rPr>
              <a:t>Explicit tokenizer preserves numeric IDs</a:t>
            </a:r>
          </a:p>
        </p:txBody>
      </p:sp>
      <p:sp>
        <p:nvSpPr>
          <p:cNvPr id="11" name="Text 11">
            <a:extLst xmlns:a="http://schemas.openxmlformats.org/drawingml/2006/main">
              <a:ext uri="{FF2B5EF4-FFF2-40B4-BE49-F238E27FC236}">
                <a16:creationId xmlns:a16="http://schemas.microsoft.com/office/drawing/2014/main" id="{6FDE51D8-8875-4189-803F-F599D71B8F41}"/>
              </a:ext>
            </a:extLst>
          </p:cNvPr>
          <p:cNvSpPr>
            <a:spLocks xmlns:a="http://schemas.openxmlformats.org/drawingml/2006/main" noGrp="1"/>
          </p:cNvSpPr>
          <p:nvPr/>
        </p:nvSpPr>
        <p:spPr>
          <a:xfrm xmlns:a="http://schemas.openxmlformats.org/drawingml/2006/main">
            <a:off x="6685280" y="2788920"/>
            <a:ext cx="5039360" cy="55880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4000"/>
              </a:lnSpc>
              <a:buNone/>
            </a:pPr>
            <a:r>
              <a:rPr sz="1050">
                <a:solidFill>
                  <a:srgbClr val="1B1F2A"/>
                </a:solidFill>
                <a:latin typeface="Calibri"/>
                <a:ea typeface="Calibri"/>
                <a:cs typeface="Calibri"/>
              </a:rPr>
              <a:t>tokenizer=str.split and token_pattern=None preserve single-digit IDs. The example 292 7 51 produces unigrams 292, 7, 51 and bigrams 292 7, 7 51.</a:t>
            </a:r>
          </a:p>
        </p:txBody>
      </p:sp>
      <p:sp>
        <p:nvSpPr>
          <p:cNvPr id="12" name="Shape 12">
            <a:extLst xmlns:a="http://schemas.openxmlformats.org/drawingml/2006/main">
              <a:ext uri="{FF2B5EF4-FFF2-40B4-BE49-F238E27FC236}">
                <a16:creationId xmlns:a16="http://schemas.microsoft.com/office/drawing/2014/main" id="{43A22112-C9DA-47FF-8C7C-F479119AF5D9}"/>
              </a:ext>
            </a:extLst>
          </p:cNvPr>
          <p:cNvSpPr>
            <a:spLocks xmlns:a="http://schemas.openxmlformats.org/drawingml/2006/main" noGrp="1"/>
          </p:cNvSpPr>
          <p:nvPr/>
        </p:nvSpPr>
        <p:spPr>
          <a:xfrm xmlns:a="http://schemas.openxmlformats.org/drawingml/2006/main">
            <a:off x="548640" y="4160520"/>
            <a:ext cx="5588000" cy="1500880"/>
          </a:xfrm>
          <a:prstGeom xmlns:a="http://schemas.openxmlformats.org/drawingml/2006/main" prst="roundRect">
            <a:avLst>
              <a:gd name="adj" fmla="val 3600"/>
            </a:avLst>
          </a:prstGeom>
          <a:solidFill xmlns:a="http://schemas.openxmlformats.org/drawingml/2006/main">
            <a:srgbClr val="F4F6FB"/>
          </a:solidFill>
        </p:spPr>
        <p:txBody>
          <a:bodyPr xmlns:a="http://schemas.openxmlformats.org/drawingml/2006/main"/>
          <a:lstStyle xmlns:a="http://schemas.openxmlformats.org/drawingml/2006/main"/>
          <a:p xmlns:a="http://schemas.openxmlformats.org/drawingml/2006/main">
            <a:endParaRPr/>
          </a:p>
        </p:txBody>
      </p:sp>
      <p:sp>
        <p:nvSpPr>
          <p:cNvPr id="13" name="Text 13">
            <a:extLst xmlns:a="http://schemas.openxmlformats.org/drawingml/2006/main">
              <a:ext uri="{FF2B5EF4-FFF2-40B4-BE49-F238E27FC236}">
                <a16:creationId xmlns:a16="http://schemas.microsoft.com/office/drawing/2014/main" id="{AF351EFB-AB45-4480-BB7E-2BDC0F183F00}"/>
              </a:ext>
            </a:extLst>
          </p:cNvPr>
          <p:cNvSpPr>
            <a:spLocks xmlns:a="http://schemas.openxmlformats.org/drawingml/2006/main" noGrp="1"/>
          </p:cNvSpPr>
          <p:nvPr/>
        </p:nvSpPr>
        <p:spPr>
          <a:xfrm xmlns:a="http://schemas.openxmlformats.org/drawingml/2006/main">
            <a:off x="822960" y="4334256"/>
            <a:ext cx="503936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E2761"/>
                </a:solidFill>
                <a:latin typeface="Cambria"/>
                <a:ea typeface="Cambria"/>
                <a:cs typeface="Cambria"/>
              </a:rPr>
              <a:t>No exact-sequence overlap across a split</a:t>
            </a:r>
          </a:p>
        </p:txBody>
      </p:sp>
      <p:sp>
        <p:nvSpPr>
          <p:cNvPr id="14" name="Text 14">
            <a:extLst xmlns:a="http://schemas.openxmlformats.org/drawingml/2006/main">
              <a:ext uri="{FF2B5EF4-FFF2-40B4-BE49-F238E27FC236}">
                <a16:creationId xmlns:a16="http://schemas.microsoft.com/office/drawing/2014/main" id="{EE95431C-697F-4AEE-A093-BC5D32E62894}"/>
              </a:ext>
            </a:extLst>
          </p:cNvPr>
          <p:cNvSpPr>
            <a:spLocks xmlns:a="http://schemas.openxmlformats.org/drawingml/2006/main" noGrp="1"/>
          </p:cNvSpPr>
          <p:nvPr/>
        </p:nvSpPr>
        <p:spPr>
          <a:xfrm xmlns:a="http://schemas.openxmlformats.org/drawingml/2006/main">
            <a:off x="822960" y="4663440"/>
            <a:ext cx="5039360" cy="860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3000"/>
              </a:lnSpc>
              <a:buNone/>
            </a:pPr>
            <a:r>
              <a:rPr sz="1000">
                <a:solidFill>
                  <a:srgbClr val="1B1F2A"/>
                </a:solidFill>
                <a:latin typeface="Calibri"/>
                <a:ea typeface="Calibri"/>
                <a:cs typeface="Calibri"/>
              </a:rPr>
              <a:t>7,107 samples contain 6,518 unique full sequences, with 589 additional copies in 290 repeated-sequence groups. SHA-256 grouping keeps identical sequences together in all five folds.</a:t>
            </a:r>
          </a:p>
        </p:txBody>
      </p:sp>
      <p:sp>
        <p:nvSpPr>
          <p:cNvPr id="15" name="Shape 15">
            <a:extLst xmlns:a="http://schemas.openxmlformats.org/drawingml/2006/main">
              <a:ext uri="{FF2B5EF4-FFF2-40B4-BE49-F238E27FC236}">
                <a16:creationId xmlns:a16="http://schemas.microsoft.com/office/drawing/2014/main" id="{32844AB1-CA96-44A0-976B-FBD7BCF9D3D9}"/>
              </a:ext>
            </a:extLst>
          </p:cNvPr>
          <p:cNvSpPr>
            <a:spLocks xmlns:a="http://schemas.openxmlformats.org/drawingml/2006/main" noGrp="1"/>
          </p:cNvSpPr>
          <p:nvPr/>
        </p:nvSpPr>
        <p:spPr>
          <a:xfrm xmlns:a="http://schemas.openxmlformats.org/drawingml/2006/main">
            <a:off x="6410960" y="4160520"/>
            <a:ext cx="5571490" cy="1500880"/>
          </a:xfrm>
          <a:prstGeom xmlns:a="http://schemas.openxmlformats.org/drawingml/2006/main" prst="roundRect">
            <a:avLst>
              <a:gd name="adj" fmla="val 3600"/>
            </a:avLst>
          </a:prstGeom>
          <a:solidFill xmlns:a="http://schemas.openxmlformats.org/drawingml/2006/main">
            <a:srgbClr val="F4F6FB"/>
          </a:solidFill>
        </p:spPr>
        <p:txBody>
          <a:bodyPr xmlns:a="http://schemas.openxmlformats.org/drawingml/2006/main"/>
          <a:lstStyle xmlns:a="http://schemas.openxmlformats.org/drawingml/2006/main"/>
          <a:p xmlns:a="http://schemas.openxmlformats.org/drawingml/2006/main">
            <a:endParaRPr/>
          </a:p>
        </p:txBody>
      </p:sp>
      <p:sp>
        <p:nvSpPr>
          <p:cNvPr id="16" name="Text 16">
            <a:extLst xmlns:a="http://schemas.openxmlformats.org/drawingml/2006/main">
              <a:ext uri="{FF2B5EF4-FFF2-40B4-BE49-F238E27FC236}">
                <a16:creationId xmlns:a16="http://schemas.microsoft.com/office/drawing/2014/main" id="{93A524C0-8467-4F53-9AFA-3D5482F0D178}"/>
              </a:ext>
            </a:extLst>
          </p:cNvPr>
          <p:cNvSpPr>
            <a:spLocks xmlns:a="http://schemas.openxmlformats.org/drawingml/2006/main" noGrp="1"/>
          </p:cNvSpPr>
          <p:nvPr/>
        </p:nvSpPr>
        <p:spPr>
          <a:xfrm xmlns:a="http://schemas.openxmlformats.org/drawingml/2006/main">
            <a:off x="6685280" y="4334256"/>
            <a:ext cx="503936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E2761"/>
                </a:solidFill>
                <a:latin typeface="Cambria"/>
                <a:ea typeface="Cambria"/>
                <a:cs typeface="Cambria"/>
              </a:rPr>
              <a:t>Conflicting labels require investigation</a:t>
            </a:r>
          </a:p>
        </p:txBody>
      </p:sp>
      <p:sp>
        <p:nvSpPr>
          <p:cNvPr id="17" name="Text 17">
            <a:extLst xmlns:a="http://schemas.openxmlformats.org/drawingml/2006/main">
              <a:ext uri="{FF2B5EF4-FFF2-40B4-BE49-F238E27FC236}">
                <a16:creationId xmlns:a16="http://schemas.microsoft.com/office/drawing/2014/main" id="{768B1894-5D37-478A-A42C-73CC3E7A66B3}"/>
              </a:ext>
            </a:extLst>
          </p:cNvPr>
          <p:cNvSpPr>
            <a:spLocks xmlns:a="http://schemas.openxmlformats.org/drawingml/2006/main" noGrp="1"/>
          </p:cNvSpPr>
          <p:nvPr/>
        </p:nvSpPr>
        <p:spPr>
          <a:xfrm xmlns:a="http://schemas.openxmlformats.org/drawingml/2006/main">
            <a:off x="6685280" y="4663440"/>
            <a:ext cx="5039360" cy="860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3000"/>
              </a:lnSpc>
              <a:buNone/>
            </a:pPr>
            <a:r>
              <a:rPr sz="1000">
                <a:solidFill>
                  <a:srgbClr val="1B1F2A"/>
                </a:solidFill>
                <a:latin typeface="Calibri"/>
                <a:ea typeface="Calibri"/>
                <a:cs typeface="Calibri"/>
              </a:rPr>
              <a:t>33 identical-sequence groups have more than one category label. We retained all samples and labels. Matching observed behavior alone does not prove that a label is incorrect.</a:t>
            </a:r>
          </a:p>
        </p:txBody>
      </p:sp>
      <p:sp>
        <p:nvSpPr>
          <p:cNvPr id="18" name="Text 18">
            <a:extLst xmlns:a="http://schemas.openxmlformats.org/drawingml/2006/main">
              <a:ext uri="{FF2B5EF4-FFF2-40B4-BE49-F238E27FC236}">
                <a16:creationId xmlns:a16="http://schemas.microsoft.com/office/drawing/2014/main" id="{4982BAE7-5023-4943-8981-7F7DF012557E}"/>
              </a:ext>
            </a:extLst>
          </p:cNvPr>
          <p:cNvSpPr>
            <a:spLocks xmlns:a="http://schemas.openxmlformats.org/drawingml/2006/main" noGrp="1"/>
          </p:cNvSpPr>
          <p:nvPr/>
        </p:nvSpPr>
        <p:spPr>
          <a:xfrm xmlns:a="http://schemas.openxmlformats.org/drawingml/2006/main">
            <a:off x="11521440" y="6446520"/>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5B6472"/>
                </a:solidFill>
                <a:latin typeface="Calibri"/>
                <a:ea typeface="Calibri"/>
                <a:cs typeface="Calibri"/>
              </a:rPr>
              <a:t>3</a:t>
            </a:r>
          </a:p>
        </p:txBody>
      </p:sp>
    </p:spTree>
    <p:extLst>
      <p:ext uri="{BB962C8B-B14F-4D97-AF65-F5344CB8AC3E}">
        <p14:creationId xmlns:p14="http://schemas.microsoft.com/office/powerpoint/2010/main" val="211423256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2">
            <a:extLst xmlns:a="http://schemas.openxmlformats.org/drawingml/2006/main">
              <a:ext uri="{FF2B5EF4-FFF2-40B4-BE49-F238E27FC236}">
                <a16:creationId xmlns:a16="http://schemas.microsoft.com/office/drawing/2014/main" id="{D29436FB-DA8D-4151-891E-64C62E815117}"/>
              </a:ext>
            </a:extLst>
          </p:cNvPr>
          <p:cNvSpPr>
            <a:spLocks xmlns:a="http://schemas.openxmlformats.org/drawingml/2006/main" noGrp="1"/>
          </p:cNvSpPr>
          <p:nvPr/>
        </p:nvSpPr>
        <p:spPr>
          <a:xfrm xmlns:a="http://schemas.openxmlformats.org/drawingml/2006/main">
            <a:off x="548640" y="365760"/>
            <a:ext cx="105156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spc="200">
                <a:solidFill>
                  <a:srgbClr val="1E2761"/>
                </a:solidFill>
                <a:latin typeface="Calibri"/>
                <a:ea typeface="Calibri"/>
                <a:cs typeface="Calibri"/>
              </a:rPr>
              <a:t>2. METHODOLOGY</a:t>
            </a:r>
          </a:p>
        </p:txBody>
      </p:sp>
      <p:sp>
        <p:nvSpPr>
          <p:cNvPr id="3" name="Text 3">
            <a:extLst xmlns:a="http://schemas.openxmlformats.org/drawingml/2006/main">
              <a:ext uri="{FF2B5EF4-FFF2-40B4-BE49-F238E27FC236}">
                <a16:creationId xmlns:a16="http://schemas.microsoft.com/office/drawing/2014/main" id="{52F6A6D1-4F4E-4781-9698-A4B1F40C5E04}"/>
              </a:ext>
            </a:extLst>
          </p:cNvPr>
          <p:cNvSpPr>
            <a:spLocks xmlns:a="http://schemas.openxmlformats.org/drawingml/2006/main" noGrp="1"/>
          </p:cNvSpPr>
          <p:nvPr/>
        </p:nvSpPr>
        <p:spPr>
          <a:xfrm xmlns:a="http://schemas.openxmlformats.org/drawingml/2006/main">
            <a:off x="548640" y="685800"/>
            <a:ext cx="1131560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200" b="1">
                <a:solidFill>
                  <a:srgbClr val="1B1F2A"/>
                </a:solidFill>
                <a:latin typeface="Cambria"/>
                <a:ea typeface="Cambria"/>
                <a:cs typeface="Cambria"/>
              </a:rPr>
              <a:t>Training and evaluation within each fold</a:t>
            </a:r>
          </a:p>
        </p:txBody>
      </p:sp>
      <p:sp>
        <p:nvSpPr>
          <p:cNvPr id="4" name="Circle 4">
            <a:extLst xmlns:a="http://schemas.openxmlformats.org/drawingml/2006/main">
              <a:ext uri="{FF2B5EF4-FFF2-40B4-BE49-F238E27FC236}">
                <a16:creationId xmlns:a16="http://schemas.microsoft.com/office/drawing/2014/main" id="{58DFD32B-2BCF-4D97-9AB4-D0A38A0D0868}"/>
              </a:ext>
            </a:extLst>
          </p:cNvPr>
          <p:cNvSpPr>
            <a:spLocks xmlns:a="http://schemas.openxmlformats.org/drawingml/2006/main" noGrp="1"/>
          </p:cNvSpPr>
          <p:nvPr/>
        </p:nvSpPr>
        <p:spPr>
          <a:xfrm xmlns:a="http://schemas.openxmlformats.org/drawingml/2006/main">
            <a:off x="548640" y="1600200"/>
            <a:ext cx="500760" cy="500760"/>
          </a:xfrm>
          <a:prstGeom xmlns:a="http://schemas.openxmlformats.org/drawingml/2006/main" prst="ellipse">
            <a:avLst/>
          </a:prstGeom>
          <a:solidFill xmlns:a="http://schemas.openxmlformats.org/drawingml/2006/main">
            <a:srgbClr val="1E2761"/>
          </a:solidFill>
        </p:spPr>
        <p:txBody>
          <a:bodyPr xmlns:a="http://schemas.openxmlformats.org/drawingml/2006/main" wrap="none" anchor="ctr"/>
          <a:lstStyle xmlns:a="http://schemas.openxmlformats.org/drawingml/2006/main"/>
          <a:p xmlns:a="http://schemas.openxmlformats.org/drawingml/2006/main">
            <a:pPr algn="ctr">
              <a:buNone/>
            </a:pPr>
            <a:r>
              <a:rPr sz="1500" b="1">
                <a:solidFill>
                  <a:srgbClr val="FFFFFF"/>
                </a:solidFill>
                <a:latin typeface="Cambria"/>
                <a:ea typeface="Cambria"/>
                <a:cs typeface="Cambria"/>
              </a:rPr>
              <a:t>01</a:t>
            </a:r>
          </a:p>
        </p:txBody>
      </p:sp>
      <p:sp>
        <p:nvSpPr>
          <p:cNvPr id="5" name="Text 5">
            <a:extLst xmlns:a="http://schemas.openxmlformats.org/drawingml/2006/main">
              <a:ext uri="{FF2B5EF4-FFF2-40B4-BE49-F238E27FC236}">
                <a16:creationId xmlns:a16="http://schemas.microsoft.com/office/drawing/2014/main" id="{7E6903C0-9EF8-413D-9D5E-430B2A221BA1}"/>
              </a:ext>
            </a:extLst>
          </p:cNvPr>
          <p:cNvSpPr>
            <a:spLocks xmlns:a="http://schemas.openxmlformats.org/drawingml/2006/main" noGrp="1"/>
          </p:cNvSpPr>
          <p:nvPr/>
        </p:nvSpPr>
        <p:spPr>
          <a:xfrm xmlns:a="http://schemas.openxmlformats.org/drawingml/2006/main">
            <a:off x="1234440" y="1554480"/>
            <a:ext cx="1700000" cy="500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50" b="1">
                <a:solidFill>
                  <a:srgbClr val="1B1F2A"/>
                </a:solidFill>
                <a:latin typeface="Cambria"/>
                <a:ea typeface="Cambria"/>
                <a:cs typeface="Cambria"/>
              </a:rPr>
              <a:t>Load</a:t>
            </a:r>
          </a:p>
        </p:txBody>
      </p:sp>
      <p:sp>
        <p:nvSpPr>
          <p:cNvPr id="6" name="Text 6">
            <a:extLst xmlns:a="http://schemas.openxmlformats.org/drawingml/2006/main">
              <a:ext uri="{FF2B5EF4-FFF2-40B4-BE49-F238E27FC236}">
                <a16:creationId xmlns:a16="http://schemas.microsoft.com/office/drawing/2014/main" id="{610BFC16-B291-4C5A-8996-C5BC937ED3BC}"/>
              </a:ext>
            </a:extLst>
          </p:cNvPr>
          <p:cNvSpPr>
            <a:spLocks xmlns:a="http://schemas.openxmlformats.org/drawingml/2006/main" noGrp="1"/>
          </p:cNvSpPr>
          <p:nvPr/>
        </p:nvSpPr>
        <p:spPr>
          <a:xfrm xmlns:a="http://schemas.openxmlformats.org/drawingml/2006/main">
            <a:off x="3100000" y="1554480"/>
            <a:ext cx="8882450" cy="500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2000"/>
              </a:lnSpc>
              <a:buNone/>
            </a:pPr>
            <a:r>
              <a:rPr sz="1100">
                <a:solidFill>
                  <a:srgbClr val="1B1F2A"/>
                </a:solidFill>
                <a:latin typeface="Calibri"/>
                <a:ea typeface="Calibri"/>
                <a:cs typeface="Calibri"/>
              </a:rPr>
              <a:t>Load the existing Mal-API-2019 API-call traces and all 7,107 labels. No new sandbox execution or benign dataset is used.</a:t>
            </a:r>
          </a:p>
        </p:txBody>
      </p:sp>
      <p:sp>
        <p:nvSpPr>
          <p:cNvPr id="7" name="Circle 7">
            <a:extLst xmlns:a="http://schemas.openxmlformats.org/drawingml/2006/main">
              <a:ext uri="{FF2B5EF4-FFF2-40B4-BE49-F238E27FC236}">
                <a16:creationId xmlns:a16="http://schemas.microsoft.com/office/drawing/2014/main" id="{91493688-B5FF-4C5F-A67E-06E393D5E8F2}"/>
              </a:ext>
            </a:extLst>
          </p:cNvPr>
          <p:cNvSpPr>
            <a:spLocks xmlns:a="http://schemas.openxmlformats.org/drawingml/2006/main" noGrp="1"/>
          </p:cNvSpPr>
          <p:nvPr/>
        </p:nvSpPr>
        <p:spPr>
          <a:xfrm xmlns:a="http://schemas.openxmlformats.org/drawingml/2006/main">
            <a:off x="548640" y="2400300"/>
            <a:ext cx="500760" cy="500760"/>
          </a:xfrm>
          <a:prstGeom xmlns:a="http://schemas.openxmlformats.org/drawingml/2006/main" prst="ellipse">
            <a:avLst/>
          </a:prstGeom>
          <a:solidFill xmlns:a="http://schemas.openxmlformats.org/drawingml/2006/main">
            <a:srgbClr val="1E2761"/>
          </a:solidFill>
        </p:spPr>
        <p:txBody>
          <a:bodyPr xmlns:a="http://schemas.openxmlformats.org/drawingml/2006/main" wrap="none" anchor="ctr"/>
          <a:lstStyle xmlns:a="http://schemas.openxmlformats.org/drawingml/2006/main"/>
          <a:p xmlns:a="http://schemas.openxmlformats.org/drawingml/2006/main">
            <a:pPr algn="ctr">
              <a:buNone/>
            </a:pPr>
            <a:r>
              <a:rPr sz="1500" b="1">
                <a:solidFill>
                  <a:srgbClr val="FFFFFF"/>
                </a:solidFill>
                <a:latin typeface="Cambria"/>
                <a:ea typeface="Cambria"/>
                <a:cs typeface="Cambria"/>
              </a:rPr>
              <a:t>02</a:t>
            </a:r>
          </a:p>
        </p:txBody>
      </p:sp>
      <p:sp>
        <p:nvSpPr>
          <p:cNvPr id="8" name="Text 8">
            <a:extLst xmlns:a="http://schemas.openxmlformats.org/drawingml/2006/main">
              <a:ext uri="{FF2B5EF4-FFF2-40B4-BE49-F238E27FC236}">
                <a16:creationId xmlns:a16="http://schemas.microsoft.com/office/drawing/2014/main" id="{F4153BBE-ABC0-4E94-9B54-80C9E6EA8CD0}"/>
              </a:ext>
            </a:extLst>
          </p:cNvPr>
          <p:cNvSpPr>
            <a:spLocks xmlns:a="http://schemas.openxmlformats.org/drawingml/2006/main" noGrp="1"/>
          </p:cNvSpPr>
          <p:nvPr/>
        </p:nvSpPr>
        <p:spPr>
          <a:xfrm xmlns:a="http://schemas.openxmlformats.org/drawingml/2006/main">
            <a:off x="1234440" y="2354580"/>
            <a:ext cx="1700000" cy="500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50" b="1">
                <a:solidFill>
                  <a:srgbClr val="1B1F2A"/>
                </a:solidFill>
                <a:latin typeface="Cambria"/>
                <a:ea typeface="Cambria"/>
                <a:cs typeface="Cambria"/>
              </a:rPr>
              <a:t>Split</a:t>
            </a:r>
          </a:p>
        </p:txBody>
      </p:sp>
      <p:sp>
        <p:nvSpPr>
          <p:cNvPr id="9" name="Text 9">
            <a:extLst xmlns:a="http://schemas.openxmlformats.org/drawingml/2006/main">
              <a:ext uri="{FF2B5EF4-FFF2-40B4-BE49-F238E27FC236}">
                <a16:creationId xmlns:a16="http://schemas.microsoft.com/office/drawing/2014/main" id="{9506978D-AE65-467D-99B7-DC45C3DA49F8}"/>
              </a:ext>
            </a:extLst>
          </p:cNvPr>
          <p:cNvSpPr>
            <a:spLocks xmlns:a="http://schemas.openxmlformats.org/drawingml/2006/main" noGrp="1"/>
          </p:cNvSpPr>
          <p:nvPr/>
        </p:nvSpPr>
        <p:spPr>
          <a:xfrm xmlns:a="http://schemas.openxmlformats.org/drawingml/2006/main">
            <a:off x="3100000" y="2354580"/>
            <a:ext cx="8882450" cy="500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2000"/>
              </a:lnSpc>
              <a:buNone/>
            </a:pPr>
            <a:r>
              <a:rPr sz="1100">
                <a:solidFill>
                  <a:srgbClr val="1B1F2A"/>
                </a:solidFill>
                <a:latin typeface="Calibri"/>
                <a:ea typeface="Calibri"/>
                <a:cs typeface="Calibri"/>
              </a:rPr>
              <a:t>Create five StratifiedGroupKFold partitions from full-sequence hashes. Verify zero identical-sequence overlap and all eight categories in each fold.</a:t>
            </a:r>
          </a:p>
        </p:txBody>
      </p:sp>
      <p:sp>
        <p:nvSpPr>
          <p:cNvPr id="10" name="Circle 10">
            <a:extLst xmlns:a="http://schemas.openxmlformats.org/drawingml/2006/main">
              <a:ext uri="{FF2B5EF4-FFF2-40B4-BE49-F238E27FC236}">
                <a16:creationId xmlns:a16="http://schemas.microsoft.com/office/drawing/2014/main" id="{0D79C430-0979-451E-A70D-3707DD99F7BC}"/>
              </a:ext>
            </a:extLst>
          </p:cNvPr>
          <p:cNvSpPr>
            <a:spLocks xmlns:a="http://schemas.openxmlformats.org/drawingml/2006/main" noGrp="1"/>
          </p:cNvSpPr>
          <p:nvPr/>
        </p:nvSpPr>
        <p:spPr>
          <a:xfrm xmlns:a="http://schemas.openxmlformats.org/drawingml/2006/main">
            <a:off x="548640" y="3200400"/>
            <a:ext cx="500760" cy="500760"/>
          </a:xfrm>
          <a:prstGeom xmlns:a="http://schemas.openxmlformats.org/drawingml/2006/main" prst="ellipse">
            <a:avLst/>
          </a:prstGeom>
          <a:solidFill xmlns:a="http://schemas.openxmlformats.org/drawingml/2006/main">
            <a:srgbClr val="1E2761"/>
          </a:solidFill>
        </p:spPr>
        <p:txBody>
          <a:bodyPr xmlns:a="http://schemas.openxmlformats.org/drawingml/2006/main" wrap="none" anchor="ctr"/>
          <a:lstStyle xmlns:a="http://schemas.openxmlformats.org/drawingml/2006/main"/>
          <a:p xmlns:a="http://schemas.openxmlformats.org/drawingml/2006/main">
            <a:pPr algn="ctr">
              <a:buNone/>
            </a:pPr>
            <a:r>
              <a:rPr sz="1500" b="1">
                <a:solidFill>
                  <a:srgbClr val="FFFFFF"/>
                </a:solidFill>
                <a:latin typeface="Cambria"/>
                <a:ea typeface="Cambria"/>
                <a:cs typeface="Cambria"/>
              </a:rPr>
              <a:t>03</a:t>
            </a:r>
          </a:p>
        </p:txBody>
      </p:sp>
      <p:sp>
        <p:nvSpPr>
          <p:cNvPr id="11" name="Text 11">
            <a:extLst xmlns:a="http://schemas.openxmlformats.org/drawingml/2006/main">
              <a:ext uri="{FF2B5EF4-FFF2-40B4-BE49-F238E27FC236}">
                <a16:creationId xmlns:a16="http://schemas.microsoft.com/office/drawing/2014/main" id="{69EBD29A-2BE6-4D1F-9351-4FCC5D3CE023}"/>
              </a:ext>
            </a:extLst>
          </p:cNvPr>
          <p:cNvSpPr>
            <a:spLocks xmlns:a="http://schemas.openxmlformats.org/drawingml/2006/main" noGrp="1"/>
          </p:cNvSpPr>
          <p:nvPr/>
        </p:nvSpPr>
        <p:spPr>
          <a:xfrm xmlns:a="http://schemas.openxmlformats.org/drawingml/2006/main">
            <a:off x="1234440" y="3154680"/>
            <a:ext cx="1700000" cy="500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50" b="1">
                <a:solidFill>
                  <a:srgbClr val="1B1F2A"/>
                </a:solidFill>
                <a:latin typeface="Cambria"/>
                <a:ea typeface="Cambria"/>
                <a:cs typeface="Cambria"/>
              </a:rPr>
              <a:t>Represent</a:t>
            </a:r>
          </a:p>
        </p:txBody>
      </p:sp>
      <p:sp>
        <p:nvSpPr>
          <p:cNvPr id="12" name="Text 12">
            <a:extLst xmlns:a="http://schemas.openxmlformats.org/drawingml/2006/main">
              <a:ext uri="{FF2B5EF4-FFF2-40B4-BE49-F238E27FC236}">
                <a16:creationId xmlns:a16="http://schemas.microsoft.com/office/drawing/2014/main" id="{CFB52044-BCEC-48B7-AE45-7515613DD5B6}"/>
              </a:ext>
            </a:extLst>
          </p:cNvPr>
          <p:cNvSpPr>
            <a:spLocks xmlns:a="http://schemas.openxmlformats.org/drawingml/2006/main" noGrp="1"/>
          </p:cNvSpPr>
          <p:nvPr/>
        </p:nvSpPr>
        <p:spPr>
          <a:xfrm xmlns:a="http://schemas.openxmlformats.org/drawingml/2006/main">
            <a:off x="3100000" y="3154680"/>
            <a:ext cx="8882450" cy="500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2000"/>
              </a:lnSpc>
              <a:buNone/>
            </a:pPr>
            <a:r>
              <a:rPr sz="1100">
                <a:solidFill>
                  <a:srgbClr val="1B1F2A"/>
                </a:solidFill>
                <a:latin typeface="Calibri"/>
                <a:ea typeface="Calibri"/>
                <a:cs typeface="Calibri"/>
              </a:rPr>
              <a:t>Fit TF-IDF on the training sequences only. Transform the held-out fold with that vocabulary. Compare unigrams with combined 1–3 grams.</a:t>
            </a:r>
          </a:p>
        </p:txBody>
      </p:sp>
      <p:sp>
        <p:nvSpPr>
          <p:cNvPr id="13" name="Circle 13">
            <a:extLst xmlns:a="http://schemas.openxmlformats.org/drawingml/2006/main">
              <a:ext uri="{FF2B5EF4-FFF2-40B4-BE49-F238E27FC236}">
                <a16:creationId xmlns:a16="http://schemas.microsoft.com/office/drawing/2014/main" id="{DFBEF1D7-0771-402C-BA02-76350CEA01E4}"/>
              </a:ext>
            </a:extLst>
          </p:cNvPr>
          <p:cNvSpPr>
            <a:spLocks xmlns:a="http://schemas.openxmlformats.org/drawingml/2006/main" noGrp="1"/>
          </p:cNvSpPr>
          <p:nvPr/>
        </p:nvSpPr>
        <p:spPr>
          <a:xfrm xmlns:a="http://schemas.openxmlformats.org/drawingml/2006/main">
            <a:off x="548640" y="4000500"/>
            <a:ext cx="500760" cy="500760"/>
          </a:xfrm>
          <a:prstGeom xmlns:a="http://schemas.openxmlformats.org/drawingml/2006/main" prst="ellipse">
            <a:avLst/>
          </a:prstGeom>
          <a:solidFill xmlns:a="http://schemas.openxmlformats.org/drawingml/2006/main">
            <a:srgbClr val="1E2761"/>
          </a:solidFill>
        </p:spPr>
        <p:txBody>
          <a:bodyPr xmlns:a="http://schemas.openxmlformats.org/drawingml/2006/main" wrap="none" anchor="ctr"/>
          <a:lstStyle xmlns:a="http://schemas.openxmlformats.org/drawingml/2006/main"/>
          <a:p xmlns:a="http://schemas.openxmlformats.org/drawingml/2006/main">
            <a:pPr algn="ctr">
              <a:buNone/>
            </a:pPr>
            <a:r>
              <a:rPr sz="1500" b="1">
                <a:solidFill>
                  <a:srgbClr val="FFFFFF"/>
                </a:solidFill>
                <a:latin typeface="Cambria"/>
                <a:ea typeface="Cambria"/>
                <a:cs typeface="Cambria"/>
              </a:rPr>
              <a:t>04</a:t>
            </a:r>
          </a:p>
        </p:txBody>
      </p:sp>
      <p:sp>
        <p:nvSpPr>
          <p:cNvPr id="14" name="Text 14">
            <a:extLst xmlns:a="http://schemas.openxmlformats.org/drawingml/2006/main">
              <a:ext uri="{FF2B5EF4-FFF2-40B4-BE49-F238E27FC236}">
                <a16:creationId xmlns:a16="http://schemas.microsoft.com/office/drawing/2014/main" id="{AA22804B-F59A-49E5-85A0-629ABFE6960A}"/>
              </a:ext>
            </a:extLst>
          </p:cNvPr>
          <p:cNvSpPr>
            <a:spLocks xmlns:a="http://schemas.openxmlformats.org/drawingml/2006/main" noGrp="1"/>
          </p:cNvSpPr>
          <p:nvPr/>
        </p:nvSpPr>
        <p:spPr>
          <a:xfrm xmlns:a="http://schemas.openxmlformats.org/drawingml/2006/main">
            <a:off x="1234440" y="3954780"/>
            <a:ext cx="1700000" cy="500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50" b="1">
                <a:solidFill>
                  <a:srgbClr val="1B1F2A"/>
                </a:solidFill>
                <a:latin typeface="Cambria"/>
                <a:ea typeface="Cambria"/>
                <a:cs typeface="Cambria"/>
              </a:rPr>
              <a:t>Classify</a:t>
            </a:r>
          </a:p>
        </p:txBody>
      </p:sp>
      <p:sp>
        <p:nvSpPr>
          <p:cNvPr id="15" name="Text 15">
            <a:extLst xmlns:a="http://schemas.openxmlformats.org/drawingml/2006/main">
              <a:ext uri="{FF2B5EF4-FFF2-40B4-BE49-F238E27FC236}">
                <a16:creationId xmlns:a16="http://schemas.microsoft.com/office/drawing/2014/main" id="{61429B65-1B87-4998-A0EA-161B3AB12C98}"/>
              </a:ext>
            </a:extLst>
          </p:cNvPr>
          <p:cNvSpPr>
            <a:spLocks xmlns:a="http://schemas.openxmlformats.org/drawingml/2006/main" noGrp="1"/>
          </p:cNvSpPr>
          <p:nvPr/>
        </p:nvSpPr>
        <p:spPr>
          <a:xfrm xmlns:a="http://schemas.openxmlformats.org/drawingml/2006/main">
            <a:off x="3100000" y="3954780"/>
            <a:ext cx="8882450" cy="500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2000"/>
              </a:lnSpc>
              <a:buNone/>
            </a:pPr>
            <a:r>
              <a:rPr sz="1100">
                <a:solidFill>
                  <a:srgbClr val="1B1F2A"/>
                </a:solidFill>
                <a:latin typeface="Calibri"/>
                <a:ea typeface="Calibri"/>
                <a:cs typeface="Calibri"/>
              </a:rPr>
              <a:t>Train RF, XGBoost and linear SVM. Compare weighted unigram, weighted 1–3 gram and unweighted 1–3 gram settings.</a:t>
            </a:r>
          </a:p>
        </p:txBody>
      </p:sp>
      <p:sp>
        <p:nvSpPr>
          <p:cNvPr id="16" name="Circle 16">
            <a:extLst xmlns:a="http://schemas.openxmlformats.org/drawingml/2006/main">
              <a:ext uri="{FF2B5EF4-FFF2-40B4-BE49-F238E27FC236}">
                <a16:creationId xmlns:a16="http://schemas.microsoft.com/office/drawing/2014/main" id="{B90CA3DE-8D5F-47E6-AE27-F9E82EEF73E1}"/>
              </a:ext>
            </a:extLst>
          </p:cNvPr>
          <p:cNvSpPr>
            <a:spLocks xmlns:a="http://schemas.openxmlformats.org/drawingml/2006/main" noGrp="1"/>
          </p:cNvSpPr>
          <p:nvPr/>
        </p:nvSpPr>
        <p:spPr>
          <a:xfrm xmlns:a="http://schemas.openxmlformats.org/drawingml/2006/main">
            <a:off x="548640" y="4800600"/>
            <a:ext cx="500760" cy="500760"/>
          </a:xfrm>
          <a:prstGeom xmlns:a="http://schemas.openxmlformats.org/drawingml/2006/main" prst="ellipse">
            <a:avLst/>
          </a:prstGeom>
          <a:solidFill xmlns:a="http://schemas.openxmlformats.org/drawingml/2006/main">
            <a:srgbClr val="1E2761"/>
          </a:solidFill>
        </p:spPr>
        <p:txBody>
          <a:bodyPr xmlns:a="http://schemas.openxmlformats.org/drawingml/2006/main" wrap="none" anchor="ctr"/>
          <a:lstStyle xmlns:a="http://schemas.openxmlformats.org/drawingml/2006/main"/>
          <a:p xmlns:a="http://schemas.openxmlformats.org/drawingml/2006/main">
            <a:pPr algn="ctr">
              <a:buNone/>
            </a:pPr>
            <a:r>
              <a:rPr sz="1500" b="1">
                <a:solidFill>
                  <a:srgbClr val="FFFFFF"/>
                </a:solidFill>
                <a:latin typeface="Cambria"/>
                <a:ea typeface="Cambria"/>
                <a:cs typeface="Cambria"/>
              </a:rPr>
              <a:t>05</a:t>
            </a:r>
          </a:p>
        </p:txBody>
      </p:sp>
      <p:sp>
        <p:nvSpPr>
          <p:cNvPr id="17" name="Text 17">
            <a:extLst xmlns:a="http://schemas.openxmlformats.org/drawingml/2006/main">
              <a:ext uri="{FF2B5EF4-FFF2-40B4-BE49-F238E27FC236}">
                <a16:creationId xmlns:a16="http://schemas.microsoft.com/office/drawing/2014/main" id="{3E2732BB-1372-4A57-A411-66F179597F9D}"/>
              </a:ext>
            </a:extLst>
          </p:cNvPr>
          <p:cNvSpPr>
            <a:spLocks xmlns:a="http://schemas.openxmlformats.org/drawingml/2006/main" noGrp="1"/>
          </p:cNvSpPr>
          <p:nvPr/>
        </p:nvSpPr>
        <p:spPr>
          <a:xfrm xmlns:a="http://schemas.openxmlformats.org/drawingml/2006/main">
            <a:off x="1234440" y="4754880"/>
            <a:ext cx="1700000" cy="500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50" b="1">
                <a:solidFill>
                  <a:srgbClr val="1B1F2A"/>
                </a:solidFill>
                <a:latin typeface="Cambria"/>
                <a:ea typeface="Cambria"/>
                <a:cs typeface="Cambria"/>
              </a:rPr>
              <a:t>Combine &amp; evaluate</a:t>
            </a:r>
          </a:p>
        </p:txBody>
      </p:sp>
      <p:sp>
        <p:nvSpPr>
          <p:cNvPr id="18" name="Text 18">
            <a:extLst xmlns:a="http://schemas.openxmlformats.org/drawingml/2006/main">
              <a:ext uri="{FF2B5EF4-FFF2-40B4-BE49-F238E27FC236}">
                <a16:creationId xmlns:a16="http://schemas.microsoft.com/office/drawing/2014/main" id="{8C05727C-3853-490C-8E86-5D7FF5885DB0}"/>
              </a:ext>
            </a:extLst>
          </p:cNvPr>
          <p:cNvSpPr>
            <a:spLocks xmlns:a="http://schemas.openxmlformats.org/drawingml/2006/main" noGrp="1"/>
          </p:cNvSpPr>
          <p:nvPr/>
        </p:nvSpPr>
        <p:spPr>
          <a:xfrm xmlns:a="http://schemas.openxmlformats.org/drawingml/2006/main">
            <a:off x="3100000" y="4754880"/>
            <a:ext cx="8882450" cy="500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2000"/>
              </a:lnSpc>
              <a:buNone/>
            </a:pPr>
            <a:r>
              <a:rPr sz="1100">
                <a:solidFill>
                  <a:srgbClr val="1B1F2A"/>
                </a:solidFill>
                <a:latin typeface="Calibri"/>
                <a:ea typeface="Calibri"/>
                <a:cs typeface="Calibri"/>
              </a:rPr>
              <a:t>Average class-aligned probabilities with equal weights. Report accuracy and macro metrics as mean ± standard deviation across folds.</a:t>
            </a:r>
          </a:p>
        </p:txBody>
      </p:sp>
      <p:sp>
        <p:nvSpPr>
          <p:cNvPr id="19" name="Shape 19">
            <a:extLst xmlns:a="http://schemas.openxmlformats.org/drawingml/2006/main">
              <a:ext uri="{FF2B5EF4-FFF2-40B4-BE49-F238E27FC236}">
                <a16:creationId xmlns:a16="http://schemas.microsoft.com/office/drawing/2014/main" id="{CFD426C6-E2E4-43BF-8090-F4CD3FAD420C}"/>
              </a:ext>
            </a:extLst>
          </p:cNvPr>
          <p:cNvSpPr>
            <a:spLocks xmlns:a="http://schemas.openxmlformats.org/drawingml/2006/main" noGrp="1"/>
          </p:cNvSpPr>
          <p:nvPr/>
        </p:nvSpPr>
        <p:spPr>
          <a:xfrm xmlns:a="http://schemas.openxmlformats.org/drawingml/2006/main">
            <a:off x="548640" y="5692140"/>
            <a:ext cx="11315600" cy="685800"/>
          </a:xfrm>
          <a:prstGeom xmlns:a="http://schemas.openxmlformats.org/drawingml/2006/main" prst="roundRect">
            <a:avLst>
              <a:gd name="adj" fmla="val 3000"/>
            </a:avLst>
          </a:prstGeom>
          <a:solidFill xmlns:a="http://schemas.openxmlformats.org/drawingml/2006/main">
            <a:srgbClr val="F4F6FB"/>
          </a:solidFill>
        </p:spPr>
        <p:txBody>
          <a:bodyPr xmlns:a="http://schemas.openxmlformats.org/drawingml/2006/main"/>
          <a:lstStyle xmlns:a="http://schemas.openxmlformats.org/drawingml/2006/main"/>
          <a:p xmlns:a="http://schemas.openxmlformats.org/drawingml/2006/main">
            <a:endParaRPr/>
          </a:p>
        </p:txBody>
      </p:sp>
      <p:sp>
        <p:nvSpPr>
          <p:cNvPr id="20" name="Text 20">
            <a:extLst xmlns:a="http://schemas.openxmlformats.org/drawingml/2006/main">
              <a:ext uri="{FF2B5EF4-FFF2-40B4-BE49-F238E27FC236}">
                <a16:creationId xmlns:a16="http://schemas.microsoft.com/office/drawing/2014/main" id="{4A5063E2-5244-4D7C-B974-37752C72EBB5}"/>
              </a:ext>
            </a:extLst>
          </p:cNvPr>
          <p:cNvSpPr>
            <a:spLocks xmlns:a="http://schemas.openxmlformats.org/drawingml/2006/main" noGrp="1"/>
          </p:cNvSpPr>
          <p:nvPr/>
        </p:nvSpPr>
        <p:spPr>
          <a:xfrm xmlns:a="http://schemas.openxmlformats.org/drawingml/2006/main">
            <a:off x="822960" y="5692140"/>
            <a:ext cx="10767080"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4000"/>
              </a:lnSpc>
              <a:buNone/>
            </a:pPr>
            <a:r>
              <a:rPr sz="1050">
                <a:solidFill>
                  <a:srgbClr val="1B1F2A"/>
                </a:solidFill>
                <a:latin typeface="Calibri"/>
                <a:ea typeface="Calibri"/>
                <a:cs typeface="Calibri"/>
              </a:rPr>
              <a:t>Main comparisons reuse grouped folds. A separate RF experiment compares ordinary and grouped five-fold splits using the same feature and model settings.</a:t>
            </a:r>
          </a:p>
        </p:txBody>
      </p:sp>
      <p:sp>
        <p:nvSpPr>
          <p:cNvPr id="21" name="Text 21">
            <a:extLst xmlns:a="http://schemas.openxmlformats.org/drawingml/2006/main">
              <a:ext uri="{FF2B5EF4-FFF2-40B4-BE49-F238E27FC236}">
                <a16:creationId xmlns:a16="http://schemas.microsoft.com/office/drawing/2014/main" id="{61103832-A116-4B11-86C8-C056B6E3886A}"/>
              </a:ext>
            </a:extLst>
          </p:cNvPr>
          <p:cNvSpPr>
            <a:spLocks xmlns:a="http://schemas.openxmlformats.org/drawingml/2006/main" noGrp="1"/>
          </p:cNvSpPr>
          <p:nvPr/>
        </p:nvSpPr>
        <p:spPr>
          <a:xfrm xmlns:a="http://schemas.openxmlformats.org/drawingml/2006/main">
            <a:off x="11521440" y="6446520"/>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5B6472"/>
                </a:solidFill>
                <a:latin typeface="Calibri"/>
                <a:ea typeface="Calibri"/>
                <a:cs typeface="Calibri"/>
              </a:rPr>
              <a:t>4</a:t>
            </a:r>
          </a:p>
        </p:txBody>
      </p:sp>
    </p:spTree>
    <p:extLst>
      <p:ext uri="{BB962C8B-B14F-4D97-AF65-F5344CB8AC3E}">
        <p14:creationId xmlns:p14="http://schemas.microsoft.com/office/powerpoint/2010/main" val="88639570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2">
            <a:extLst xmlns:a="http://schemas.openxmlformats.org/drawingml/2006/main">
              <a:ext uri="{FF2B5EF4-FFF2-40B4-BE49-F238E27FC236}">
                <a16:creationId xmlns:a16="http://schemas.microsoft.com/office/drawing/2014/main" id="{4C77725D-CEE3-4826-9899-AED9FBF20C51}"/>
              </a:ext>
            </a:extLst>
          </p:cNvPr>
          <p:cNvSpPr>
            <a:spLocks xmlns:a="http://schemas.openxmlformats.org/drawingml/2006/main" noGrp="1"/>
          </p:cNvSpPr>
          <p:nvPr/>
        </p:nvSpPr>
        <p:spPr>
          <a:xfrm xmlns:a="http://schemas.openxmlformats.org/drawingml/2006/main">
            <a:off x="548640" y="365760"/>
            <a:ext cx="105156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spc="200">
                <a:solidFill>
                  <a:srgbClr val="1E2761"/>
                </a:solidFill>
                <a:latin typeface="Calibri"/>
                <a:ea typeface="Calibri"/>
                <a:cs typeface="Calibri"/>
              </a:rPr>
              <a:t>3. EXPERIMENTAL CORE DETAILS</a:t>
            </a:r>
          </a:p>
        </p:txBody>
      </p:sp>
      <p:sp>
        <p:nvSpPr>
          <p:cNvPr id="3" name="Text 3">
            <a:extLst xmlns:a="http://schemas.openxmlformats.org/drawingml/2006/main">
              <a:ext uri="{FF2B5EF4-FFF2-40B4-BE49-F238E27FC236}">
                <a16:creationId xmlns:a16="http://schemas.microsoft.com/office/drawing/2014/main" id="{74CC5AC3-7560-4DB0-BFF8-13F26C321414}"/>
              </a:ext>
            </a:extLst>
          </p:cNvPr>
          <p:cNvSpPr>
            <a:spLocks xmlns:a="http://schemas.openxmlformats.org/drawingml/2006/main" noGrp="1"/>
          </p:cNvSpPr>
          <p:nvPr/>
        </p:nvSpPr>
        <p:spPr>
          <a:xfrm xmlns:a="http://schemas.openxmlformats.org/drawingml/2006/main">
            <a:off x="548640" y="685800"/>
            <a:ext cx="1131560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200" b="1">
                <a:solidFill>
                  <a:srgbClr val="1B1F2A"/>
                </a:solidFill>
                <a:latin typeface="Cambria"/>
                <a:ea typeface="Cambria"/>
                <a:cs typeface="Cambria"/>
              </a:rPr>
              <a:t>Exactly what ran, on the corrected pipeline</a:t>
            </a:r>
          </a:p>
        </p:txBody>
      </p:sp>
      <p:sp>
        <p:nvSpPr>
          <p:cNvPr id="4" name="Text 4">
            <a:extLst xmlns:a="http://schemas.openxmlformats.org/drawingml/2006/main">
              <a:ext uri="{FF2B5EF4-FFF2-40B4-BE49-F238E27FC236}">
                <a16:creationId xmlns:a16="http://schemas.microsoft.com/office/drawing/2014/main" id="{751B7B32-8AAC-478F-979F-C89B915C7C8C}"/>
              </a:ext>
            </a:extLst>
          </p:cNvPr>
          <p:cNvSpPr>
            <a:spLocks xmlns:a="http://schemas.openxmlformats.org/drawingml/2006/main" noGrp="1"/>
          </p:cNvSpPr>
          <p:nvPr/>
        </p:nvSpPr>
        <p:spPr>
          <a:xfrm xmlns:a="http://schemas.openxmlformats.org/drawingml/2006/main">
            <a:off x="548640" y="1600200"/>
            <a:ext cx="235000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1E2761"/>
                </a:solidFill>
                <a:latin typeface="Calibri"/>
                <a:ea typeface="Calibri"/>
                <a:cs typeface="Calibri"/>
              </a:rPr>
              <a:t>Total samples</a:t>
            </a:r>
          </a:p>
        </p:txBody>
      </p:sp>
      <p:sp>
        <p:nvSpPr>
          <p:cNvPr id="5" name="Text 5">
            <a:extLst xmlns:a="http://schemas.openxmlformats.org/drawingml/2006/main">
              <a:ext uri="{FF2B5EF4-FFF2-40B4-BE49-F238E27FC236}">
                <a16:creationId xmlns:a16="http://schemas.microsoft.com/office/drawing/2014/main" id="{CF4108E8-005F-4DA0-914E-3134D0EC53B8}"/>
              </a:ext>
            </a:extLst>
          </p:cNvPr>
          <p:cNvSpPr>
            <a:spLocks xmlns:a="http://schemas.openxmlformats.org/drawingml/2006/main" noGrp="1"/>
          </p:cNvSpPr>
          <p:nvPr/>
        </p:nvSpPr>
        <p:spPr>
          <a:xfrm xmlns:a="http://schemas.openxmlformats.org/drawingml/2006/main">
            <a:off x="2948640" y="1600200"/>
            <a:ext cx="455000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a:solidFill>
                  <a:srgbClr val="1B1F2A"/>
                </a:solidFill>
                <a:latin typeface="Calibri"/>
                <a:ea typeface="Calibri"/>
                <a:cs typeface="Calibri"/>
              </a:rPr>
              <a:t>7,107 (verified against expected per-class counts)</a:t>
            </a:r>
          </a:p>
        </p:txBody>
      </p:sp>
      <p:sp>
        <p:nvSpPr>
          <p:cNvPr id="6" name="Rect 6">
            <a:extLst xmlns:a="http://schemas.openxmlformats.org/drawingml/2006/main">
              <a:ext uri="{FF2B5EF4-FFF2-40B4-BE49-F238E27FC236}">
                <a16:creationId xmlns:a16="http://schemas.microsoft.com/office/drawing/2014/main" id="{5357A984-6232-45B4-B69E-34E97207237D}"/>
              </a:ext>
            </a:extLst>
          </p:cNvPr>
          <p:cNvSpPr>
            <a:spLocks xmlns:a="http://schemas.openxmlformats.org/drawingml/2006/main" noGrp="1"/>
          </p:cNvSpPr>
          <p:nvPr/>
        </p:nvSpPr>
        <p:spPr>
          <a:xfrm xmlns:a="http://schemas.openxmlformats.org/drawingml/2006/main">
            <a:off x="548640" y="1965960"/>
            <a:ext cx="6950000" cy="12700"/>
          </a:xfrm>
          <a:prstGeom xmlns:a="http://schemas.openxmlformats.org/drawingml/2006/main" prst="rect">
            <a:avLst/>
          </a:prstGeom>
          <a:solidFill xmlns:a="http://schemas.openxmlformats.org/drawingml/2006/main">
            <a:srgbClr val="E2E6F0"/>
          </a:solidFill>
        </p:spPr>
        <p:txBody>
          <a:bodyPr xmlns:a="http://schemas.openxmlformats.org/drawingml/2006/main"/>
          <a:lstStyle xmlns:a="http://schemas.openxmlformats.org/drawingml/2006/main"/>
          <a:p xmlns:a="http://schemas.openxmlformats.org/drawingml/2006/main">
            <a:endParaRPr/>
          </a:p>
        </p:txBody>
      </p:sp>
      <p:sp>
        <p:nvSpPr>
          <p:cNvPr id="7" name="Text 7">
            <a:extLst xmlns:a="http://schemas.openxmlformats.org/drawingml/2006/main">
              <a:ext uri="{FF2B5EF4-FFF2-40B4-BE49-F238E27FC236}">
                <a16:creationId xmlns:a16="http://schemas.microsoft.com/office/drawing/2014/main" id="{5DDCB241-955C-4B4E-A3F3-1B3A9731E604}"/>
              </a:ext>
            </a:extLst>
          </p:cNvPr>
          <p:cNvSpPr>
            <a:spLocks xmlns:a="http://schemas.openxmlformats.org/drawingml/2006/main" noGrp="1"/>
          </p:cNvSpPr>
          <p:nvPr/>
        </p:nvSpPr>
        <p:spPr>
          <a:xfrm xmlns:a="http://schemas.openxmlformats.org/drawingml/2006/main">
            <a:off x="548640" y="2011680"/>
            <a:ext cx="235000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1E2761"/>
                </a:solidFill>
                <a:latin typeface="Calibri"/>
                <a:ea typeface="Calibri"/>
                <a:cs typeface="Calibri"/>
              </a:rPr>
              <a:t>Classes</a:t>
            </a:r>
          </a:p>
        </p:txBody>
      </p:sp>
      <p:sp>
        <p:nvSpPr>
          <p:cNvPr id="8" name="Text 8">
            <a:extLst xmlns:a="http://schemas.openxmlformats.org/drawingml/2006/main">
              <a:ext uri="{FF2B5EF4-FFF2-40B4-BE49-F238E27FC236}">
                <a16:creationId xmlns:a16="http://schemas.microsoft.com/office/drawing/2014/main" id="{107AF849-4581-4FD6-A6B5-4FFFF94B2B08}"/>
              </a:ext>
            </a:extLst>
          </p:cNvPr>
          <p:cNvSpPr>
            <a:spLocks xmlns:a="http://schemas.openxmlformats.org/drawingml/2006/main" noGrp="1"/>
          </p:cNvSpPr>
          <p:nvPr/>
        </p:nvSpPr>
        <p:spPr>
          <a:xfrm xmlns:a="http://schemas.openxmlformats.org/drawingml/2006/main">
            <a:off x="2948640" y="2011680"/>
            <a:ext cx="455000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a:solidFill>
                  <a:srgbClr val="1B1F2A"/>
                </a:solidFill>
                <a:latin typeface="Calibri"/>
                <a:ea typeface="Calibri"/>
                <a:cs typeface="Calibri"/>
              </a:rPr>
              <a:t>8 supplied malware categories</a:t>
            </a:r>
          </a:p>
        </p:txBody>
      </p:sp>
      <p:sp>
        <p:nvSpPr>
          <p:cNvPr id="9" name="Rect 9">
            <a:extLst xmlns:a="http://schemas.openxmlformats.org/drawingml/2006/main">
              <a:ext uri="{FF2B5EF4-FFF2-40B4-BE49-F238E27FC236}">
                <a16:creationId xmlns:a16="http://schemas.microsoft.com/office/drawing/2014/main" id="{7452EA55-6406-4802-B90C-1EEAA64A29B0}"/>
              </a:ext>
            </a:extLst>
          </p:cNvPr>
          <p:cNvSpPr>
            <a:spLocks xmlns:a="http://schemas.openxmlformats.org/drawingml/2006/main" noGrp="1"/>
          </p:cNvSpPr>
          <p:nvPr/>
        </p:nvSpPr>
        <p:spPr>
          <a:xfrm xmlns:a="http://schemas.openxmlformats.org/drawingml/2006/main">
            <a:off x="548640" y="2377440"/>
            <a:ext cx="6950000" cy="12700"/>
          </a:xfrm>
          <a:prstGeom xmlns:a="http://schemas.openxmlformats.org/drawingml/2006/main" prst="rect">
            <a:avLst/>
          </a:prstGeom>
          <a:solidFill xmlns:a="http://schemas.openxmlformats.org/drawingml/2006/main">
            <a:srgbClr val="E2E6F0"/>
          </a:solidFill>
        </p:spPr>
        <p:txBody>
          <a:bodyPr xmlns:a="http://schemas.openxmlformats.org/drawingml/2006/main"/>
          <a:lstStyle xmlns:a="http://schemas.openxmlformats.org/drawingml/2006/main"/>
          <a:p xmlns:a="http://schemas.openxmlformats.org/drawingml/2006/main">
            <a:endParaRPr/>
          </a:p>
        </p:txBody>
      </p:sp>
      <p:sp>
        <p:nvSpPr>
          <p:cNvPr id="10" name="Text 10">
            <a:extLst xmlns:a="http://schemas.openxmlformats.org/drawingml/2006/main">
              <a:ext uri="{FF2B5EF4-FFF2-40B4-BE49-F238E27FC236}">
                <a16:creationId xmlns:a16="http://schemas.microsoft.com/office/drawing/2014/main" id="{107889D8-07E7-43D4-8975-CE2CE1A97123}"/>
              </a:ext>
            </a:extLst>
          </p:cNvPr>
          <p:cNvSpPr>
            <a:spLocks xmlns:a="http://schemas.openxmlformats.org/drawingml/2006/main" noGrp="1"/>
          </p:cNvSpPr>
          <p:nvPr/>
        </p:nvSpPr>
        <p:spPr>
          <a:xfrm xmlns:a="http://schemas.openxmlformats.org/drawingml/2006/main">
            <a:off x="548640" y="2423160"/>
            <a:ext cx="235000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1E2761"/>
                </a:solidFill>
                <a:latin typeface="Calibri"/>
                <a:ea typeface="Calibri"/>
                <a:cs typeface="Calibri"/>
              </a:rPr>
              <a:t>Split</a:t>
            </a:r>
          </a:p>
        </p:txBody>
      </p:sp>
      <p:sp>
        <p:nvSpPr>
          <p:cNvPr id="11" name="Text 11">
            <a:extLst xmlns:a="http://schemas.openxmlformats.org/drawingml/2006/main">
              <a:ext uri="{FF2B5EF4-FFF2-40B4-BE49-F238E27FC236}">
                <a16:creationId xmlns:a16="http://schemas.microsoft.com/office/drawing/2014/main" id="{018B3E6B-4DD4-47DE-B6FA-5120714B1F7C}"/>
              </a:ext>
            </a:extLst>
          </p:cNvPr>
          <p:cNvSpPr>
            <a:spLocks xmlns:a="http://schemas.openxmlformats.org/drawingml/2006/main" noGrp="1"/>
          </p:cNvSpPr>
          <p:nvPr/>
        </p:nvSpPr>
        <p:spPr>
          <a:xfrm xmlns:a="http://schemas.openxmlformats.org/drawingml/2006/main">
            <a:off x="2948640" y="2423160"/>
            <a:ext cx="455000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a:solidFill>
                  <a:srgbClr val="1B1F2A"/>
                </a:solidFill>
                <a:latin typeface="Calibri"/>
                <a:ea typeface="Calibri"/>
                <a:cs typeface="Calibri"/>
              </a:rPr>
              <a:t>5 grouped folds; no identical sequence crosses train/test</a:t>
            </a:r>
          </a:p>
        </p:txBody>
      </p:sp>
      <p:sp>
        <p:nvSpPr>
          <p:cNvPr id="12" name="Rect 12">
            <a:extLst xmlns:a="http://schemas.openxmlformats.org/drawingml/2006/main">
              <a:ext uri="{FF2B5EF4-FFF2-40B4-BE49-F238E27FC236}">
                <a16:creationId xmlns:a16="http://schemas.microsoft.com/office/drawing/2014/main" id="{F148F224-1370-4883-98BE-AECFD42D0140}"/>
              </a:ext>
            </a:extLst>
          </p:cNvPr>
          <p:cNvSpPr>
            <a:spLocks xmlns:a="http://schemas.openxmlformats.org/drawingml/2006/main" noGrp="1"/>
          </p:cNvSpPr>
          <p:nvPr/>
        </p:nvSpPr>
        <p:spPr>
          <a:xfrm xmlns:a="http://schemas.openxmlformats.org/drawingml/2006/main">
            <a:off x="548640" y="2788920"/>
            <a:ext cx="6950000" cy="12700"/>
          </a:xfrm>
          <a:prstGeom xmlns:a="http://schemas.openxmlformats.org/drawingml/2006/main" prst="rect">
            <a:avLst/>
          </a:prstGeom>
          <a:solidFill xmlns:a="http://schemas.openxmlformats.org/drawingml/2006/main">
            <a:srgbClr val="E2E6F0"/>
          </a:solidFill>
        </p:spPr>
        <p:txBody>
          <a:bodyPr xmlns:a="http://schemas.openxmlformats.org/drawingml/2006/main"/>
          <a:lstStyle xmlns:a="http://schemas.openxmlformats.org/drawingml/2006/main"/>
          <a:p xmlns:a="http://schemas.openxmlformats.org/drawingml/2006/main">
            <a:endParaRPr/>
          </a:p>
        </p:txBody>
      </p:sp>
      <p:sp>
        <p:nvSpPr>
          <p:cNvPr id="13" name="Text 13">
            <a:extLst xmlns:a="http://schemas.openxmlformats.org/drawingml/2006/main">
              <a:ext uri="{FF2B5EF4-FFF2-40B4-BE49-F238E27FC236}">
                <a16:creationId xmlns:a16="http://schemas.microsoft.com/office/drawing/2014/main" id="{DF1E8663-F3BD-473F-95F9-C906D8D62C1C}"/>
              </a:ext>
            </a:extLst>
          </p:cNvPr>
          <p:cNvSpPr>
            <a:spLocks xmlns:a="http://schemas.openxmlformats.org/drawingml/2006/main" noGrp="1"/>
          </p:cNvSpPr>
          <p:nvPr/>
        </p:nvSpPr>
        <p:spPr>
          <a:xfrm xmlns:a="http://schemas.openxmlformats.org/drawingml/2006/main">
            <a:off x="548640" y="2834640"/>
            <a:ext cx="235000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1E2761"/>
                </a:solidFill>
                <a:latin typeface="Calibri"/>
                <a:ea typeface="Calibri"/>
                <a:cs typeface="Calibri"/>
              </a:rPr>
              <a:t>Experiments run</a:t>
            </a:r>
          </a:p>
        </p:txBody>
      </p:sp>
      <p:sp>
        <p:nvSpPr>
          <p:cNvPr id="14" name="Text 14">
            <a:extLst xmlns:a="http://schemas.openxmlformats.org/drawingml/2006/main">
              <a:ext uri="{FF2B5EF4-FFF2-40B4-BE49-F238E27FC236}">
                <a16:creationId xmlns:a16="http://schemas.microsoft.com/office/drawing/2014/main" id="{61E6E864-53EB-46F1-87AE-97912827F2F8}"/>
              </a:ext>
            </a:extLst>
          </p:cNvPr>
          <p:cNvSpPr>
            <a:spLocks xmlns:a="http://schemas.openxmlformats.org/drawingml/2006/main" noGrp="1"/>
          </p:cNvSpPr>
          <p:nvPr/>
        </p:nvSpPr>
        <p:spPr>
          <a:xfrm xmlns:a="http://schemas.openxmlformats.org/drawingml/2006/main">
            <a:off x="2948640" y="2834640"/>
            <a:ext cx="455000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a:solidFill>
                  <a:srgbClr val="1B1F2A"/>
                </a:solidFill>
                <a:latin typeface="Calibri"/>
                <a:ea typeface="Calibri"/>
                <a:cs typeface="Calibri"/>
              </a:rPr>
              <a:t>Three grouped configurations × 5 folds; plus ordinary 5-fold RF (weighted 1–3 grams)</a:t>
            </a:r>
          </a:p>
        </p:txBody>
      </p:sp>
      <p:sp>
        <p:nvSpPr>
          <p:cNvPr id="15" name="Rect 15">
            <a:extLst xmlns:a="http://schemas.openxmlformats.org/drawingml/2006/main">
              <a:ext uri="{FF2B5EF4-FFF2-40B4-BE49-F238E27FC236}">
                <a16:creationId xmlns:a16="http://schemas.microsoft.com/office/drawing/2014/main" id="{F51CEE9A-782D-44C3-BAF5-0324CD7B5346}"/>
              </a:ext>
            </a:extLst>
          </p:cNvPr>
          <p:cNvSpPr>
            <a:spLocks xmlns:a="http://schemas.openxmlformats.org/drawingml/2006/main" noGrp="1"/>
          </p:cNvSpPr>
          <p:nvPr/>
        </p:nvSpPr>
        <p:spPr>
          <a:xfrm xmlns:a="http://schemas.openxmlformats.org/drawingml/2006/main">
            <a:off x="548640" y="3200400"/>
            <a:ext cx="6950000" cy="12700"/>
          </a:xfrm>
          <a:prstGeom xmlns:a="http://schemas.openxmlformats.org/drawingml/2006/main" prst="rect">
            <a:avLst/>
          </a:prstGeom>
          <a:solidFill xmlns:a="http://schemas.openxmlformats.org/drawingml/2006/main">
            <a:srgbClr val="E2E6F0"/>
          </a:solidFill>
        </p:spPr>
        <p:txBody>
          <a:bodyPr xmlns:a="http://schemas.openxmlformats.org/drawingml/2006/main"/>
          <a:lstStyle xmlns:a="http://schemas.openxmlformats.org/drawingml/2006/main"/>
          <a:p xmlns:a="http://schemas.openxmlformats.org/drawingml/2006/main">
            <a:endParaRPr/>
          </a:p>
        </p:txBody>
      </p:sp>
      <p:sp>
        <p:nvSpPr>
          <p:cNvPr id="16" name="Text 16">
            <a:extLst xmlns:a="http://schemas.openxmlformats.org/drawingml/2006/main">
              <a:ext uri="{FF2B5EF4-FFF2-40B4-BE49-F238E27FC236}">
                <a16:creationId xmlns:a16="http://schemas.microsoft.com/office/drawing/2014/main" id="{AB6E75AB-E644-402F-AC55-A4C61AFB942B}"/>
              </a:ext>
            </a:extLst>
          </p:cNvPr>
          <p:cNvSpPr>
            <a:spLocks xmlns:a="http://schemas.openxmlformats.org/drawingml/2006/main" noGrp="1"/>
          </p:cNvSpPr>
          <p:nvPr/>
        </p:nvSpPr>
        <p:spPr>
          <a:xfrm xmlns:a="http://schemas.openxmlformats.org/drawingml/2006/main">
            <a:off x="548640" y="3246120"/>
            <a:ext cx="235000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1E2761"/>
                </a:solidFill>
                <a:latin typeface="Calibri"/>
                <a:ea typeface="Calibri"/>
                <a:cs typeface="Calibri"/>
              </a:rPr>
              <a:t>Base classifiers</a:t>
            </a:r>
          </a:p>
        </p:txBody>
      </p:sp>
      <p:sp>
        <p:nvSpPr>
          <p:cNvPr id="17" name="Text 17">
            <a:extLst xmlns:a="http://schemas.openxmlformats.org/drawingml/2006/main">
              <a:ext uri="{FF2B5EF4-FFF2-40B4-BE49-F238E27FC236}">
                <a16:creationId xmlns:a16="http://schemas.microsoft.com/office/drawing/2014/main" id="{D32F2594-AD1B-4319-B0EC-31EDAB55E5B4}"/>
              </a:ext>
            </a:extLst>
          </p:cNvPr>
          <p:cNvSpPr>
            <a:spLocks xmlns:a="http://schemas.openxmlformats.org/drawingml/2006/main" noGrp="1"/>
          </p:cNvSpPr>
          <p:nvPr/>
        </p:nvSpPr>
        <p:spPr>
          <a:xfrm xmlns:a="http://schemas.openxmlformats.org/drawingml/2006/main">
            <a:off x="2948640" y="3246120"/>
            <a:ext cx="455000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a:solidFill>
                  <a:srgbClr val="1B1F2A"/>
                </a:solidFill>
                <a:latin typeface="Calibri"/>
                <a:ea typeface="Calibri"/>
                <a:cs typeface="Calibri"/>
              </a:rPr>
              <a:t>RF: 300 trees; XGBoost: 300 trees, depth 6; SVM: linear, C = 1</a:t>
            </a:r>
          </a:p>
        </p:txBody>
      </p:sp>
      <p:sp>
        <p:nvSpPr>
          <p:cNvPr id="18" name="Rect 18">
            <a:extLst xmlns:a="http://schemas.openxmlformats.org/drawingml/2006/main">
              <a:ext uri="{FF2B5EF4-FFF2-40B4-BE49-F238E27FC236}">
                <a16:creationId xmlns:a16="http://schemas.microsoft.com/office/drawing/2014/main" id="{CFC12922-5D0E-4BC5-B451-595DBA6056C1}"/>
              </a:ext>
            </a:extLst>
          </p:cNvPr>
          <p:cNvSpPr>
            <a:spLocks xmlns:a="http://schemas.openxmlformats.org/drawingml/2006/main" noGrp="1"/>
          </p:cNvSpPr>
          <p:nvPr/>
        </p:nvSpPr>
        <p:spPr>
          <a:xfrm xmlns:a="http://schemas.openxmlformats.org/drawingml/2006/main">
            <a:off x="548640" y="3611880"/>
            <a:ext cx="6950000" cy="12700"/>
          </a:xfrm>
          <a:prstGeom xmlns:a="http://schemas.openxmlformats.org/drawingml/2006/main" prst="rect">
            <a:avLst/>
          </a:prstGeom>
          <a:solidFill xmlns:a="http://schemas.openxmlformats.org/drawingml/2006/main">
            <a:srgbClr val="E2E6F0"/>
          </a:solidFill>
        </p:spPr>
        <p:txBody>
          <a:bodyPr xmlns:a="http://schemas.openxmlformats.org/drawingml/2006/main"/>
          <a:lstStyle xmlns:a="http://schemas.openxmlformats.org/drawingml/2006/main"/>
          <a:p xmlns:a="http://schemas.openxmlformats.org/drawingml/2006/main">
            <a:endParaRPr/>
          </a:p>
        </p:txBody>
      </p:sp>
      <p:sp>
        <p:nvSpPr>
          <p:cNvPr id="19" name="Text 19">
            <a:extLst xmlns:a="http://schemas.openxmlformats.org/drawingml/2006/main">
              <a:ext uri="{FF2B5EF4-FFF2-40B4-BE49-F238E27FC236}">
                <a16:creationId xmlns:a16="http://schemas.microsoft.com/office/drawing/2014/main" id="{C0415135-FBCC-4A17-80F0-9B10617E03BF}"/>
              </a:ext>
            </a:extLst>
          </p:cNvPr>
          <p:cNvSpPr>
            <a:spLocks xmlns:a="http://schemas.openxmlformats.org/drawingml/2006/main" noGrp="1"/>
          </p:cNvSpPr>
          <p:nvPr/>
        </p:nvSpPr>
        <p:spPr>
          <a:xfrm xmlns:a="http://schemas.openxmlformats.org/drawingml/2006/main">
            <a:off x="548640" y="3657600"/>
            <a:ext cx="235000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1E2761"/>
                </a:solidFill>
                <a:latin typeface="Calibri"/>
                <a:ea typeface="Calibri"/>
                <a:cs typeface="Calibri"/>
              </a:rPr>
              <a:t>TF-IDF settings</a:t>
            </a:r>
          </a:p>
        </p:txBody>
      </p:sp>
      <p:sp>
        <p:nvSpPr>
          <p:cNvPr id="20" name="Text 20">
            <a:extLst xmlns:a="http://schemas.openxmlformats.org/drawingml/2006/main">
              <a:ext uri="{FF2B5EF4-FFF2-40B4-BE49-F238E27FC236}">
                <a16:creationId xmlns:a16="http://schemas.microsoft.com/office/drawing/2014/main" id="{92E6F055-3E6E-4322-8B83-79DE78A891B7}"/>
              </a:ext>
            </a:extLst>
          </p:cNvPr>
          <p:cNvSpPr>
            <a:spLocks xmlns:a="http://schemas.openxmlformats.org/drawingml/2006/main" noGrp="1"/>
          </p:cNvSpPr>
          <p:nvPr/>
        </p:nvSpPr>
        <p:spPr>
          <a:xfrm xmlns:a="http://schemas.openxmlformats.org/drawingml/2006/main">
            <a:off x="2948640" y="3657600"/>
            <a:ext cx="455000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a:solidFill>
                  <a:srgbClr val="1B1F2A"/>
                </a:solidFill>
                <a:latin typeface="Calibri"/>
                <a:ea typeface="Calibri"/>
                <a:cs typeface="Calibri"/>
              </a:rPr>
              <a:t>str.split; min_df = 2; max_features = 50,000; fit on training only</a:t>
            </a:r>
          </a:p>
        </p:txBody>
      </p:sp>
      <p:sp>
        <p:nvSpPr>
          <p:cNvPr id="21" name="Rect 21">
            <a:extLst xmlns:a="http://schemas.openxmlformats.org/drawingml/2006/main">
              <a:ext uri="{FF2B5EF4-FFF2-40B4-BE49-F238E27FC236}">
                <a16:creationId xmlns:a16="http://schemas.microsoft.com/office/drawing/2014/main" id="{951983F4-18C5-44B8-A2EE-85E4287F464D}"/>
              </a:ext>
            </a:extLst>
          </p:cNvPr>
          <p:cNvSpPr>
            <a:spLocks xmlns:a="http://schemas.openxmlformats.org/drawingml/2006/main" noGrp="1"/>
          </p:cNvSpPr>
          <p:nvPr/>
        </p:nvSpPr>
        <p:spPr>
          <a:xfrm xmlns:a="http://schemas.openxmlformats.org/drawingml/2006/main">
            <a:off x="548640" y="4023360"/>
            <a:ext cx="6950000" cy="12700"/>
          </a:xfrm>
          <a:prstGeom xmlns:a="http://schemas.openxmlformats.org/drawingml/2006/main" prst="rect">
            <a:avLst/>
          </a:prstGeom>
          <a:solidFill xmlns:a="http://schemas.openxmlformats.org/drawingml/2006/main">
            <a:srgbClr val="E2E6F0"/>
          </a:solidFill>
        </p:spPr>
        <p:txBody>
          <a:bodyPr xmlns:a="http://schemas.openxmlformats.org/drawingml/2006/main"/>
          <a:lstStyle xmlns:a="http://schemas.openxmlformats.org/drawingml/2006/main"/>
          <a:p xmlns:a="http://schemas.openxmlformats.org/drawingml/2006/main">
            <a:endParaRPr/>
          </a:p>
        </p:txBody>
      </p:sp>
      <p:sp>
        <p:nvSpPr>
          <p:cNvPr id="22" name="Text 22">
            <a:extLst xmlns:a="http://schemas.openxmlformats.org/drawingml/2006/main">
              <a:ext uri="{FF2B5EF4-FFF2-40B4-BE49-F238E27FC236}">
                <a16:creationId xmlns:a16="http://schemas.microsoft.com/office/drawing/2014/main" id="{AB2F1247-5F46-40FC-8EC0-EC5A8F01EE07}"/>
              </a:ext>
            </a:extLst>
          </p:cNvPr>
          <p:cNvSpPr>
            <a:spLocks xmlns:a="http://schemas.openxmlformats.org/drawingml/2006/main" noGrp="1"/>
          </p:cNvSpPr>
          <p:nvPr/>
        </p:nvSpPr>
        <p:spPr>
          <a:xfrm xmlns:a="http://schemas.openxmlformats.org/drawingml/2006/main">
            <a:off x="7910120" y="1600200"/>
            <a:ext cx="373324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E2761"/>
                </a:solidFill>
                <a:latin typeface="Cambria"/>
                <a:ea typeface="Cambria"/>
                <a:cs typeface="Cambria"/>
              </a:rPr>
              <a:t>Class Distribution (n = 7,107)</a:t>
            </a:r>
          </a:p>
        </p:txBody>
      </p:sp>
      <p:sp>
        <p:nvSpPr>
          <p:cNvPr id="23" name="Text 23">
            <a:extLst xmlns:a="http://schemas.openxmlformats.org/drawingml/2006/main">
              <a:ext uri="{FF2B5EF4-FFF2-40B4-BE49-F238E27FC236}">
                <a16:creationId xmlns:a16="http://schemas.microsoft.com/office/drawing/2014/main" id="{15C45372-7409-44EB-990F-79A1E1ADDC7A}"/>
              </a:ext>
            </a:extLst>
          </p:cNvPr>
          <p:cNvSpPr>
            <a:spLocks xmlns:a="http://schemas.openxmlformats.org/drawingml/2006/main" noGrp="1"/>
          </p:cNvSpPr>
          <p:nvPr/>
        </p:nvSpPr>
        <p:spPr>
          <a:xfrm xmlns:a="http://schemas.openxmlformats.org/drawingml/2006/main">
            <a:off x="7910120" y="2050000"/>
            <a:ext cx="1300000" cy="2600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1B1F2A"/>
                </a:solidFill>
                <a:latin typeface="Calibri"/>
                <a:ea typeface="Calibri"/>
                <a:cs typeface="Calibri"/>
              </a:rPr>
              <a:t>Backdoor</a:t>
            </a:r>
          </a:p>
        </p:txBody>
      </p:sp>
      <p:sp>
        <p:nvSpPr>
          <p:cNvPr id="24" name="Rect 24">
            <a:extLst xmlns:a="http://schemas.openxmlformats.org/drawingml/2006/main">
              <a:ext uri="{FF2B5EF4-FFF2-40B4-BE49-F238E27FC236}">
                <a16:creationId xmlns:a16="http://schemas.microsoft.com/office/drawing/2014/main" id="{5E61CDF7-39E4-4A93-A0F6-5B6C937E9717}"/>
              </a:ext>
            </a:extLst>
          </p:cNvPr>
          <p:cNvSpPr>
            <a:spLocks xmlns:a="http://schemas.openxmlformats.org/drawingml/2006/main" noGrp="1"/>
          </p:cNvSpPr>
          <p:nvPr/>
        </p:nvSpPr>
        <p:spPr>
          <a:xfrm xmlns:a="http://schemas.openxmlformats.org/drawingml/2006/main">
            <a:off x="9210120" y="2105000"/>
            <a:ext cx="1673240" cy="150000"/>
          </a:xfrm>
          <a:prstGeom xmlns:a="http://schemas.openxmlformats.org/drawingml/2006/main" prst="rect">
            <a:avLst/>
          </a:prstGeom>
          <a:solidFill xmlns:a="http://schemas.openxmlformats.org/drawingml/2006/main">
            <a:srgbClr val="1E2761"/>
          </a:solidFill>
        </p:spPr>
        <p:txBody>
          <a:bodyPr xmlns:a="http://schemas.openxmlformats.org/drawingml/2006/main"/>
          <a:lstStyle xmlns:a="http://schemas.openxmlformats.org/drawingml/2006/main"/>
          <a:p xmlns:a="http://schemas.openxmlformats.org/drawingml/2006/main">
            <a:endParaRPr/>
          </a:p>
        </p:txBody>
      </p:sp>
      <p:sp>
        <p:nvSpPr>
          <p:cNvPr id="25" name="Text 25">
            <a:extLst xmlns:a="http://schemas.openxmlformats.org/drawingml/2006/main">
              <a:ext uri="{FF2B5EF4-FFF2-40B4-BE49-F238E27FC236}">
                <a16:creationId xmlns:a16="http://schemas.microsoft.com/office/drawing/2014/main" id="{21C8F9DD-C4DA-4975-AB2F-D54B637C72CA}"/>
              </a:ext>
            </a:extLst>
          </p:cNvPr>
          <p:cNvSpPr>
            <a:spLocks xmlns:a="http://schemas.openxmlformats.org/drawingml/2006/main" noGrp="1"/>
          </p:cNvSpPr>
          <p:nvPr/>
        </p:nvSpPr>
        <p:spPr>
          <a:xfrm xmlns:a="http://schemas.openxmlformats.org/drawingml/2006/main">
            <a:off x="10938360" y="2050000"/>
            <a:ext cx="650000" cy="2600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b="1">
                <a:solidFill>
                  <a:srgbClr val="1B1F2A"/>
                </a:solidFill>
                <a:latin typeface="Calibri"/>
                <a:ea typeface="Calibri"/>
                <a:cs typeface="Calibri"/>
              </a:rPr>
              <a:t>1001</a:t>
            </a:r>
          </a:p>
        </p:txBody>
      </p:sp>
      <p:sp>
        <p:nvSpPr>
          <p:cNvPr id="26" name="Text 26">
            <a:extLst xmlns:a="http://schemas.openxmlformats.org/drawingml/2006/main">
              <a:ext uri="{FF2B5EF4-FFF2-40B4-BE49-F238E27FC236}">
                <a16:creationId xmlns:a16="http://schemas.microsoft.com/office/drawing/2014/main" id="{EE09F8D0-1957-4FB6-A7DE-F72B9F172F6E}"/>
              </a:ext>
            </a:extLst>
          </p:cNvPr>
          <p:cNvSpPr>
            <a:spLocks xmlns:a="http://schemas.openxmlformats.org/drawingml/2006/main" noGrp="1"/>
          </p:cNvSpPr>
          <p:nvPr/>
        </p:nvSpPr>
        <p:spPr>
          <a:xfrm xmlns:a="http://schemas.openxmlformats.org/drawingml/2006/main">
            <a:off x="7910120" y="2340000"/>
            <a:ext cx="1300000" cy="2600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1B1F2A"/>
                </a:solidFill>
                <a:latin typeface="Calibri"/>
                <a:ea typeface="Calibri"/>
                <a:cs typeface="Calibri"/>
              </a:rPr>
              <a:t>Downloader</a:t>
            </a:r>
          </a:p>
        </p:txBody>
      </p:sp>
      <p:sp>
        <p:nvSpPr>
          <p:cNvPr id="27" name="Rect 27">
            <a:extLst xmlns:a="http://schemas.openxmlformats.org/drawingml/2006/main">
              <a:ext uri="{FF2B5EF4-FFF2-40B4-BE49-F238E27FC236}">
                <a16:creationId xmlns:a16="http://schemas.microsoft.com/office/drawing/2014/main" id="{31964D40-21D5-48F2-9438-286FC68183E8}"/>
              </a:ext>
            </a:extLst>
          </p:cNvPr>
          <p:cNvSpPr>
            <a:spLocks xmlns:a="http://schemas.openxmlformats.org/drawingml/2006/main" noGrp="1"/>
          </p:cNvSpPr>
          <p:nvPr/>
        </p:nvSpPr>
        <p:spPr>
          <a:xfrm xmlns:a="http://schemas.openxmlformats.org/drawingml/2006/main">
            <a:off x="9210120" y="2395000"/>
            <a:ext cx="1673240" cy="150000"/>
          </a:xfrm>
          <a:prstGeom xmlns:a="http://schemas.openxmlformats.org/drawingml/2006/main" prst="rect">
            <a:avLst/>
          </a:prstGeom>
          <a:solidFill xmlns:a="http://schemas.openxmlformats.org/drawingml/2006/main">
            <a:srgbClr val="1E2761"/>
          </a:solidFill>
        </p:spPr>
        <p:txBody>
          <a:bodyPr xmlns:a="http://schemas.openxmlformats.org/drawingml/2006/main"/>
          <a:lstStyle xmlns:a="http://schemas.openxmlformats.org/drawingml/2006/main"/>
          <a:p xmlns:a="http://schemas.openxmlformats.org/drawingml/2006/main">
            <a:endParaRPr/>
          </a:p>
        </p:txBody>
      </p:sp>
      <p:sp>
        <p:nvSpPr>
          <p:cNvPr id="28" name="Text 28">
            <a:extLst xmlns:a="http://schemas.openxmlformats.org/drawingml/2006/main">
              <a:ext uri="{FF2B5EF4-FFF2-40B4-BE49-F238E27FC236}">
                <a16:creationId xmlns:a16="http://schemas.microsoft.com/office/drawing/2014/main" id="{748434AA-101C-43F4-859E-4C6A42D4BD75}"/>
              </a:ext>
            </a:extLst>
          </p:cNvPr>
          <p:cNvSpPr>
            <a:spLocks xmlns:a="http://schemas.openxmlformats.org/drawingml/2006/main" noGrp="1"/>
          </p:cNvSpPr>
          <p:nvPr/>
        </p:nvSpPr>
        <p:spPr>
          <a:xfrm xmlns:a="http://schemas.openxmlformats.org/drawingml/2006/main">
            <a:off x="10938360" y="2340000"/>
            <a:ext cx="650000" cy="2600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b="1">
                <a:solidFill>
                  <a:srgbClr val="1B1F2A"/>
                </a:solidFill>
                <a:latin typeface="Calibri"/>
                <a:ea typeface="Calibri"/>
                <a:cs typeface="Calibri"/>
              </a:rPr>
              <a:t>1001</a:t>
            </a:r>
          </a:p>
        </p:txBody>
      </p:sp>
      <p:sp>
        <p:nvSpPr>
          <p:cNvPr id="29" name="Text 29">
            <a:extLst xmlns:a="http://schemas.openxmlformats.org/drawingml/2006/main">
              <a:ext uri="{FF2B5EF4-FFF2-40B4-BE49-F238E27FC236}">
                <a16:creationId xmlns:a16="http://schemas.microsoft.com/office/drawing/2014/main" id="{E836F8D5-035F-4644-B8BF-BC578D3032EC}"/>
              </a:ext>
            </a:extLst>
          </p:cNvPr>
          <p:cNvSpPr>
            <a:spLocks xmlns:a="http://schemas.openxmlformats.org/drawingml/2006/main" noGrp="1"/>
          </p:cNvSpPr>
          <p:nvPr/>
        </p:nvSpPr>
        <p:spPr>
          <a:xfrm xmlns:a="http://schemas.openxmlformats.org/drawingml/2006/main">
            <a:off x="7910120" y="2630000"/>
            <a:ext cx="1300000" cy="2600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1B1F2A"/>
                </a:solidFill>
                <a:latin typeface="Calibri"/>
                <a:ea typeface="Calibri"/>
                <a:cs typeface="Calibri"/>
              </a:rPr>
              <a:t>Trojan</a:t>
            </a:r>
          </a:p>
        </p:txBody>
      </p:sp>
      <p:sp>
        <p:nvSpPr>
          <p:cNvPr id="30" name="Rect 30">
            <a:extLst xmlns:a="http://schemas.openxmlformats.org/drawingml/2006/main">
              <a:ext uri="{FF2B5EF4-FFF2-40B4-BE49-F238E27FC236}">
                <a16:creationId xmlns:a16="http://schemas.microsoft.com/office/drawing/2014/main" id="{21A0B92F-40D1-4A42-96B0-6406D0AE3EFA}"/>
              </a:ext>
            </a:extLst>
          </p:cNvPr>
          <p:cNvSpPr>
            <a:spLocks xmlns:a="http://schemas.openxmlformats.org/drawingml/2006/main" noGrp="1"/>
          </p:cNvSpPr>
          <p:nvPr/>
        </p:nvSpPr>
        <p:spPr>
          <a:xfrm xmlns:a="http://schemas.openxmlformats.org/drawingml/2006/main">
            <a:off x="9210120" y="2685000"/>
            <a:ext cx="1673240" cy="150000"/>
          </a:xfrm>
          <a:prstGeom xmlns:a="http://schemas.openxmlformats.org/drawingml/2006/main" prst="rect">
            <a:avLst/>
          </a:prstGeom>
          <a:solidFill xmlns:a="http://schemas.openxmlformats.org/drawingml/2006/main">
            <a:srgbClr val="1E2761"/>
          </a:solidFill>
        </p:spPr>
        <p:txBody>
          <a:bodyPr xmlns:a="http://schemas.openxmlformats.org/drawingml/2006/main"/>
          <a:lstStyle xmlns:a="http://schemas.openxmlformats.org/drawingml/2006/main"/>
          <a:p xmlns:a="http://schemas.openxmlformats.org/drawingml/2006/main">
            <a:endParaRPr/>
          </a:p>
        </p:txBody>
      </p:sp>
      <p:sp>
        <p:nvSpPr>
          <p:cNvPr id="31" name="Text 31">
            <a:extLst xmlns:a="http://schemas.openxmlformats.org/drawingml/2006/main">
              <a:ext uri="{FF2B5EF4-FFF2-40B4-BE49-F238E27FC236}">
                <a16:creationId xmlns:a16="http://schemas.microsoft.com/office/drawing/2014/main" id="{E54FD631-A01C-4D9D-9CBE-F0CE5C0706F1}"/>
              </a:ext>
            </a:extLst>
          </p:cNvPr>
          <p:cNvSpPr>
            <a:spLocks xmlns:a="http://schemas.openxmlformats.org/drawingml/2006/main" noGrp="1"/>
          </p:cNvSpPr>
          <p:nvPr/>
        </p:nvSpPr>
        <p:spPr>
          <a:xfrm xmlns:a="http://schemas.openxmlformats.org/drawingml/2006/main">
            <a:off x="10938360" y="2630000"/>
            <a:ext cx="650000" cy="2600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b="1">
                <a:solidFill>
                  <a:srgbClr val="1B1F2A"/>
                </a:solidFill>
                <a:latin typeface="Calibri"/>
                <a:ea typeface="Calibri"/>
                <a:cs typeface="Calibri"/>
              </a:rPr>
              <a:t>1001</a:t>
            </a:r>
          </a:p>
        </p:txBody>
      </p:sp>
      <p:sp>
        <p:nvSpPr>
          <p:cNvPr id="32" name="Text 32">
            <a:extLst xmlns:a="http://schemas.openxmlformats.org/drawingml/2006/main">
              <a:ext uri="{FF2B5EF4-FFF2-40B4-BE49-F238E27FC236}">
                <a16:creationId xmlns:a16="http://schemas.microsoft.com/office/drawing/2014/main" id="{88B0FEAF-0FFB-420A-ABD6-B2206E5AF384}"/>
              </a:ext>
            </a:extLst>
          </p:cNvPr>
          <p:cNvSpPr>
            <a:spLocks xmlns:a="http://schemas.openxmlformats.org/drawingml/2006/main" noGrp="1"/>
          </p:cNvSpPr>
          <p:nvPr/>
        </p:nvSpPr>
        <p:spPr>
          <a:xfrm xmlns:a="http://schemas.openxmlformats.org/drawingml/2006/main">
            <a:off x="7910120" y="2920000"/>
            <a:ext cx="1300000" cy="2600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1B1F2A"/>
                </a:solidFill>
                <a:latin typeface="Calibri"/>
                <a:ea typeface="Calibri"/>
                <a:cs typeface="Calibri"/>
              </a:rPr>
              <a:t>Virus</a:t>
            </a:r>
          </a:p>
        </p:txBody>
      </p:sp>
      <p:sp>
        <p:nvSpPr>
          <p:cNvPr id="33" name="Rect 33">
            <a:extLst xmlns:a="http://schemas.openxmlformats.org/drawingml/2006/main">
              <a:ext uri="{FF2B5EF4-FFF2-40B4-BE49-F238E27FC236}">
                <a16:creationId xmlns:a16="http://schemas.microsoft.com/office/drawing/2014/main" id="{6430BA72-A76D-42CE-9450-1CE9F852B884}"/>
              </a:ext>
            </a:extLst>
          </p:cNvPr>
          <p:cNvSpPr>
            <a:spLocks xmlns:a="http://schemas.openxmlformats.org/drawingml/2006/main" noGrp="1"/>
          </p:cNvSpPr>
          <p:nvPr/>
        </p:nvSpPr>
        <p:spPr>
          <a:xfrm xmlns:a="http://schemas.openxmlformats.org/drawingml/2006/main">
            <a:off x="9210120" y="2975000"/>
            <a:ext cx="1673240" cy="150000"/>
          </a:xfrm>
          <a:prstGeom xmlns:a="http://schemas.openxmlformats.org/drawingml/2006/main" prst="rect">
            <a:avLst/>
          </a:prstGeom>
          <a:solidFill xmlns:a="http://schemas.openxmlformats.org/drawingml/2006/main">
            <a:srgbClr val="1E2761"/>
          </a:solidFill>
        </p:spPr>
        <p:txBody>
          <a:bodyPr xmlns:a="http://schemas.openxmlformats.org/drawingml/2006/main"/>
          <a:lstStyle xmlns:a="http://schemas.openxmlformats.org/drawingml/2006/main"/>
          <a:p xmlns:a="http://schemas.openxmlformats.org/drawingml/2006/main">
            <a:endParaRPr/>
          </a:p>
        </p:txBody>
      </p:sp>
      <p:sp>
        <p:nvSpPr>
          <p:cNvPr id="34" name="Text 34">
            <a:extLst xmlns:a="http://schemas.openxmlformats.org/drawingml/2006/main">
              <a:ext uri="{FF2B5EF4-FFF2-40B4-BE49-F238E27FC236}">
                <a16:creationId xmlns:a16="http://schemas.microsoft.com/office/drawing/2014/main" id="{F18A4115-F749-488F-A537-593CB012CDEB}"/>
              </a:ext>
            </a:extLst>
          </p:cNvPr>
          <p:cNvSpPr>
            <a:spLocks xmlns:a="http://schemas.openxmlformats.org/drawingml/2006/main" noGrp="1"/>
          </p:cNvSpPr>
          <p:nvPr/>
        </p:nvSpPr>
        <p:spPr>
          <a:xfrm xmlns:a="http://schemas.openxmlformats.org/drawingml/2006/main">
            <a:off x="10938360" y="2920000"/>
            <a:ext cx="650000" cy="2600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b="1">
                <a:solidFill>
                  <a:srgbClr val="1B1F2A"/>
                </a:solidFill>
                <a:latin typeface="Calibri"/>
                <a:ea typeface="Calibri"/>
                <a:cs typeface="Calibri"/>
              </a:rPr>
              <a:t>1001</a:t>
            </a:r>
          </a:p>
        </p:txBody>
      </p:sp>
      <p:sp>
        <p:nvSpPr>
          <p:cNvPr id="35" name="Text 35">
            <a:extLst xmlns:a="http://schemas.openxmlformats.org/drawingml/2006/main">
              <a:ext uri="{FF2B5EF4-FFF2-40B4-BE49-F238E27FC236}">
                <a16:creationId xmlns:a16="http://schemas.microsoft.com/office/drawing/2014/main" id="{7F9CF6E3-D392-4C3F-A9BF-3B0BB25A4B96}"/>
              </a:ext>
            </a:extLst>
          </p:cNvPr>
          <p:cNvSpPr>
            <a:spLocks xmlns:a="http://schemas.openxmlformats.org/drawingml/2006/main" noGrp="1"/>
          </p:cNvSpPr>
          <p:nvPr/>
        </p:nvSpPr>
        <p:spPr>
          <a:xfrm xmlns:a="http://schemas.openxmlformats.org/drawingml/2006/main">
            <a:off x="7910120" y="3210000"/>
            <a:ext cx="1300000" cy="2600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1B1F2A"/>
                </a:solidFill>
                <a:latin typeface="Calibri"/>
                <a:ea typeface="Calibri"/>
                <a:cs typeface="Calibri"/>
              </a:rPr>
              <a:t>Worms</a:t>
            </a:r>
          </a:p>
        </p:txBody>
      </p:sp>
      <p:sp>
        <p:nvSpPr>
          <p:cNvPr id="36" name="Rect 36">
            <a:extLst xmlns:a="http://schemas.openxmlformats.org/drawingml/2006/main">
              <a:ext uri="{FF2B5EF4-FFF2-40B4-BE49-F238E27FC236}">
                <a16:creationId xmlns:a16="http://schemas.microsoft.com/office/drawing/2014/main" id="{E5EEE0DD-6131-493B-A859-AB0046AE710C}"/>
              </a:ext>
            </a:extLst>
          </p:cNvPr>
          <p:cNvSpPr>
            <a:spLocks xmlns:a="http://schemas.openxmlformats.org/drawingml/2006/main" noGrp="1"/>
          </p:cNvSpPr>
          <p:nvPr/>
        </p:nvSpPr>
        <p:spPr>
          <a:xfrm xmlns:a="http://schemas.openxmlformats.org/drawingml/2006/main">
            <a:off x="9210120" y="3265000"/>
            <a:ext cx="1673240" cy="150000"/>
          </a:xfrm>
          <a:prstGeom xmlns:a="http://schemas.openxmlformats.org/drawingml/2006/main" prst="rect">
            <a:avLst/>
          </a:prstGeom>
          <a:solidFill xmlns:a="http://schemas.openxmlformats.org/drawingml/2006/main">
            <a:srgbClr val="1E2761"/>
          </a:solidFill>
        </p:spPr>
        <p:txBody>
          <a:bodyPr xmlns:a="http://schemas.openxmlformats.org/drawingml/2006/main"/>
          <a:lstStyle xmlns:a="http://schemas.openxmlformats.org/drawingml/2006/main"/>
          <a:p xmlns:a="http://schemas.openxmlformats.org/drawingml/2006/main">
            <a:endParaRPr/>
          </a:p>
        </p:txBody>
      </p:sp>
      <p:sp>
        <p:nvSpPr>
          <p:cNvPr id="37" name="Text 37">
            <a:extLst xmlns:a="http://schemas.openxmlformats.org/drawingml/2006/main">
              <a:ext uri="{FF2B5EF4-FFF2-40B4-BE49-F238E27FC236}">
                <a16:creationId xmlns:a16="http://schemas.microsoft.com/office/drawing/2014/main" id="{0685423C-EDBC-4471-8771-5EF4B328F0D8}"/>
              </a:ext>
            </a:extLst>
          </p:cNvPr>
          <p:cNvSpPr>
            <a:spLocks xmlns:a="http://schemas.openxmlformats.org/drawingml/2006/main" noGrp="1"/>
          </p:cNvSpPr>
          <p:nvPr/>
        </p:nvSpPr>
        <p:spPr>
          <a:xfrm xmlns:a="http://schemas.openxmlformats.org/drawingml/2006/main">
            <a:off x="10938360" y="3210000"/>
            <a:ext cx="650000" cy="2600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b="1">
                <a:solidFill>
                  <a:srgbClr val="1B1F2A"/>
                </a:solidFill>
                <a:latin typeface="Calibri"/>
                <a:ea typeface="Calibri"/>
                <a:cs typeface="Calibri"/>
              </a:rPr>
              <a:t>1001</a:t>
            </a:r>
          </a:p>
        </p:txBody>
      </p:sp>
      <p:sp>
        <p:nvSpPr>
          <p:cNvPr id="38" name="Text 38">
            <a:extLst xmlns:a="http://schemas.openxmlformats.org/drawingml/2006/main">
              <a:ext uri="{FF2B5EF4-FFF2-40B4-BE49-F238E27FC236}">
                <a16:creationId xmlns:a16="http://schemas.microsoft.com/office/drawing/2014/main" id="{613BE98F-E953-4DDB-826F-0CEB13326FFA}"/>
              </a:ext>
            </a:extLst>
          </p:cNvPr>
          <p:cNvSpPr>
            <a:spLocks xmlns:a="http://schemas.openxmlformats.org/drawingml/2006/main" noGrp="1"/>
          </p:cNvSpPr>
          <p:nvPr/>
        </p:nvSpPr>
        <p:spPr>
          <a:xfrm xmlns:a="http://schemas.openxmlformats.org/drawingml/2006/main">
            <a:off x="7910120" y="3500000"/>
            <a:ext cx="1300000" cy="2600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1B1F2A"/>
                </a:solidFill>
                <a:latin typeface="Calibri"/>
                <a:ea typeface="Calibri"/>
                <a:cs typeface="Calibri"/>
              </a:rPr>
              <a:t>Dropper</a:t>
            </a:r>
          </a:p>
        </p:txBody>
      </p:sp>
      <p:sp>
        <p:nvSpPr>
          <p:cNvPr id="39" name="Rect 39">
            <a:extLst xmlns:a="http://schemas.openxmlformats.org/drawingml/2006/main">
              <a:ext uri="{FF2B5EF4-FFF2-40B4-BE49-F238E27FC236}">
                <a16:creationId xmlns:a16="http://schemas.microsoft.com/office/drawing/2014/main" id="{732561E4-C2E6-4305-A5BF-F041C4A2B0C5}"/>
              </a:ext>
            </a:extLst>
          </p:cNvPr>
          <p:cNvSpPr>
            <a:spLocks xmlns:a="http://schemas.openxmlformats.org/drawingml/2006/main" noGrp="1"/>
          </p:cNvSpPr>
          <p:nvPr/>
        </p:nvSpPr>
        <p:spPr>
          <a:xfrm xmlns:a="http://schemas.openxmlformats.org/drawingml/2006/main">
            <a:off x="9210120" y="3555000"/>
            <a:ext cx="1489367" cy="150000"/>
          </a:xfrm>
          <a:prstGeom xmlns:a="http://schemas.openxmlformats.org/drawingml/2006/main" prst="rect">
            <a:avLst/>
          </a:prstGeom>
          <a:solidFill xmlns:a="http://schemas.openxmlformats.org/drawingml/2006/main">
            <a:srgbClr val="8AA0D6"/>
          </a:solidFill>
        </p:spPr>
        <p:txBody>
          <a:bodyPr xmlns:a="http://schemas.openxmlformats.org/drawingml/2006/main"/>
          <a:lstStyle xmlns:a="http://schemas.openxmlformats.org/drawingml/2006/main"/>
          <a:p xmlns:a="http://schemas.openxmlformats.org/drawingml/2006/main">
            <a:endParaRPr/>
          </a:p>
        </p:txBody>
      </p:sp>
      <p:sp>
        <p:nvSpPr>
          <p:cNvPr id="40" name="Text 40">
            <a:extLst xmlns:a="http://schemas.openxmlformats.org/drawingml/2006/main">
              <a:ext uri="{FF2B5EF4-FFF2-40B4-BE49-F238E27FC236}">
                <a16:creationId xmlns:a16="http://schemas.microsoft.com/office/drawing/2014/main" id="{FA234482-ABF5-4289-8DDA-A77AD9660281}"/>
              </a:ext>
            </a:extLst>
          </p:cNvPr>
          <p:cNvSpPr>
            <a:spLocks xmlns:a="http://schemas.openxmlformats.org/drawingml/2006/main" noGrp="1"/>
          </p:cNvSpPr>
          <p:nvPr/>
        </p:nvSpPr>
        <p:spPr>
          <a:xfrm xmlns:a="http://schemas.openxmlformats.org/drawingml/2006/main">
            <a:off x="10754487" y="3500000"/>
            <a:ext cx="650000" cy="2600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b="1">
                <a:solidFill>
                  <a:srgbClr val="1B1F2A"/>
                </a:solidFill>
                <a:latin typeface="Calibri"/>
                <a:ea typeface="Calibri"/>
                <a:cs typeface="Calibri"/>
              </a:rPr>
              <a:t>891</a:t>
            </a:r>
          </a:p>
        </p:txBody>
      </p:sp>
      <p:sp>
        <p:nvSpPr>
          <p:cNvPr id="41" name="Text 41">
            <a:extLst xmlns:a="http://schemas.openxmlformats.org/drawingml/2006/main">
              <a:ext uri="{FF2B5EF4-FFF2-40B4-BE49-F238E27FC236}">
                <a16:creationId xmlns:a16="http://schemas.microsoft.com/office/drawing/2014/main" id="{9887B064-2A2D-480E-BF6F-CE0C3E1167B9}"/>
              </a:ext>
            </a:extLst>
          </p:cNvPr>
          <p:cNvSpPr>
            <a:spLocks xmlns:a="http://schemas.openxmlformats.org/drawingml/2006/main" noGrp="1"/>
          </p:cNvSpPr>
          <p:nvPr/>
        </p:nvSpPr>
        <p:spPr>
          <a:xfrm xmlns:a="http://schemas.openxmlformats.org/drawingml/2006/main">
            <a:off x="7910120" y="3790000"/>
            <a:ext cx="1300000" cy="2600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1B1F2A"/>
                </a:solidFill>
                <a:latin typeface="Calibri"/>
                <a:ea typeface="Calibri"/>
                <a:cs typeface="Calibri"/>
              </a:rPr>
              <a:t>Spyware</a:t>
            </a:r>
          </a:p>
        </p:txBody>
      </p:sp>
      <p:sp>
        <p:nvSpPr>
          <p:cNvPr id="42" name="Rect 42">
            <a:extLst xmlns:a="http://schemas.openxmlformats.org/drawingml/2006/main">
              <a:ext uri="{FF2B5EF4-FFF2-40B4-BE49-F238E27FC236}">
                <a16:creationId xmlns:a16="http://schemas.microsoft.com/office/drawing/2014/main" id="{8435E30D-D575-4BDE-891D-E630AFF2819A}"/>
              </a:ext>
            </a:extLst>
          </p:cNvPr>
          <p:cNvSpPr>
            <a:spLocks xmlns:a="http://schemas.openxmlformats.org/drawingml/2006/main" noGrp="1"/>
          </p:cNvSpPr>
          <p:nvPr/>
        </p:nvSpPr>
        <p:spPr>
          <a:xfrm xmlns:a="http://schemas.openxmlformats.org/drawingml/2006/main">
            <a:off x="9210120" y="3845000"/>
            <a:ext cx="1390744" cy="150000"/>
          </a:xfrm>
          <a:prstGeom xmlns:a="http://schemas.openxmlformats.org/drawingml/2006/main" prst="rect">
            <a:avLst/>
          </a:prstGeom>
          <a:solidFill xmlns:a="http://schemas.openxmlformats.org/drawingml/2006/main">
            <a:srgbClr val="8AA0D6"/>
          </a:solidFill>
        </p:spPr>
        <p:txBody>
          <a:bodyPr xmlns:a="http://schemas.openxmlformats.org/drawingml/2006/main"/>
          <a:lstStyle xmlns:a="http://schemas.openxmlformats.org/drawingml/2006/main"/>
          <a:p xmlns:a="http://schemas.openxmlformats.org/drawingml/2006/main">
            <a:endParaRPr/>
          </a:p>
        </p:txBody>
      </p:sp>
      <p:sp>
        <p:nvSpPr>
          <p:cNvPr id="43" name="Text 43">
            <a:extLst xmlns:a="http://schemas.openxmlformats.org/drawingml/2006/main">
              <a:ext uri="{FF2B5EF4-FFF2-40B4-BE49-F238E27FC236}">
                <a16:creationId xmlns:a16="http://schemas.microsoft.com/office/drawing/2014/main" id="{8F9353B1-B87A-4F1A-B3EB-7608C160E5DF}"/>
              </a:ext>
            </a:extLst>
          </p:cNvPr>
          <p:cNvSpPr>
            <a:spLocks xmlns:a="http://schemas.openxmlformats.org/drawingml/2006/main" noGrp="1"/>
          </p:cNvSpPr>
          <p:nvPr/>
        </p:nvSpPr>
        <p:spPr>
          <a:xfrm xmlns:a="http://schemas.openxmlformats.org/drawingml/2006/main">
            <a:off x="10655864" y="3790000"/>
            <a:ext cx="650000" cy="2600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b="1">
                <a:solidFill>
                  <a:srgbClr val="1B1F2A"/>
                </a:solidFill>
                <a:latin typeface="Calibri"/>
                <a:ea typeface="Calibri"/>
                <a:cs typeface="Calibri"/>
              </a:rPr>
              <a:t>832</a:t>
            </a:r>
          </a:p>
        </p:txBody>
      </p:sp>
      <p:sp>
        <p:nvSpPr>
          <p:cNvPr id="44" name="Text 44">
            <a:extLst xmlns:a="http://schemas.openxmlformats.org/drawingml/2006/main">
              <a:ext uri="{FF2B5EF4-FFF2-40B4-BE49-F238E27FC236}">
                <a16:creationId xmlns:a16="http://schemas.microsoft.com/office/drawing/2014/main" id="{F2BAC679-9F1C-4E93-96FF-0522D68DB8FB}"/>
              </a:ext>
            </a:extLst>
          </p:cNvPr>
          <p:cNvSpPr>
            <a:spLocks xmlns:a="http://schemas.openxmlformats.org/drawingml/2006/main" noGrp="1"/>
          </p:cNvSpPr>
          <p:nvPr/>
        </p:nvSpPr>
        <p:spPr>
          <a:xfrm xmlns:a="http://schemas.openxmlformats.org/drawingml/2006/main">
            <a:off x="7910120" y="4080000"/>
            <a:ext cx="1300000" cy="2600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1B1F2A"/>
                </a:solidFill>
                <a:latin typeface="Calibri"/>
                <a:ea typeface="Calibri"/>
                <a:cs typeface="Calibri"/>
              </a:rPr>
              <a:t>Adware</a:t>
            </a:r>
          </a:p>
        </p:txBody>
      </p:sp>
      <p:sp>
        <p:nvSpPr>
          <p:cNvPr id="45" name="Rect 45">
            <a:extLst xmlns:a="http://schemas.openxmlformats.org/drawingml/2006/main">
              <a:ext uri="{FF2B5EF4-FFF2-40B4-BE49-F238E27FC236}">
                <a16:creationId xmlns:a16="http://schemas.microsoft.com/office/drawing/2014/main" id="{862FB182-7E2D-4673-99E1-F485BBFAB1F2}"/>
              </a:ext>
            </a:extLst>
          </p:cNvPr>
          <p:cNvSpPr>
            <a:spLocks xmlns:a="http://schemas.openxmlformats.org/drawingml/2006/main" noGrp="1"/>
          </p:cNvSpPr>
          <p:nvPr/>
        </p:nvSpPr>
        <p:spPr>
          <a:xfrm xmlns:a="http://schemas.openxmlformats.org/drawingml/2006/main">
            <a:off x="9210120" y="4135000"/>
            <a:ext cx="633524" cy="150000"/>
          </a:xfrm>
          <a:prstGeom xmlns:a="http://schemas.openxmlformats.org/drawingml/2006/main" prst="rect">
            <a:avLst/>
          </a:prstGeom>
          <a:solidFill xmlns:a="http://schemas.openxmlformats.org/drawingml/2006/main">
            <a:srgbClr val="8AA0D6"/>
          </a:solidFill>
        </p:spPr>
        <p:txBody>
          <a:bodyPr xmlns:a="http://schemas.openxmlformats.org/drawingml/2006/main"/>
          <a:lstStyle xmlns:a="http://schemas.openxmlformats.org/drawingml/2006/main"/>
          <a:p xmlns:a="http://schemas.openxmlformats.org/drawingml/2006/main">
            <a:endParaRPr/>
          </a:p>
        </p:txBody>
      </p:sp>
      <p:sp>
        <p:nvSpPr>
          <p:cNvPr id="46" name="Text 46">
            <a:extLst xmlns:a="http://schemas.openxmlformats.org/drawingml/2006/main">
              <a:ext uri="{FF2B5EF4-FFF2-40B4-BE49-F238E27FC236}">
                <a16:creationId xmlns:a16="http://schemas.microsoft.com/office/drawing/2014/main" id="{05E0DDBB-22B6-4A85-8008-CEDDEAA6EA36}"/>
              </a:ext>
            </a:extLst>
          </p:cNvPr>
          <p:cNvSpPr>
            <a:spLocks xmlns:a="http://schemas.openxmlformats.org/drawingml/2006/main" noGrp="1"/>
          </p:cNvSpPr>
          <p:nvPr/>
        </p:nvSpPr>
        <p:spPr>
          <a:xfrm xmlns:a="http://schemas.openxmlformats.org/drawingml/2006/main">
            <a:off x="9898644" y="4080000"/>
            <a:ext cx="650000" cy="2600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b="1">
                <a:solidFill>
                  <a:srgbClr val="1B1F2A"/>
                </a:solidFill>
                <a:latin typeface="Calibri"/>
                <a:ea typeface="Calibri"/>
                <a:cs typeface="Calibri"/>
              </a:rPr>
              <a:t>379</a:t>
            </a:r>
          </a:p>
        </p:txBody>
      </p:sp>
      <p:sp>
        <p:nvSpPr>
          <p:cNvPr id="47" name="Text 47">
            <a:extLst xmlns:a="http://schemas.openxmlformats.org/drawingml/2006/main">
              <a:ext uri="{FF2B5EF4-FFF2-40B4-BE49-F238E27FC236}">
                <a16:creationId xmlns:a16="http://schemas.microsoft.com/office/drawing/2014/main" id="{F82D525B-D235-4441-868C-D8A69B26782D}"/>
              </a:ext>
            </a:extLst>
          </p:cNvPr>
          <p:cNvSpPr>
            <a:spLocks xmlns:a="http://schemas.openxmlformats.org/drawingml/2006/main" noGrp="1"/>
          </p:cNvSpPr>
          <p:nvPr/>
        </p:nvSpPr>
        <p:spPr>
          <a:xfrm xmlns:a="http://schemas.openxmlformats.org/drawingml/2006/main">
            <a:off x="11521440" y="6446520"/>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5B6472"/>
                </a:solidFill>
                <a:latin typeface="Calibri"/>
                <a:ea typeface="Calibri"/>
                <a:cs typeface="Calibri"/>
              </a:rPr>
              <a:t>5</a:t>
            </a:r>
          </a:p>
        </p:txBody>
      </p:sp>
    </p:spTree>
    <p:extLst>
      <p:ext uri="{BB962C8B-B14F-4D97-AF65-F5344CB8AC3E}">
        <p14:creationId xmlns:p14="http://schemas.microsoft.com/office/powerpoint/2010/main" val="188966616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2">
            <a:extLst xmlns:a="http://schemas.openxmlformats.org/drawingml/2006/main">
              <a:ext uri="{FF2B5EF4-FFF2-40B4-BE49-F238E27FC236}">
                <a16:creationId xmlns:a16="http://schemas.microsoft.com/office/drawing/2014/main" id="{0E820711-4A94-4C0C-B466-2C7A0CE81764}"/>
              </a:ext>
            </a:extLst>
          </p:cNvPr>
          <p:cNvSpPr>
            <a:spLocks xmlns:a="http://schemas.openxmlformats.org/drawingml/2006/main" noGrp="1"/>
          </p:cNvSpPr>
          <p:nvPr/>
        </p:nvSpPr>
        <p:spPr>
          <a:xfrm xmlns:a="http://schemas.openxmlformats.org/drawingml/2006/main">
            <a:off x="548640" y="365760"/>
            <a:ext cx="105156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spc="200">
                <a:solidFill>
                  <a:srgbClr val="1E2761"/>
                </a:solidFill>
                <a:latin typeface="Calibri"/>
                <a:ea typeface="Calibri"/>
                <a:cs typeface="Calibri"/>
              </a:rPr>
              <a:t>4. RESULTS</a:t>
            </a:r>
          </a:p>
        </p:txBody>
      </p:sp>
      <p:sp>
        <p:nvSpPr>
          <p:cNvPr id="3" name="Text 3">
            <a:extLst xmlns:a="http://schemas.openxmlformats.org/drawingml/2006/main">
              <a:ext uri="{FF2B5EF4-FFF2-40B4-BE49-F238E27FC236}">
                <a16:creationId xmlns:a16="http://schemas.microsoft.com/office/drawing/2014/main" id="{9209E892-1AE8-43F6-B993-DB9ABC48E4F8}"/>
              </a:ext>
            </a:extLst>
          </p:cNvPr>
          <p:cNvSpPr>
            <a:spLocks xmlns:a="http://schemas.openxmlformats.org/drawingml/2006/main" noGrp="1"/>
          </p:cNvSpPr>
          <p:nvPr/>
        </p:nvSpPr>
        <p:spPr>
          <a:xfrm xmlns:a="http://schemas.openxmlformats.org/drawingml/2006/main">
            <a:off x="548640" y="685800"/>
            <a:ext cx="1131560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900" b="1">
                <a:solidFill>
                  <a:srgbClr val="1B1F2A"/>
                </a:solidFill>
                <a:latin typeface="Cambria"/>
                <a:ea typeface="Cambria"/>
                <a:cs typeface="Cambria"/>
              </a:rPr>
              <a:t>XGBoost has the highest observed mean scores</a:t>
            </a:r>
          </a:p>
        </p:txBody>
      </p:sp>
      <p:pic>
        <p:nvPicPr>
          <p:cNvPr id="18" name="Image 4"/>
          <p:cNvPicPr>
            <a:picLocks xmlns:a="http://schemas.openxmlformats.org/drawingml/2006/main" noChangeAspect="1"/>
          </p:cNvPicPr>
          <p:nvPr/>
        </p:nvPicPr>
        <p:blipFill>
          <a:blip xmlns:r="http://schemas.openxmlformats.org/officeDocument/2006/relationships" xmlns:a="http://schemas.openxmlformats.org/drawingml/2006/main" r:embed="R98ff63a0419f48f0"/>
          <a:stretch xmlns:a="http://schemas.openxmlformats.org/drawingml/2006/main">
            <a:fillRect l="0" t="0" r="0" b="0"/>
          </a:stretch>
        </p:blipFill>
        <p:spPr>
          <a:xfrm xmlns:a="http://schemas.openxmlformats.org/drawingml/2006/main">
            <a:off x="548640" y="1600200"/>
            <a:ext cx="6802520" cy="3446202"/>
          </a:xfrm>
          <a:prstGeom xmlns:a="http://schemas.openxmlformats.org/drawingml/2006/main" prst="rect">
            <a:avLst/>
          </a:prstGeom>
        </p:spPr>
      </p:pic>
      <p:sp>
        <p:nvSpPr>
          <p:cNvPr id="5" name="Shape 5">
            <a:extLst xmlns:a="http://schemas.openxmlformats.org/drawingml/2006/main">
              <a:ext uri="{FF2B5EF4-FFF2-40B4-BE49-F238E27FC236}">
                <a16:creationId xmlns:a16="http://schemas.microsoft.com/office/drawing/2014/main" id="{DC44DD65-522D-48CF-8656-255E70E823E9}"/>
              </a:ext>
            </a:extLst>
          </p:cNvPr>
          <p:cNvSpPr>
            <a:spLocks xmlns:a="http://schemas.openxmlformats.org/drawingml/2006/main" noGrp="1"/>
          </p:cNvSpPr>
          <p:nvPr/>
        </p:nvSpPr>
        <p:spPr>
          <a:xfrm xmlns:a="http://schemas.openxmlformats.org/drawingml/2006/main">
            <a:off x="7762640" y="1600200"/>
            <a:ext cx="4219810" cy="1050000"/>
          </a:xfrm>
          <a:prstGeom xmlns:a="http://schemas.openxmlformats.org/drawingml/2006/main" prst="roundRect">
            <a:avLst>
              <a:gd name="adj" fmla="val 4706"/>
            </a:avLst>
          </a:prstGeom>
          <a:solidFill xmlns:a="http://schemas.openxmlformats.org/drawingml/2006/main">
            <a:srgbClr val="1E2761"/>
          </a:solidFill>
        </p:spPr>
        <p:txBody>
          <a:bodyPr xmlns:a="http://schemas.openxmlformats.org/drawingml/2006/main"/>
          <a:lstStyle xmlns:a="http://schemas.openxmlformats.org/drawingml/2006/main"/>
          <a:p xmlns:a="http://schemas.openxmlformats.org/drawingml/2006/main">
            <a:endParaRPr/>
          </a:p>
        </p:txBody>
      </p:sp>
      <p:sp>
        <p:nvSpPr>
          <p:cNvPr id="6" name="Text 6">
            <a:extLst xmlns:a="http://schemas.openxmlformats.org/drawingml/2006/main">
              <a:ext uri="{FF2B5EF4-FFF2-40B4-BE49-F238E27FC236}">
                <a16:creationId xmlns:a16="http://schemas.microsoft.com/office/drawing/2014/main" id="{AAC782A6-5A66-43C5-B98B-BFB2C5FDD142}"/>
              </a:ext>
            </a:extLst>
          </p:cNvPr>
          <p:cNvSpPr>
            <a:spLocks xmlns:a="http://schemas.openxmlformats.org/drawingml/2006/main" noGrp="1"/>
          </p:cNvSpPr>
          <p:nvPr/>
        </p:nvSpPr>
        <p:spPr>
          <a:xfrm xmlns:a="http://schemas.openxmlformats.org/drawingml/2006/main">
            <a:off x="7762640" y="1709928"/>
            <a:ext cx="4219810"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600" b="1">
                <a:solidFill>
                  <a:srgbClr val="CADCFC"/>
                </a:solidFill>
                <a:latin typeface="Cambria"/>
                <a:ea typeface="Cambria"/>
                <a:cs typeface="Cambria"/>
              </a:rPr>
              <a:t>67.4%</a:t>
            </a:r>
          </a:p>
        </p:txBody>
      </p:sp>
      <p:sp>
        <p:nvSpPr>
          <p:cNvPr id="7" name="Text 7">
            <a:extLst xmlns:a="http://schemas.openxmlformats.org/drawingml/2006/main">
              <a:ext uri="{FF2B5EF4-FFF2-40B4-BE49-F238E27FC236}">
                <a16:creationId xmlns:a16="http://schemas.microsoft.com/office/drawing/2014/main" id="{5F18DF4C-81E7-4E26-A5EC-5366394C217F}"/>
              </a:ext>
            </a:extLst>
          </p:cNvPr>
          <p:cNvSpPr>
            <a:spLocks xmlns:a="http://schemas.openxmlformats.org/drawingml/2006/main" noGrp="1"/>
          </p:cNvSpPr>
          <p:nvPr/>
        </p:nvSpPr>
        <p:spPr>
          <a:xfrm xmlns:a="http://schemas.openxmlformats.org/drawingml/2006/main">
            <a:off x="7762640" y="2238720"/>
            <a:ext cx="421981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50">
                <a:solidFill>
                  <a:srgbClr val="FFFFFF"/>
                </a:solidFill>
                <a:latin typeface="Calibri"/>
                <a:ea typeface="Calibri"/>
                <a:cs typeface="Calibri"/>
              </a:rPr>
              <a:t>Mean accuracy: unweighted 1–3 grams</a:t>
            </a:r>
          </a:p>
        </p:txBody>
      </p:sp>
      <p:sp>
        <p:nvSpPr>
          <p:cNvPr id="8" name="Shape 8">
            <a:extLst xmlns:a="http://schemas.openxmlformats.org/drawingml/2006/main">
              <a:ext uri="{FF2B5EF4-FFF2-40B4-BE49-F238E27FC236}">
                <a16:creationId xmlns:a16="http://schemas.microsoft.com/office/drawing/2014/main" id="{8135545F-C1E2-4EAB-B592-8DD26C3F63E9}"/>
              </a:ext>
            </a:extLst>
          </p:cNvPr>
          <p:cNvSpPr>
            <a:spLocks xmlns:a="http://schemas.openxmlformats.org/drawingml/2006/main" noGrp="1"/>
          </p:cNvSpPr>
          <p:nvPr/>
        </p:nvSpPr>
        <p:spPr>
          <a:xfrm xmlns:a="http://schemas.openxmlformats.org/drawingml/2006/main">
            <a:off x="7762640" y="2731000"/>
            <a:ext cx="4219810" cy="1050000"/>
          </a:xfrm>
          <a:prstGeom xmlns:a="http://schemas.openxmlformats.org/drawingml/2006/main" prst="roundRect">
            <a:avLst>
              <a:gd name="adj" fmla="val 4706"/>
            </a:avLst>
          </a:prstGeom>
          <a:solidFill xmlns:a="http://schemas.openxmlformats.org/drawingml/2006/main">
            <a:srgbClr val="1E7A4C"/>
          </a:solidFill>
        </p:spPr>
        <p:txBody>
          <a:bodyPr xmlns:a="http://schemas.openxmlformats.org/drawingml/2006/main"/>
          <a:lstStyle xmlns:a="http://schemas.openxmlformats.org/drawingml/2006/main"/>
          <a:p xmlns:a="http://schemas.openxmlformats.org/drawingml/2006/main">
            <a:endParaRPr/>
          </a:p>
        </p:txBody>
      </p:sp>
      <p:sp>
        <p:nvSpPr>
          <p:cNvPr id="9" name="Text 9">
            <a:extLst xmlns:a="http://schemas.openxmlformats.org/drawingml/2006/main">
              <a:ext uri="{FF2B5EF4-FFF2-40B4-BE49-F238E27FC236}">
                <a16:creationId xmlns:a16="http://schemas.microsoft.com/office/drawing/2014/main" id="{10D622CA-8821-473D-B8BB-B63FF1AFF39B}"/>
              </a:ext>
            </a:extLst>
          </p:cNvPr>
          <p:cNvSpPr>
            <a:spLocks xmlns:a="http://schemas.openxmlformats.org/drawingml/2006/main" noGrp="1"/>
          </p:cNvSpPr>
          <p:nvPr/>
        </p:nvSpPr>
        <p:spPr>
          <a:xfrm xmlns:a="http://schemas.openxmlformats.org/drawingml/2006/main">
            <a:off x="7762640" y="2840728"/>
            <a:ext cx="4219810"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600" b="1">
                <a:solidFill>
                  <a:srgbClr val="CADCFC"/>
                </a:solidFill>
                <a:latin typeface="Cambria"/>
                <a:ea typeface="Cambria"/>
                <a:cs typeface="Cambria"/>
              </a:rPr>
              <a:t>0.6837</a:t>
            </a:r>
          </a:p>
        </p:txBody>
      </p:sp>
      <p:sp>
        <p:nvSpPr>
          <p:cNvPr id="10" name="Text 10">
            <a:extLst xmlns:a="http://schemas.openxmlformats.org/drawingml/2006/main">
              <a:ext uri="{FF2B5EF4-FFF2-40B4-BE49-F238E27FC236}">
                <a16:creationId xmlns:a16="http://schemas.microsoft.com/office/drawing/2014/main" id="{9BA54C69-E6A5-4FF9-9F22-3BA788CB236D}"/>
              </a:ext>
            </a:extLst>
          </p:cNvPr>
          <p:cNvSpPr>
            <a:spLocks xmlns:a="http://schemas.openxmlformats.org/drawingml/2006/main" noGrp="1"/>
          </p:cNvSpPr>
          <p:nvPr/>
        </p:nvSpPr>
        <p:spPr>
          <a:xfrm xmlns:a="http://schemas.openxmlformats.org/drawingml/2006/main">
            <a:off x="7762640" y="3369520"/>
            <a:ext cx="421981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50">
                <a:solidFill>
                  <a:srgbClr val="FFFFFF"/>
                </a:solidFill>
                <a:latin typeface="Calibri"/>
                <a:ea typeface="Calibri"/>
                <a:cs typeface="Calibri"/>
              </a:rPr>
              <a:t>Mean macro-F1: unweighted 1–3 grams</a:t>
            </a:r>
          </a:p>
        </p:txBody>
      </p:sp>
      <p:sp>
        <p:nvSpPr>
          <p:cNvPr id="11" name="Shape 11">
            <a:extLst xmlns:a="http://schemas.openxmlformats.org/drawingml/2006/main">
              <a:ext uri="{FF2B5EF4-FFF2-40B4-BE49-F238E27FC236}">
                <a16:creationId xmlns:a16="http://schemas.microsoft.com/office/drawing/2014/main" id="{7299DC2C-88BE-4FC9-A537-D75C29198E5E}"/>
              </a:ext>
            </a:extLst>
          </p:cNvPr>
          <p:cNvSpPr>
            <a:spLocks xmlns:a="http://schemas.openxmlformats.org/drawingml/2006/main" noGrp="1"/>
          </p:cNvSpPr>
          <p:nvPr/>
        </p:nvSpPr>
        <p:spPr>
          <a:xfrm xmlns:a="http://schemas.openxmlformats.org/drawingml/2006/main">
            <a:off x="7762640" y="3862000"/>
            <a:ext cx="4219810" cy="1737360"/>
          </a:xfrm>
          <a:prstGeom xmlns:a="http://schemas.openxmlformats.org/drawingml/2006/main" prst="roundRect">
            <a:avLst>
              <a:gd name="adj" fmla="val 4706"/>
            </a:avLst>
          </a:prstGeom>
          <a:solidFill xmlns:a="http://schemas.openxmlformats.org/drawingml/2006/main">
            <a:srgbClr val="F4F6FB"/>
          </a:solidFill>
        </p:spPr>
        <p:txBody>
          <a:bodyPr xmlns:a="http://schemas.openxmlformats.org/drawingml/2006/main"/>
          <a:lstStyle xmlns:a="http://schemas.openxmlformats.org/drawingml/2006/main"/>
          <a:p xmlns:a="http://schemas.openxmlformats.org/drawingml/2006/main">
            <a:endParaRPr/>
          </a:p>
        </p:txBody>
      </p:sp>
      <p:sp>
        <p:nvSpPr>
          <p:cNvPr id="12" name="Text 12">
            <a:extLst xmlns:a="http://schemas.openxmlformats.org/drawingml/2006/main">
              <a:ext uri="{FF2B5EF4-FFF2-40B4-BE49-F238E27FC236}">
                <a16:creationId xmlns:a16="http://schemas.microsoft.com/office/drawing/2014/main" id="{FA5E398E-4D53-42E5-98E2-F298525D8446}"/>
              </a:ext>
            </a:extLst>
          </p:cNvPr>
          <p:cNvSpPr>
            <a:spLocks xmlns:a="http://schemas.openxmlformats.org/drawingml/2006/main" noGrp="1"/>
          </p:cNvSpPr>
          <p:nvPr/>
        </p:nvSpPr>
        <p:spPr>
          <a:xfrm xmlns:a="http://schemas.openxmlformats.org/drawingml/2006/main">
            <a:off x="8036960" y="3999160"/>
            <a:ext cx="394549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E2761"/>
                </a:solidFill>
                <a:latin typeface="Cambria"/>
                <a:ea typeface="Cambria"/>
                <a:cs typeface="Cambria"/>
              </a:rPr>
              <a:t>Interpretation</a:t>
            </a:r>
          </a:p>
        </p:txBody>
      </p:sp>
      <p:sp>
        <p:nvSpPr>
          <p:cNvPr id="13" name="Text 13">
            <a:extLst xmlns:a="http://schemas.openxmlformats.org/drawingml/2006/main">
              <a:ext uri="{FF2B5EF4-FFF2-40B4-BE49-F238E27FC236}">
                <a16:creationId xmlns:a16="http://schemas.microsoft.com/office/drawing/2014/main" id="{28AA74F3-265B-4D77-BF83-8992AFEBEBE6}"/>
              </a:ext>
            </a:extLst>
          </p:cNvPr>
          <p:cNvSpPr>
            <a:spLocks xmlns:a="http://schemas.openxmlformats.org/drawingml/2006/main" noGrp="1"/>
          </p:cNvSpPr>
          <p:nvPr/>
        </p:nvSpPr>
        <p:spPr>
          <a:xfrm xmlns:a="http://schemas.openxmlformats.org/drawingml/2006/main">
            <a:off x="8036960" y="4319200"/>
            <a:ext cx="3945490" cy="11430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100">
                <a:solidFill>
                  <a:srgbClr val="1B1F2A"/>
                </a:solidFill>
                <a:latin typeface="Calibri"/>
                <a:ea typeface="Calibri"/>
                <a:cs typeface="Calibri"/>
              </a:rPr>
              <a:t>XGBoost: 67.40% ± 1.34 percentage points accuracy and 0.6837 ± 0.0134 macro-F1. Error bars show fold standard deviations. Earlier 40% results used a different, flawed pipeline and are not a valid improvement baseline.</a:t>
            </a:r>
          </a:p>
        </p:txBody>
      </p:sp>
      <p:sp>
        <p:nvSpPr>
          <p:cNvPr id="14" name="Text 14">
            <a:extLst xmlns:a="http://schemas.openxmlformats.org/drawingml/2006/main">
              <a:ext uri="{FF2B5EF4-FFF2-40B4-BE49-F238E27FC236}">
                <a16:creationId xmlns:a16="http://schemas.microsoft.com/office/drawing/2014/main" id="{45EF20D1-4845-4E69-B77B-742476CACDCD}"/>
              </a:ext>
            </a:extLst>
          </p:cNvPr>
          <p:cNvSpPr>
            <a:spLocks xmlns:a="http://schemas.openxmlformats.org/drawingml/2006/main" noGrp="1"/>
          </p:cNvSpPr>
          <p:nvPr/>
        </p:nvSpPr>
        <p:spPr>
          <a:xfrm xmlns:a="http://schemas.openxmlformats.org/drawingml/2006/main">
            <a:off x="11521440" y="6446520"/>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5B6472"/>
                </a:solidFill>
                <a:latin typeface="Calibri"/>
                <a:ea typeface="Calibri"/>
                <a:cs typeface="Calibri"/>
              </a:rPr>
              <a:t>6</a:t>
            </a:r>
          </a:p>
        </p:txBody>
      </p:sp>
    </p:spTree>
    <p:extLst>
      <p:ext uri="{BB962C8B-B14F-4D97-AF65-F5344CB8AC3E}">
        <p14:creationId xmlns:p14="http://schemas.microsoft.com/office/powerpoint/2010/main" val="68227426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2">
            <a:extLst xmlns:a="http://schemas.openxmlformats.org/drawingml/2006/main">
              <a:ext uri="{FF2B5EF4-FFF2-40B4-BE49-F238E27FC236}">
                <a16:creationId xmlns:a16="http://schemas.microsoft.com/office/drawing/2014/main" id="{0C59F84E-DA6A-4FB5-9E92-3F09FD38111B}"/>
              </a:ext>
            </a:extLst>
          </p:cNvPr>
          <p:cNvSpPr>
            <a:spLocks xmlns:a="http://schemas.openxmlformats.org/drawingml/2006/main" noGrp="1"/>
          </p:cNvSpPr>
          <p:nvPr/>
        </p:nvSpPr>
        <p:spPr>
          <a:xfrm xmlns:a="http://schemas.openxmlformats.org/drawingml/2006/main">
            <a:off x="548640" y="365760"/>
            <a:ext cx="105156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spc="200">
                <a:solidFill>
                  <a:srgbClr val="1E2761"/>
                </a:solidFill>
                <a:latin typeface="Calibri"/>
                <a:ea typeface="Calibri"/>
                <a:cs typeface="Calibri"/>
              </a:rPr>
              <a:t>4. RESULTS</a:t>
            </a:r>
          </a:p>
        </p:txBody>
      </p:sp>
      <p:sp>
        <p:nvSpPr>
          <p:cNvPr id="3" name="Text 3">
            <a:extLst xmlns:a="http://schemas.openxmlformats.org/drawingml/2006/main">
              <a:ext uri="{FF2B5EF4-FFF2-40B4-BE49-F238E27FC236}">
                <a16:creationId xmlns:a16="http://schemas.microsoft.com/office/drawing/2014/main" id="{0DCB47F8-9C46-4013-945F-2A6B2EC826AC}"/>
              </a:ext>
            </a:extLst>
          </p:cNvPr>
          <p:cNvSpPr>
            <a:spLocks xmlns:a="http://schemas.openxmlformats.org/drawingml/2006/main" noGrp="1"/>
          </p:cNvSpPr>
          <p:nvPr/>
        </p:nvSpPr>
        <p:spPr>
          <a:xfrm xmlns:a="http://schemas.openxmlformats.org/drawingml/2006/main">
            <a:off x="548640" y="685800"/>
            <a:ext cx="1131560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900" b="1">
                <a:solidFill>
                  <a:srgbClr val="1B1F2A"/>
                </a:solidFill>
                <a:latin typeface="Cambria"/>
                <a:ea typeface="Cambria"/>
                <a:cs typeface="Cambria"/>
              </a:rPr>
              <a:t>All three experiments, all four models</a:t>
            </a:r>
          </a:p>
        </p:txBody>
      </p:sp>
      <p:graphicFrame>
        <p:nvGraphicFramePr>
          <p:cNvPr id="10" name="Table 4"/>
          <p:cNvGraphicFramePr/>
          <p:nvPr/>
        </p:nvGraphicFramePr>
        <p:xfrm>
          <a:off xmlns:a="http://schemas.openxmlformats.org/drawingml/2006/main" x="548640" y="1600200"/>
          <a:ext xmlns:a="http://schemas.openxmlformats.org/drawingml/2006/main" cx="11864600" cy="4208526"/>
        </p:xfrm>
        <a:graphic xmlns:a="http://schemas.openxmlformats.org/drawingml/2006/main">
          <a:graphicData uri="http://schemas.openxmlformats.org/drawingml/2006/table">
            <a:tbl>
              <a:tblPr firstRow="1" bandRow="0">
                <a:tableStyleId>{5940675A-B579-460E-94D1-54222C63F5DA}</a:tableStyleId>
              </a:tblPr>
              <a:tblGrid>
                <a:gridCol w="1905000"/>
                <a:gridCol w="2286000"/>
                <a:gridCol w="1619250"/>
                <a:gridCol w="1838325"/>
                <a:gridCol w="1809750"/>
                <a:gridCol w="1809750"/>
              </a:tblGrid>
              <a:tr h="368046">
                <a:tc>
                  <a:txBody>
                    <a:bodyPr/>
                    <a:lstStyle/>
                    <a:p>
                      <a:pPr algn="l">
                        <a:buNone/>
                      </a:pPr>
                      <a:r>
                        <a:rPr sz="1000" b="1">
                          <a:solidFill>
                            <a:srgbClr val="FFFFFF"/>
                          </a:solidFill>
                          <a:latin typeface="Calibri"/>
                          <a:ea typeface="Calibri"/>
                          <a:cs typeface="Calibri"/>
                        </a:rPr>
                        <a:t>Experiment</a:t>
                      </a:r>
                    </a:p>
                  </a:txBody>
                  <a:tcPr marL="45720" marR="45720" marT="27432" marB="27432" anchor="ctr">
                    <a:solidFill>
                      <a:srgbClr val="1E2761"/>
                    </a:solidFill>
                  </a:tcPr>
                </a:tc>
                <a:tc>
                  <a:txBody>
                    <a:bodyPr/>
                    <a:lstStyle/>
                    <a:p>
                      <a:pPr algn="ctr">
                        <a:buNone/>
                      </a:pPr>
                      <a:r>
                        <a:rPr sz="1000" b="1">
                          <a:solidFill>
                            <a:srgbClr val="FFFFFF"/>
                          </a:solidFill>
                          <a:latin typeface="Calibri"/>
                          <a:ea typeface="Calibri"/>
                          <a:cs typeface="Calibri"/>
                        </a:rPr>
                        <a:t>Model</a:t>
                      </a:r>
                    </a:p>
                  </a:txBody>
                  <a:tcPr marL="45720" marR="45720" marT="27432" marB="27432" anchor="ctr">
                    <a:solidFill>
                      <a:srgbClr val="1E2761"/>
                    </a:solidFill>
                  </a:tcPr>
                </a:tc>
                <a:tc>
                  <a:txBody>
                    <a:bodyPr/>
                    <a:lstStyle/>
                    <a:p>
                      <a:pPr algn="ctr">
                        <a:buNone/>
                      </a:pPr>
                      <a:r>
                        <a:rPr sz="1000" b="1">
                          <a:solidFill>
                            <a:srgbClr val="FFFFFF"/>
                          </a:solidFill>
                          <a:latin typeface="Calibri"/>
                          <a:ea typeface="Calibri"/>
                          <a:cs typeface="Calibri"/>
                        </a:rPr>
                        <a:t>Accuracy (%)</a:t>
                      </a:r>
                    </a:p>
                  </a:txBody>
                  <a:tcPr marL="45720" marR="45720" marT="27432" marB="27432" anchor="ctr">
                    <a:solidFill>
                      <a:srgbClr val="1E2761"/>
                    </a:solidFill>
                  </a:tcPr>
                </a:tc>
                <a:tc>
                  <a:txBody>
                    <a:bodyPr/>
                    <a:lstStyle/>
                    <a:p>
                      <a:pPr algn="ctr">
                        <a:buNone/>
                      </a:pPr>
                      <a:r>
                        <a:rPr sz="1000" b="1">
                          <a:solidFill>
                            <a:srgbClr val="FFFFFF"/>
                          </a:solidFill>
                          <a:latin typeface="Calibri"/>
                          <a:ea typeface="Calibri"/>
                          <a:cs typeface="Calibri"/>
                        </a:rPr>
                        <a:t>Macro Precision</a:t>
                      </a:r>
                    </a:p>
                  </a:txBody>
                  <a:tcPr marL="45720" marR="45720" marT="27432" marB="27432" anchor="ctr">
                    <a:solidFill>
                      <a:srgbClr val="1E2761"/>
                    </a:solidFill>
                  </a:tcPr>
                </a:tc>
                <a:tc>
                  <a:txBody>
                    <a:bodyPr/>
                    <a:lstStyle/>
                    <a:p>
                      <a:pPr algn="ctr">
                        <a:buNone/>
                      </a:pPr>
                      <a:r>
                        <a:rPr sz="1000" b="1">
                          <a:solidFill>
                            <a:srgbClr val="FFFFFF"/>
                          </a:solidFill>
                          <a:latin typeface="Calibri"/>
                          <a:ea typeface="Calibri"/>
                          <a:cs typeface="Calibri"/>
                        </a:rPr>
                        <a:t>Macro Recall</a:t>
                      </a:r>
                    </a:p>
                  </a:txBody>
                  <a:tcPr marL="45720" marR="45720" marT="27432" marB="27432" anchor="ctr">
                    <a:solidFill>
                      <a:srgbClr val="1E2761"/>
                    </a:solidFill>
                  </a:tcPr>
                </a:tc>
                <a:tc>
                  <a:txBody>
                    <a:bodyPr/>
                    <a:lstStyle/>
                    <a:p>
                      <a:pPr algn="ctr">
                        <a:buNone/>
                      </a:pPr>
                      <a:r>
                        <a:rPr sz="1000" b="1">
                          <a:solidFill>
                            <a:srgbClr val="FFFFFF"/>
                          </a:solidFill>
                          <a:latin typeface="Calibri"/>
                          <a:ea typeface="Calibri"/>
                          <a:cs typeface="Calibri"/>
                        </a:rPr>
                        <a:t>Macro F1</a:t>
                      </a:r>
                    </a:p>
                  </a:txBody>
                  <a:tcPr marL="45720" marR="45720" marT="27432" marB="27432" anchor="ctr">
                    <a:solidFill>
                      <a:srgbClr val="1E2761"/>
                    </a:solidFill>
                  </a:tcPr>
                </a:tc>
              </a:tr>
              <a:tr h="320040">
                <a:tc>
                  <a:txBody>
                    <a:bodyPr/>
                    <a:lstStyle/>
                    <a:p>
                      <a:pPr algn="l">
                        <a:buNone/>
                      </a:pPr>
                      <a:r>
                        <a:rPr sz="1000">
                          <a:solidFill>
                            <a:srgbClr val="1B1F2A"/>
                          </a:solidFill>
                          <a:latin typeface="Calibri"/>
                          <a:ea typeface="Calibri"/>
                          <a:cs typeface="Calibri"/>
                        </a:rPr>
                        <a:t>Weighted unigrams</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Random Forest</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63.63 ± 1.31</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0.6574 ± 0.0111</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0.6408 ± 0.0062</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0.6452 ± 0.0084</a:t>
                      </a:r>
                    </a:p>
                  </a:txBody>
                  <a:tcPr marL="45720" marR="45720" marT="27432" marB="27432" anchor="ctr">
                    <a:solidFill>
                      <a:srgbClr val="FFFFFF"/>
                    </a:solidFill>
                  </a:tcPr>
                </a:tc>
              </a:tr>
              <a:tr h="320040">
                <a:tc>
                  <a:txBody>
                    <a:bodyPr/>
                    <a:lstStyle/>
                    <a:p>
                      <a:pPr algn="l">
                        <a:buNone/>
                      </a:pPr>
                      <a:r>
                        <a:rPr sz="1000">
                          <a:solidFill>
                            <a:srgbClr val="1B1F2A"/>
                          </a:solidFill>
                          <a:latin typeface="Calibri"/>
                          <a:ea typeface="Calibri"/>
                          <a:cs typeface="Calibri"/>
                        </a:rPr>
                        <a:t>Weighted unigrams</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XGBoost</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63.93 ± 1.18</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0.6595 ± 0.0088</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0.6451 ± 0.0060</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0.6500 ± 0.0067</a:t>
                      </a:r>
                    </a:p>
                  </a:txBody>
                  <a:tcPr marL="45720" marR="45720" marT="27432" marB="27432" anchor="ctr">
                    <a:solidFill>
                      <a:srgbClr val="F4F6FB"/>
                    </a:solidFill>
                  </a:tcPr>
                </a:tc>
              </a:tr>
              <a:tr h="320040">
                <a:tc>
                  <a:txBody>
                    <a:bodyPr/>
                    <a:lstStyle/>
                    <a:p>
                      <a:pPr algn="l">
                        <a:buNone/>
                      </a:pPr>
                      <a:r>
                        <a:rPr sz="1000">
                          <a:solidFill>
                            <a:srgbClr val="1B1F2A"/>
                          </a:solidFill>
                          <a:latin typeface="Calibri"/>
                          <a:ea typeface="Calibri"/>
                          <a:cs typeface="Calibri"/>
                        </a:rPr>
                        <a:t>Weighted unigrams</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SVM</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41.27 ± 1.51</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0.4397 ± 0.0164</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0.4249 ± 0.0099</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0.4145 ± 0.0118</a:t>
                      </a:r>
                    </a:p>
                  </a:txBody>
                  <a:tcPr marL="45720" marR="45720" marT="27432" marB="27432" anchor="ctr">
                    <a:solidFill>
                      <a:srgbClr val="FFFFFF"/>
                    </a:solidFill>
                  </a:tcPr>
                </a:tc>
              </a:tr>
              <a:tr h="320040">
                <a:tc>
                  <a:txBody>
                    <a:bodyPr/>
                    <a:lstStyle/>
                    <a:p>
                      <a:pPr algn="l">
                        <a:buNone/>
                      </a:pPr>
                      <a:r>
                        <a:rPr sz="1000">
                          <a:solidFill>
                            <a:srgbClr val="1B1F2A"/>
                          </a:solidFill>
                          <a:latin typeface="Calibri"/>
                          <a:ea typeface="Calibri"/>
                          <a:cs typeface="Calibri"/>
                        </a:rPr>
                        <a:t>Weighted unigrams</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Soft Voting Ensemble</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63.76 ± 1.17</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0.6571 ± 0.0118</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0.6432 ± 0.0065</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0.6472 ± 0.0090</a:t>
                      </a:r>
                    </a:p>
                  </a:txBody>
                  <a:tcPr marL="45720" marR="45720" marT="27432" marB="27432" anchor="ctr">
                    <a:solidFill>
                      <a:srgbClr val="F4F6FB"/>
                    </a:solidFill>
                  </a:tcPr>
                </a:tc>
              </a:tr>
              <a:tr h="320040">
                <a:tc>
                  <a:txBody>
                    <a:bodyPr/>
                    <a:lstStyle/>
                    <a:p>
                      <a:pPr algn="l">
                        <a:buNone/>
                      </a:pPr>
                      <a:r>
                        <a:rPr sz="1000">
                          <a:solidFill>
                            <a:srgbClr val="1B1F2A"/>
                          </a:solidFill>
                          <a:latin typeface="Calibri"/>
                          <a:ea typeface="Calibri"/>
                          <a:cs typeface="Calibri"/>
                        </a:rPr>
                        <a:t>Weighted 1–3 grams</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Random Forest</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63.97 ± 2.65</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0.6602 ± 0.0275</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0.6463 ± 0.0207</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0.6498 ± 0.0231</a:t>
                      </a:r>
                    </a:p>
                  </a:txBody>
                  <a:tcPr marL="45720" marR="45720" marT="27432" marB="27432" anchor="ctr">
                    <a:solidFill>
                      <a:srgbClr val="FFFFFF"/>
                    </a:solidFill>
                  </a:tcPr>
                </a:tc>
              </a:tr>
              <a:tr h="320040">
                <a:tc>
                  <a:txBody>
                    <a:bodyPr/>
                    <a:lstStyle/>
                    <a:p>
                      <a:pPr algn="l">
                        <a:buNone/>
                      </a:pPr>
                      <a:r>
                        <a:rPr sz="1000">
                          <a:solidFill>
                            <a:srgbClr val="1B1F2A"/>
                          </a:solidFill>
                          <a:latin typeface="Calibri"/>
                          <a:ea typeface="Calibri"/>
                          <a:cs typeface="Calibri"/>
                        </a:rPr>
                        <a:t>Weighted 1–3 grams</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XGBoost</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67.33 ± 1.51</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0.6936 ± 0.0134</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0.6781 ± 0.0108</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0.6836 ± 0.0113</a:t>
                      </a:r>
                    </a:p>
                  </a:txBody>
                  <a:tcPr marL="45720" marR="45720" marT="27432" marB="27432" anchor="ctr">
                    <a:solidFill>
                      <a:srgbClr val="F4F6FB"/>
                    </a:solidFill>
                  </a:tcPr>
                </a:tc>
              </a:tr>
              <a:tr h="320040">
                <a:tc>
                  <a:txBody>
                    <a:bodyPr/>
                    <a:lstStyle/>
                    <a:p>
                      <a:pPr algn="l">
                        <a:buNone/>
                      </a:pPr>
                      <a:r>
                        <a:rPr sz="1000">
                          <a:solidFill>
                            <a:srgbClr val="1B1F2A"/>
                          </a:solidFill>
                          <a:latin typeface="Calibri"/>
                          <a:ea typeface="Calibri"/>
                          <a:cs typeface="Calibri"/>
                        </a:rPr>
                        <a:t>Weighted 1–3 grams</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SVM</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47.54 ± 1.76</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0.5113 ± 0.0158</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0.4873 ± 0.0137</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0.4902 ± 0.0149</a:t>
                      </a:r>
                    </a:p>
                  </a:txBody>
                  <a:tcPr marL="45720" marR="45720" marT="27432" marB="27432" anchor="ctr">
                    <a:solidFill>
                      <a:srgbClr val="FFFFFF"/>
                    </a:solidFill>
                  </a:tcPr>
                </a:tc>
              </a:tr>
              <a:tr h="320040">
                <a:tc>
                  <a:txBody>
                    <a:bodyPr/>
                    <a:lstStyle/>
                    <a:p>
                      <a:pPr algn="l">
                        <a:buNone/>
                      </a:pPr>
                      <a:r>
                        <a:rPr sz="1000">
                          <a:solidFill>
                            <a:srgbClr val="1B1F2A"/>
                          </a:solidFill>
                          <a:latin typeface="Calibri"/>
                          <a:ea typeface="Calibri"/>
                          <a:cs typeface="Calibri"/>
                        </a:rPr>
                        <a:t>Weighted 1–3 grams</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Soft Voting Ensemble</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66.57 ± 2.07</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0.6850 ± 0.0211</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0.6697 ± 0.0129</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0.6744 ± 0.0164</a:t>
                      </a:r>
                    </a:p>
                  </a:txBody>
                  <a:tcPr marL="45720" marR="45720" marT="27432" marB="27432" anchor="ctr">
                    <a:solidFill>
                      <a:srgbClr val="F4F6FB"/>
                    </a:solidFill>
                  </a:tcPr>
                </a:tc>
              </a:tr>
              <a:tr h="320040">
                <a:tc>
                  <a:txBody>
                    <a:bodyPr/>
                    <a:lstStyle/>
                    <a:p>
                      <a:pPr algn="l">
                        <a:buNone/>
                      </a:pPr>
                      <a:r>
                        <a:rPr sz="1000">
                          <a:solidFill>
                            <a:srgbClr val="1B1F2A"/>
                          </a:solidFill>
                          <a:latin typeface="Calibri"/>
                          <a:ea typeface="Calibri"/>
                          <a:cs typeface="Calibri"/>
                        </a:rPr>
                        <a:t>Unweighted 1–3 grams</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Random Forest</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64.08 ± 2.58</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0.6623 ± 0.0254</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0.6467 ± 0.0207</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0.6511 ± 0.0223</a:t>
                      </a:r>
                    </a:p>
                  </a:txBody>
                  <a:tcPr marL="45720" marR="45720" marT="27432" marB="27432" anchor="ctr">
                    <a:solidFill>
                      <a:srgbClr val="FFFFFF"/>
                    </a:solidFill>
                  </a:tcPr>
                </a:tc>
              </a:tr>
              <a:tr h="320040">
                <a:tc>
                  <a:txBody>
                    <a:bodyPr/>
                    <a:lstStyle/>
                    <a:p>
                      <a:pPr algn="l">
                        <a:buNone/>
                      </a:pPr>
                      <a:r>
                        <a:rPr sz="1000">
                          <a:solidFill>
                            <a:srgbClr val="1B1F2A"/>
                          </a:solidFill>
                          <a:latin typeface="Calibri"/>
                          <a:ea typeface="Calibri"/>
                          <a:cs typeface="Calibri"/>
                        </a:rPr>
                        <a:t>Unweighted 1–3 grams</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XGBoost</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67.40 ± 1.34</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0.6958 ± 0.0147</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0.6769 ± 0.0129</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0.6837 ± 0.0134</a:t>
                      </a:r>
                    </a:p>
                  </a:txBody>
                  <a:tcPr marL="45720" marR="45720" marT="27432" marB="27432" anchor="ctr">
                    <a:solidFill>
                      <a:srgbClr val="F4F6FB"/>
                    </a:solidFill>
                  </a:tcPr>
                </a:tc>
              </a:tr>
              <a:tr h="320040">
                <a:tc>
                  <a:txBody>
                    <a:bodyPr/>
                    <a:lstStyle/>
                    <a:p>
                      <a:pPr algn="l">
                        <a:buNone/>
                      </a:pPr>
                      <a:r>
                        <a:rPr sz="1000">
                          <a:solidFill>
                            <a:srgbClr val="1B1F2A"/>
                          </a:solidFill>
                          <a:latin typeface="Calibri"/>
                          <a:ea typeface="Calibri"/>
                          <a:cs typeface="Calibri"/>
                        </a:rPr>
                        <a:t>Unweighted 1–3 grams</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SVM</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47.83 ± 2.04</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0.5300 ± 0.0222</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0.4755 ± 0.0191</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0.4866 ± 0.0195</a:t>
                      </a:r>
                    </a:p>
                  </a:txBody>
                  <a:tcPr marL="45720" marR="45720" marT="27432" marB="27432" anchor="ctr">
                    <a:solidFill>
                      <a:srgbClr val="FFFFFF"/>
                    </a:solidFill>
                  </a:tcPr>
                </a:tc>
              </a:tr>
              <a:tr h="320040">
                <a:tc>
                  <a:txBody>
                    <a:bodyPr/>
                    <a:lstStyle/>
                    <a:p>
                      <a:pPr algn="l">
                        <a:buNone/>
                      </a:pPr>
                      <a:r>
                        <a:rPr sz="1000">
                          <a:solidFill>
                            <a:srgbClr val="1B1F2A"/>
                          </a:solidFill>
                          <a:latin typeface="Calibri"/>
                          <a:ea typeface="Calibri"/>
                          <a:cs typeface="Calibri"/>
                        </a:rPr>
                        <a:t>Unweighted 1–3 grams</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Soft Voting Ensemble</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66.78 ± 1.66</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0.6877 ± 0.0199</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0.6707 ± 0.0137</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0.6761 ± 0.0159</a:t>
                      </a:r>
                    </a:p>
                  </a:txBody>
                  <a:tcPr marL="45720" marR="45720" marT="27432" marB="27432" anchor="ctr">
                    <a:solidFill>
                      <a:srgbClr val="F4F6FB"/>
                    </a:solidFill>
                  </a:tcPr>
                </a:tc>
              </a:tr>
            </a:tbl>
          </a:graphicData>
        </a:graphic>
      </p:graphicFrame>
      <p:sp>
        <p:nvSpPr>
          <p:cNvPr id="5" name="Text 5">
            <a:extLst xmlns:a="http://schemas.openxmlformats.org/drawingml/2006/main">
              <a:ext uri="{FF2B5EF4-FFF2-40B4-BE49-F238E27FC236}">
                <a16:creationId xmlns:a16="http://schemas.microsoft.com/office/drawing/2014/main" id="{DEE032E0-C6EA-4DA4-A376-40B2ED5D2D44}"/>
              </a:ext>
            </a:extLst>
          </p:cNvPr>
          <p:cNvSpPr>
            <a:spLocks xmlns:a="http://schemas.openxmlformats.org/drawingml/2006/main" noGrp="1"/>
          </p:cNvSpPr>
          <p:nvPr/>
        </p:nvSpPr>
        <p:spPr>
          <a:xfrm xmlns:a="http://schemas.openxmlformats.org/drawingml/2006/main">
            <a:off x="548640" y="6120130"/>
            <a:ext cx="11315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a:solidFill>
                  <a:srgbClr val="5B6472"/>
                </a:solidFill>
                <a:latin typeface="Calibri"/>
                <a:ea typeface="Calibri"/>
                <a:cs typeface="Calibri"/>
              </a:rPr>
              <a:t>Highest observed means: unweighted XGBoost, 1–3 grams (67.40% accuracy; 0.6837 macro-F1). Scores are mean ± fold SD, not confidence intervals.</a:t>
            </a:r>
          </a:p>
        </p:txBody>
      </p:sp>
      <p:sp>
        <p:nvSpPr>
          <p:cNvPr id="6" name="Text 6">
            <a:extLst xmlns:a="http://schemas.openxmlformats.org/drawingml/2006/main">
              <a:ext uri="{FF2B5EF4-FFF2-40B4-BE49-F238E27FC236}">
                <a16:creationId xmlns:a16="http://schemas.microsoft.com/office/drawing/2014/main" id="{37190041-DE00-49D0-8C28-62C518C4C12C}"/>
              </a:ext>
            </a:extLst>
          </p:cNvPr>
          <p:cNvSpPr>
            <a:spLocks xmlns:a="http://schemas.openxmlformats.org/drawingml/2006/main" noGrp="1"/>
          </p:cNvSpPr>
          <p:nvPr/>
        </p:nvSpPr>
        <p:spPr>
          <a:xfrm xmlns:a="http://schemas.openxmlformats.org/drawingml/2006/main">
            <a:off x="11521440" y="6446520"/>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5B6472"/>
                </a:solidFill>
                <a:latin typeface="Calibri"/>
                <a:ea typeface="Calibri"/>
                <a:cs typeface="Calibri"/>
              </a:rPr>
              <a:t>7</a:t>
            </a:r>
          </a:p>
        </p:txBody>
      </p:sp>
    </p:spTree>
    <p:extLst>
      <p:ext uri="{BB962C8B-B14F-4D97-AF65-F5344CB8AC3E}">
        <p14:creationId xmlns:p14="http://schemas.microsoft.com/office/powerpoint/2010/main" val="8571769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2">
            <a:extLst xmlns:a="http://schemas.openxmlformats.org/drawingml/2006/main">
              <a:ext uri="{FF2B5EF4-FFF2-40B4-BE49-F238E27FC236}">
                <a16:creationId xmlns:a16="http://schemas.microsoft.com/office/drawing/2014/main" id="{3E82BB82-E5C5-4463-A050-26284D1FEC51}"/>
              </a:ext>
            </a:extLst>
          </p:cNvPr>
          <p:cNvSpPr>
            <a:spLocks xmlns:a="http://schemas.openxmlformats.org/drawingml/2006/main" noGrp="1"/>
          </p:cNvSpPr>
          <p:nvPr/>
        </p:nvSpPr>
        <p:spPr>
          <a:xfrm xmlns:a="http://schemas.openxmlformats.org/drawingml/2006/main">
            <a:off x="548640" y="365760"/>
            <a:ext cx="105156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spc="200">
                <a:solidFill>
                  <a:srgbClr val="1E2761"/>
                </a:solidFill>
                <a:latin typeface="Calibri"/>
                <a:ea typeface="Calibri"/>
                <a:cs typeface="Calibri"/>
              </a:rPr>
              <a:t>4. RESULTS</a:t>
            </a:r>
          </a:p>
        </p:txBody>
      </p:sp>
      <p:sp>
        <p:nvSpPr>
          <p:cNvPr id="3" name="Text 3">
            <a:extLst xmlns:a="http://schemas.openxmlformats.org/drawingml/2006/main">
              <a:ext uri="{FF2B5EF4-FFF2-40B4-BE49-F238E27FC236}">
                <a16:creationId xmlns:a16="http://schemas.microsoft.com/office/drawing/2014/main" id="{E595564F-8119-4C39-9D13-245F0436756E}"/>
              </a:ext>
            </a:extLst>
          </p:cNvPr>
          <p:cNvSpPr>
            <a:spLocks xmlns:a="http://schemas.openxmlformats.org/drawingml/2006/main" noGrp="1"/>
          </p:cNvSpPr>
          <p:nvPr/>
        </p:nvSpPr>
        <p:spPr>
          <a:xfrm xmlns:a="http://schemas.openxmlformats.org/drawingml/2006/main">
            <a:off x="548640" y="685800"/>
            <a:ext cx="1131560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900" b="1">
                <a:solidFill>
                  <a:srgbClr val="1B1F2A"/>
                </a:solidFill>
                <a:latin typeface="Cambria"/>
                <a:ea typeface="Cambria"/>
                <a:cs typeface="Cambria"/>
              </a:rPr>
              <a:t>Per-category performance: unweighted XGBoost</a:t>
            </a:r>
          </a:p>
        </p:txBody>
      </p:sp>
      <p:pic>
        <p:nvPicPr>
          <p:cNvPr id="15" name="Image 4"/>
          <p:cNvPicPr>
            <a:picLocks xmlns:a="http://schemas.openxmlformats.org/drawingml/2006/main" noChangeAspect="1"/>
          </p:cNvPicPr>
          <p:nvPr/>
        </p:nvPicPr>
        <p:blipFill>
          <a:blip xmlns:r="http://schemas.openxmlformats.org/officeDocument/2006/relationships" xmlns:a="http://schemas.openxmlformats.org/drawingml/2006/main" r:embed="R7ac69dbefa674942"/>
          <a:stretch xmlns:a="http://schemas.openxmlformats.org/drawingml/2006/main">
            <a:fillRect l="0" t="0" r="0" b="0"/>
          </a:stretch>
        </p:blipFill>
        <p:spPr>
          <a:xfrm xmlns:a="http://schemas.openxmlformats.org/drawingml/2006/main">
            <a:off x="548640" y="1550000"/>
            <a:ext cx="4450000" cy="4588092"/>
          </a:xfrm>
          <a:prstGeom xmlns:a="http://schemas.openxmlformats.org/drawingml/2006/main" prst="rect">
            <a:avLst/>
          </a:prstGeom>
        </p:spPr>
      </p:pic>
      <p:sp>
        <p:nvSpPr>
          <p:cNvPr id="5" name="Text 5">
            <a:extLst xmlns:a="http://schemas.openxmlformats.org/drawingml/2006/main">
              <a:ext uri="{FF2B5EF4-FFF2-40B4-BE49-F238E27FC236}">
                <a16:creationId xmlns:a16="http://schemas.microsoft.com/office/drawing/2014/main" id="{9A5E3421-8903-4AB6-8F0B-4BD8376735A0}"/>
              </a:ext>
            </a:extLst>
          </p:cNvPr>
          <p:cNvSpPr>
            <a:spLocks xmlns:a="http://schemas.openxmlformats.org/drawingml/2006/main" noGrp="1"/>
          </p:cNvSpPr>
          <p:nvPr/>
        </p:nvSpPr>
        <p:spPr>
          <a:xfrm xmlns:a="http://schemas.openxmlformats.org/drawingml/2006/main">
            <a:off x="548640" y="6183812"/>
            <a:ext cx="4450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5B6472"/>
                </a:solidFill>
                <a:latin typeface="Calibri"/>
                <a:ea typeface="Calibri"/>
                <a:cs typeface="Calibri"/>
              </a:rPr>
              <a:t>Table: mean of five fold metrics. Matrix: pooled held-out counts (n = 7,107).</a:t>
            </a:r>
          </a:p>
        </p:txBody>
      </p:sp>
      <p:graphicFrame>
        <p:nvGraphicFramePr>
          <p:cNvPr id="17" name="Table 6"/>
          <p:cNvGraphicFramePr/>
          <p:nvPr/>
        </p:nvGraphicFramePr>
        <p:xfrm>
          <a:off xmlns:a="http://schemas.openxmlformats.org/drawingml/2006/main" x="5410120" y="1550000"/>
          <a:ext xmlns:a="http://schemas.openxmlformats.org/drawingml/2006/main" cx="6453878" cy="2562000"/>
        </p:xfrm>
        <a:graphic xmlns:a="http://schemas.openxmlformats.org/drawingml/2006/main">
          <a:graphicData uri="http://schemas.openxmlformats.org/drawingml/2006/table">
            <a:tbl>
              <a:tblPr firstRow="1" bandRow="0">
                <a:tableStyleId>{5940675A-B579-460E-94D1-54222C63F5DA}</a:tableStyleId>
              </a:tblPr>
              <a:tblGrid>
                <a:gridCol w="2194319"/>
                <a:gridCol w="1419853"/>
                <a:gridCol w="1419853"/>
                <a:gridCol w="1419853"/>
              </a:tblGrid>
              <a:tr h="322000">
                <a:tc>
                  <a:txBody>
                    <a:bodyPr/>
                    <a:lstStyle/>
                    <a:p>
                      <a:pPr algn="l">
                        <a:buNone/>
                      </a:pPr>
                      <a:r>
                        <a:rPr sz="1000" b="1">
                          <a:solidFill>
                            <a:srgbClr val="FFFFFF"/>
                          </a:solidFill>
                          <a:latin typeface="Calibri"/>
                          <a:ea typeface="Calibri"/>
                          <a:cs typeface="Calibri"/>
                        </a:rPr>
                        <a:t>Malware type</a:t>
                      </a:r>
                    </a:p>
                  </a:txBody>
                  <a:tcPr marL="45720" marR="45720" marT="27432" marB="27432" anchor="ctr">
                    <a:solidFill>
                      <a:srgbClr val="1E2761"/>
                    </a:solidFill>
                  </a:tcPr>
                </a:tc>
                <a:tc>
                  <a:txBody>
                    <a:bodyPr/>
                    <a:lstStyle/>
                    <a:p>
                      <a:pPr algn="ctr">
                        <a:buNone/>
                      </a:pPr>
                      <a:r>
                        <a:rPr sz="1000" b="1">
                          <a:solidFill>
                            <a:srgbClr val="FFFFFF"/>
                          </a:solidFill>
                          <a:latin typeface="Calibri"/>
                          <a:ea typeface="Calibri"/>
                          <a:cs typeface="Calibri"/>
                        </a:rPr>
                        <a:t>Precision</a:t>
                      </a:r>
                    </a:p>
                  </a:txBody>
                  <a:tcPr marL="45720" marR="45720" marT="27432" marB="27432" anchor="ctr">
                    <a:solidFill>
                      <a:srgbClr val="1E2761"/>
                    </a:solidFill>
                  </a:tcPr>
                </a:tc>
                <a:tc>
                  <a:txBody>
                    <a:bodyPr/>
                    <a:lstStyle/>
                    <a:p>
                      <a:pPr algn="ctr">
                        <a:buNone/>
                      </a:pPr>
                      <a:r>
                        <a:rPr sz="1000" b="1">
                          <a:solidFill>
                            <a:srgbClr val="FFFFFF"/>
                          </a:solidFill>
                          <a:latin typeface="Calibri"/>
                          <a:ea typeface="Calibri"/>
                          <a:cs typeface="Calibri"/>
                        </a:rPr>
                        <a:t>Recall</a:t>
                      </a:r>
                    </a:p>
                  </a:txBody>
                  <a:tcPr marL="45720" marR="45720" marT="27432" marB="27432" anchor="ctr">
                    <a:solidFill>
                      <a:srgbClr val="1E2761"/>
                    </a:solidFill>
                  </a:tcPr>
                </a:tc>
                <a:tc>
                  <a:txBody>
                    <a:bodyPr/>
                    <a:lstStyle/>
                    <a:p>
                      <a:pPr algn="ctr">
                        <a:buNone/>
                      </a:pPr>
                      <a:r>
                        <a:rPr sz="1000" b="1">
                          <a:solidFill>
                            <a:srgbClr val="FFFFFF"/>
                          </a:solidFill>
                          <a:latin typeface="Calibri"/>
                          <a:ea typeface="Calibri"/>
                          <a:cs typeface="Calibri"/>
                        </a:rPr>
                        <a:t>F1</a:t>
                      </a:r>
                    </a:p>
                  </a:txBody>
                  <a:tcPr marL="45720" marR="45720" marT="27432" marB="27432" anchor="ctr">
                    <a:solidFill>
                      <a:srgbClr val="1E2761"/>
                    </a:solidFill>
                  </a:tcPr>
                </a:tc>
              </a:tr>
              <a:tr h="280000">
                <a:tc>
                  <a:txBody>
                    <a:bodyPr/>
                    <a:lstStyle/>
                    <a:p>
                      <a:pPr algn="l">
                        <a:buNone/>
                      </a:pPr>
                      <a:r>
                        <a:rPr sz="1000">
                          <a:solidFill>
                            <a:srgbClr val="1B1F2A"/>
                          </a:solidFill>
                          <a:latin typeface="Calibri"/>
                          <a:ea typeface="Calibri"/>
                          <a:cs typeface="Calibri"/>
                        </a:rPr>
                        <a:t>Adware</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0.935</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0.749</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0.830</a:t>
                      </a:r>
                    </a:p>
                  </a:txBody>
                  <a:tcPr marL="45720" marR="45720" marT="27432" marB="27432" anchor="ctr">
                    <a:solidFill>
                      <a:srgbClr val="FFFFFF"/>
                    </a:solidFill>
                  </a:tcPr>
                </a:tc>
              </a:tr>
              <a:tr h="280000">
                <a:tc>
                  <a:txBody>
                    <a:bodyPr/>
                    <a:lstStyle/>
                    <a:p>
                      <a:pPr algn="l">
                        <a:buNone/>
                      </a:pPr>
                      <a:r>
                        <a:rPr sz="1000">
                          <a:solidFill>
                            <a:srgbClr val="1B1F2A"/>
                          </a:solidFill>
                          <a:latin typeface="Calibri"/>
                          <a:ea typeface="Calibri"/>
                          <a:cs typeface="Calibri"/>
                        </a:rPr>
                        <a:t>Virus</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0.883</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0.837</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0.859</a:t>
                      </a:r>
                    </a:p>
                  </a:txBody>
                  <a:tcPr marL="45720" marR="45720" marT="27432" marB="27432" anchor="ctr">
                    <a:solidFill>
                      <a:srgbClr val="F4F6FB"/>
                    </a:solidFill>
                  </a:tcPr>
                </a:tc>
              </a:tr>
              <a:tr h="280000">
                <a:tc>
                  <a:txBody>
                    <a:bodyPr/>
                    <a:lstStyle/>
                    <a:p>
                      <a:pPr algn="l">
                        <a:buNone/>
                      </a:pPr>
                      <a:r>
                        <a:rPr sz="1000">
                          <a:solidFill>
                            <a:srgbClr val="1B1F2A"/>
                          </a:solidFill>
                          <a:latin typeface="Calibri"/>
                          <a:ea typeface="Calibri"/>
                          <a:cs typeface="Calibri"/>
                        </a:rPr>
                        <a:t>Downloader</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0.762</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0.758</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0.759</a:t>
                      </a:r>
                    </a:p>
                  </a:txBody>
                  <a:tcPr marL="45720" marR="45720" marT="27432" marB="27432" anchor="ctr">
                    <a:solidFill>
                      <a:srgbClr val="FFFFFF"/>
                    </a:solidFill>
                  </a:tcPr>
                </a:tc>
              </a:tr>
              <a:tr h="280000">
                <a:tc>
                  <a:txBody>
                    <a:bodyPr/>
                    <a:lstStyle/>
                    <a:p>
                      <a:pPr algn="l">
                        <a:buNone/>
                      </a:pPr>
                      <a:r>
                        <a:rPr sz="1000">
                          <a:solidFill>
                            <a:srgbClr val="1B1F2A"/>
                          </a:solidFill>
                          <a:latin typeface="Calibri"/>
                          <a:ea typeface="Calibri"/>
                          <a:cs typeface="Calibri"/>
                        </a:rPr>
                        <a:t>Backdoor</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0.687</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0.687</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0.686</a:t>
                      </a:r>
                    </a:p>
                  </a:txBody>
                  <a:tcPr marL="45720" marR="45720" marT="27432" marB="27432" anchor="ctr">
                    <a:solidFill>
                      <a:srgbClr val="F4F6FB"/>
                    </a:solidFill>
                  </a:tcPr>
                </a:tc>
              </a:tr>
              <a:tr h="280000">
                <a:tc>
                  <a:txBody>
                    <a:bodyPr/>
                    <a:lstStyle/>
                    <a:p>
                      <a:pPr algn="l">
                        <a:buNone/>
                      </a:pPr>
                      <a:r>
                        <a:rPr sz="1000">
                          <a:solidFill>
                            <a:srgbClr val="1B1F2A"/>
                          </a:solidFill>
                          <a:latin typeface="Calibri"/>
                          <a:ea typeface="Calibri"/>
                          <a:cs typeface="Calibri"/>
                        </a:rPr>
                        <a:t>Worms</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0.627</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0.649</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0.637</a:t>
                      </a:r>
                    </a:p>
                  </a:txBody>
                  <a:tcPr marL="45720" marR="45720" marT="27432" marB="27432" anchor="ctr">
                    <a:solidFill>
                      <a:srgbClr val="FFFFFF"/>
                    </a:solidFill>
                  </a:tcPr>
                </a:tc>
              </a:tr>
              <a:tr h="280000">
                <a:tc>
                  <a:txBody>
                    <a:bodyPr/>
                    <a:lstStyle/>
                    <a:p>
                      <a:pPr algn="l">
                        <a:buNone/>
                      </a:pPr>
                      <a:r>
                        <a:rPr sz="1000">
                          <a:solidFill>
                            <a:srgbClr val="1B1F2A"/>
                          </a:solidFill>
                          <a:latin typeface="Calibri"/>
                          <a:ea typeface="Calibri"/>
                          <a:cs typeface="Calibri"/>
                        </a:rPr>
                        <a:t>Dropper</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0.601</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0.668</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0.633</a:t>
                      </a:r>
                    </a:p>
                  </a:txBody>
                  <a:tcPr marL="45720" marR="45720" marT="27432" marB="27432" anchor="ctr">
                    <a:solidFill>
                      <a:srgbClr val="F4F6FB"/>
                    </a:solidFill>
                  </a:tcPr>
                </a:tc>
              </a:tr>
              <a:tr h="280000">
                <a:tc>
                  <a:txBody>
                    <a:bodyPr/>
                    <a:lstStyle/>
                    <a:p>
                      <a:pPr algn="l">
                        <a:buNone/>
                      </a:pPr>
                      <a:r>
                        <a:rPr sz="1000">
                          <a:solidFill>
                            <a:srgbClr val="1B1F2A"/>
                          </a:solidFill>
                          <a:latin typeface="Calibri"/>
                          <a:ea typeface="Calibri"/>
                          <a:cs typeface="Calibri"/>
                        </a:rPr>
                        <a:t>Spyware</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0.561</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0.528</a:t>
                      </a:r>
                    </a:p>
                  </a:txBody>
                  <a:tcPr marL="45720" marR="45720" marT="27432" marB="27432" anchor="ctr">
                    <a:solidFill>
                      <a:srgbClr val="FFFFFF"/>
                    </a:solidFill>
                  </a:tcPr>
                </a:tc>
                <a:tc>
                  <a:txBody>
                    <a:bodyPr/>
                    <a:lstStyle/>
                    <a:p>
                      <a:pPr algn="ctr">
                        <a:buNone/>
                      </a:pPr>
                      <a:r>
                        <a:rPr sz="1000">
                          <a:solidFill>
                            <a:srgbClr val="1B1F2A"/>
                          </a:solidFill>
                          <a:latin typeface="Calibri"/>
                          <a:ea typeface="Calibri"/>
                          <a:cs typeface="Calibri"/>
                        </a:rPr>
                        <a:t>0.542</a:t>
                      </a:r>
                    </a:p>
                  </a:txBody>
                  <a:tcPr marL="45720" marR="45720" marT="27432" marB="27432" anchor="ctr">
                    <a:solidFill>
                      <a:srgbClr val="FFFFFF"/>
                    </a:solidFill>
                  </a:tcPr>
                </a:tc>
              </a:tr>
              <a:tr h="280000">
                <a:tc>
                  <a:txBody>
                    <a:bodyPr/>
                    <a:lstStyle/>
                    <a:p>
                      <a:pPr algn="l">
                        <a:buNone/>
                      </a:pPr>
                      <a:r>
                        <a:rPr sz="1000">
                          <a:solidFill>
                            <a:srgbClr val="1B1F2A"/>
                          </a:solidFill>
                          <a:latin typeface="Calibri"/>
                          <a:ea typeface="Calibri"/>
                          <a:cs typeface="Calibri"/>
                        </a:rPr>
                        <a:t>Trojan</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0.511</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0.539</a:t>
                      </a:r>
                    </a:p>
                  </a:txBody>
                  <a:tcPr marL="45720" marR="45720" marT="27432" marB="27432" anchor="ctr">
                    <a:solidFill>
                      <a:srgbClr val="F4F6FB"/>
                    </a:solidFill>
                  </a:tcPr>
                </a:tc>
                <a:tc>
                  <a:txBody>
                    <a:bodyPr/>
                    <a:lstStyle/>
                    <a:p>
                      <a:pPr algn="ctr">
                        <a:buNone/>
                      </a:pPr>
                      <a:r>
                        <a:rPr sz="1000">
                          <a:solidFill>
                            <a:srgbClr val="1B1F2A"/>
                          </a:solidFill>
                          <a:latin typeface="Calibri"/>
                          <a:ea typeface="Calibri"/>
                          <a:cs typeface="Calibri"/>
                        </a:rPr>
                        <a:t>0.523</a:t>
                      </a:r>
                    </a:p>
                  </a:txBody>
                  <a:tcPr marL="45720" marR="45720" marT="27432" marB="27432" anchor="ctr">
                    <a:solidFill>
                      <a:srgbClr val="F4F6FB"/>
                    </a:solidFill>
                  </a:tcPr>
                </a:tc>
              </a:tr>
            </a:tbl>
          </a:graphicData>
        </a:graphic>
      </p:graphicFrame>
      <p:sp>
        <p:nvSpPr>
          <p:cNvPr id="7" name="Shape 7">
            <a:extLst xmlns:a="http://schemas.openxmlformats.org/drawingml/2006/main">
              <a:ext uri="{FF2B5EF4-FFF2-40B4-BE49-F238E27FC236}">
                <a16:creationId xmlns:a16="http://schemas.microsoft.com/office/drawing/2014/main" id="{20B5FC58-33E9-4924-9868-E77C2A227BE2}"/>
              </a:ext>
            </a:extLst>
          </p:cNvPr>
          <p:cNvSpPr>
            <a:spLocks xmlns:a="http://schemas.openxmlformats.org/drawingml/2006/main" noGrp="1"/>
          </p:cNvSpPr>
          <p:nvPr/>
        </p:nvSpPr>
        <p:spPr>
          <a:xfrm xmlns:a="http://schemas.openxmlformats.org/drawingml/2006/main">
            <a:off x="5410120" y="4340600"/>
            <a:ext cx="6453878" cy="1900000"/>
          </a:xfrm>
          <a:prstGeom xmlns:a="http://schemas.openxmlformats.org/drawingml/2006/main" prst="roundRect">
            <a:avLst>
              <a:gd name="adj" fmla="val 4706"/>
            </a:avLst>
          </a:prstGeom>
          <a:solidFill xmlns:a="http://schemas.openxmlformats.org/drawingml/2006/main">
            <a:srgbClr val="F4F6FB"/>
          </a:solidFill>
        </p:spPr>
        <p:txBody>
          <a:bodyPr xmlns:a="http://schemas.openxmlformats.org/drawingml/2006/main"/>
          <a:lstStyle xmlns:a="http://schemas.openxmlformats.org/drawingml/2006/main"/>
          <a:p xmlns:a="http://schemas.openxmlformats.org/drawingml/2006/main">
            <a:endParaRPr/>
          </a:p>
        </p:txBody>
      </p:sp>
      <p:sp>
        <p:nvSpPr>
          <p:cNvPr id="8" name="Text 8">
            <a:extLst xmlns:a="http://schemas.openxmlformats.org/drawingml/2006/main">
              <a:ext uri="{FF2B5EF4-FFF2-40B4-BE49-F238E27FC236}">
                <a16:creationId xmlns:a16="http://schemas.microsoft.com/office/drawing/2014/main" id="{8E797B78-EE9D-43B0-AE8D-FA2558D93672}"/>
              </a:ext>
            </a:extLst>
          </p:cNvPr>
          <p:cNvSpPr>
            <a:spLocks xmlns:a="http://schemas.openxmlformats.org/drawingml/2006/main" noGrp="1"/>
          </p:cNvSpPr>
          <p:nvPr/>
        </p:nvSpPr>
        <p:spPr>
          <a:xfrm xmlns:a="http://schemas.openxmlformats.org/drawingml/2006/main">
            <a:off x="5684440" y="4477760"/>
            <a:ext cx="5905238"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E2761"/>
                </a:solidFill>
                <a:latin typeface="Cambria"/>
                <a:ea typeface="Cambria"/>
                <a:cs typeface="Cambria"/>
              </a:rPr>
              <a:t>Observed errors</a:t>
            </a:r>
          </a:p>
        </p:txBody>
      </p:sp>
      <p:sp>
        <p:nvSpPr>
          <p:cNvPr id="9" name="Text 9">
            <a:extLst xmlns:a="http://schemas.openxmlformats.org/drawingml/2006/main">
              <a:ext uri="{FF2B5EF4-FFF2-40B4-BE49-F238E27FC236}">
                <a16:creationId xmlns:a16="http://schemas.microsoft.com/office/drawing/2014/main" id="{83FC1569-FF39-4B90-AF87-3EABA1ED276C}"/>
              </a:ext>
            </a:extLst>
          </p:cNvPr>
          <p:cNvSpPr>
            <a:spLocks xmlns:a="http://schemas.openxmlformats.org/drawingml/2006/main" noGrp="1"/>
          </p:cNvSpPr>
          <p:nvPr/>
        </p:nvSpPr>
        <p:spPr>
          <a:xfrm xmlns:a="http://schemas.openxmlformats.org/drawingml/2006/main">
            <a:off x="5684440" y="4797800"/>
            <a:ext cx="5905238" cy="1305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100">
                <a:solidFill>
                  <a:srgbClr val="1B1F2A"/>
                </a:solidFill>
                <a:latin typeface="Calibri"/>
                <a:ea typeface="Calibri"/>
                <a:cs typeface="Calibri"/>
              </a:rPr>
              <a:t>Virus and Adware have the highest mean F1 (0.859 and 0.830). Trojan and Spyware have the lowest (0.523 and 0.542). The confusion matrix locates errors, but does not establish their behavioral cause.</a:t>
            </a:r>
          </a:p>
        </p:txBody>
      </p:sp>
      <p:sp>
        <p:nvSpPr>
          <p:cNvPr id="10" name="Text 10">
            <a:extLst xmlns:a="http://schemas.openxmlformats.org/drawingml/2006/main">
              <a:ext uri="{FF2B5EF4-FFF2-40B4-BE49-F238E27FC236}">
                <a16:creationId xmlns:a16="http://schemas.microsoft.com/office/drawing/2014/main" id="{27D1D4A0-EE2B-437B-B9A8-C0B644D76CBC}"/>
              </a:ext>
            </a:extLst>
          </p:cNvPr>
          <p:cNvSpPr>
            <a:spLocks xmlns:a="http://schemas.openxmlformats.org/drawingml/2006/main" noGrp="1"/>
          </p:cNvSpPr>
          <p:nvPr/>
        </p:nvSpPr>
        <p:spPr>
          <a:xfrm xmlns:a="http://schemas.openxmlformats.org/drawingml/2006/main">
            <a:off x="11521440" y="6446520"/>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5B6472"/>
                </a:solidFill>
                <a:latin typeface="Calibri"/>
                <a:ea typeface="Calibri"/>
                <a:cs typeface="Calibri"/>
              </a:rPr>
              <a:t>8</a:t>
            </a:r>
          </a:p>
        </p:txBody>
      </p:sp>
    </p:spTree>
    <p:extLst>
      <p:ext uri="{BB962C8B-B14F-4D97-AF65-F5344CB8AC3E}">
        <p14:creationId xmlns:p14="http://schemas.microsoft.com/office/powerpoint/2010/main" val="112500502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2">
            <a:extLst xmlns:a="http://schemas.openxmlformats.org/drawingml/2006/main">
              <a:ext uri="{FF2B5EF4-FFF2-40B4-BE49-F238E27FC236}">
                <a16:creationId xmlns:a16="http://schemas.microsoft.com/office/drawing/2014/main" id="{ECFB7952-7FB7-4959-B6F6-5BDD638F6523}"/>
              </a:ext>
            </a:extLst>
          </p:cNvPr>
          <p:cNvSpPr>
            <a:spLocks xmlns:a="http://schemas.openxmlformats.org/drawingml/2006/main" noGrp="1"/>
          </p:cNvSpPr>
          <p:nvPr/>
        </p:nvSpPr>
        <p:spPr>
          <a:xfrm xmlns:a="http://schemas.openxmlformats.org/drawingml/2006/main">
            <a:off x="548640" y="365760"/>
            <a:ext cx="105156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spc="200">
                <a:solidFill>
                  <a:srgbClr val="1E2761"/>
                </a:solidFill>
                <a:latin typeface="Calibri"/>
                <a:ea typeface="Calibri"/>
                <a:cs typeface="Calibri"/>
              </a:rPr>
              <a:t>4. RESULTS</a:t>
            </a:r>
          </a:p>
        </p:txBody>
      </p:sp>
      <p:sp>
        <p:nvSpPr>
          <p:cNvPr id="3" name="Text 3">
            <a:extLst xmlns:a="http://schemas.openxmlformats.org/drawingml/2006/main">
              <a:ext uri="{FF2B5EF4-FFF2-40B4-BE49-F238E27FC236}">
                <a16:creationId xmlns:a16="http://schemas.microsoft.com/office/drawing/2014/main" id="{BFEBBE3A-C82C-402B-AC18-997B0B5281B1}"/>
              </a:ext>
            </a:extLst>
          </p:cNvPr>
          <p:cNvSpPr>
            <a:spLocks xmlns:a="http://schemas.openxmlformats.org/drawingml/2006/main" noGrp="1"/>
          </p:cNvSpPr>
          <p:nvPr/>
        </p:nvSpPr>
        <p:spPr>
          <a:xfrm xmlns:a="http://schemas.openxmlformats.org/drawingml/2006/main">
            <a:off x="548640" y="685800"/>
            <a:ext cx="1131560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B1F2A"/>
                </a:solidFill>
                <a:latin typeface="Cambria"/>
                <a:ea typeface="Cambria"/>
                <a:cs typeface="Cambria"/>
              </a:rPr>
              <a:t>Feature, weighting and ensemble comparisons</a:t>
            </a:r>
          </a:p>
        </p:txBody>
      </p:sp>
      <p:pic>
        <p:nvPicPr>
          <p:cNvPr id="18" name="Image 4"/>
          <p:cNvPicPr>
            <a:picLocks xmlns:a="http://schemas.openxmlformats.org/drawingml/2006/main" noChangeAspect="1"/>
          </p:cNvPicPr>
          <p:nvPr/>
        </p:nvPicPr>
        <p:blipFill>
          <a:blip xmlns:r="http://schemas.openxmlformats.org/officeDocument/2006/relationships" xmlns:a="http://schemas.openxmlformats.org/drawingml/2006/main" r:embed="R4cc508b9cad346f9"/>
          <a:stretch xmlns:a="http://schemas.openxmlformats.org/drawingml/2006/main">
            <a:fillRect l="0" t="0" r="0" b="0"/>
          </a:stretch>
        </p:blipFill>
        <p:spPr>
          <a:xfrm xmlns:a="http://schemas.openxmlformats.org/drawingml/2006/main">
            <a:off x="548640" y="1550000"/>
            <a:ext cx="6350000" cy="3124467"/>
          </a:xfrm>
          <a:prstGeom xmlns:a="http://schemas.openxmlformats.org/drawingml/2006/main" prst="rect">
            <a:avLst/>
          </a:prstGeom>
        </p:spPr>
      </p:pic>
      <p:sp>
        <p:nvSpPr>
          <p:cNvPr id="5" name="Shape 5">
            <a:extLst xmlns:a="http://schemas.openxmlformats.org/drawingml/2006/main">
              <a:ext uri="{FF2B5EF4-FFF2-40B4-BE49-F238E27FC236}">
                <a16:creationId xmlns:a16="http://schemas.microsoft.com/office/drawing/2014/main" id="{C758309E-BC16-4FC6-A1C7-6985880803B9}"/>
              </a:ext>
            </a:extLst>
          </p:cNvPr>
          <p:cNvSpPr>
            <a:spLocks xmlns:a="http://schemas.openxmlformats.org/drawingml/2006/main" noGrp="1"/>
          </p:cNvSpPr>
          <p:nvPr/>
        </p:nvSpPr>
        <p:spPr>
          <a:xfrm xmlns:a="http://schemas.openxmlformats.org/drawingml/2006/main">
            <a:off x="7172960" y="1550000"/>
            <a:ext cx="4691040" cy="3124467"/>
          </a:xfrm>
          <a:prstGeom xmlns:a="http://schemas.openxmlformats.org/drawingml/2006/main" prst="roundRect">
            <a:avLst>
              <a:gd name="adj" fmla="val 4706"/>
            </a:avLst>
          </a:prstGeom>
          <a:solidFill xmlns:a="http://schemas.openxmlformats.org/drawingml/2006/main">
            <a:srgbClr val="F4F6FB"/>
          </a:solidFill>
        </p:spPr>
        <p:txBody>
          <a:bodyPr xmlns:a="http://schemas.openxmlformats.org/drawingml/2006/main"/>
          <a:lstStyle xmlns:a="http://schemas.openxmlformats.org/drawingml/2006/main"/>
          <a:p xmlns:a="http://schemas.openxmlformats.org/drawingml/2006/main">
            <a:endParaRPr/>
          </a:p>
        </p:txBody>
      </p:sp>
      <p:sp>
        <p:nvSpPr>
          <p:cNvPr id="6" name="Text 6">
            <a:extLst xmlns:a="http://schemas.openxmlformats.org/drawingml/2006/main">
              <a:ext uri="{FF2B5EF4-FFF2-40B4-BE49-F238E27FC236}">
                <a16:creationId xmlns:a16="http://schemas.microsoft.com/office/drawing/2014/main" id="{A20B33D5-A95E-4127-A64B-1B62B3A25085}"/>
              </a:ext>
            </a:extLst>
          </p:cNvPr>
          <p:cNvSpPr>
            <a:spLocks xmlns:a="http://schemas.openxmlformats.org/drawingml/2006/main" noGrp="1"/>
          </p:cNvSpPr>
          <p:nvPr/>
        </p:nvSpPr>
        <p:spPr>
          <a:xfrm xmlns:a="http://schemas.openxmlformats.org/drawingml/2006/main">
            <a:off x="7447280" y="1687160"/>
            <a:ext cx="41424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E2761"/>
                </a:solidFill>
                <a:latin typeface="Cambria"/>
                <a:ea typeface="Cambria"/>
                <a:cs typeface="Cambria"/>
              </a:rPr>
              <a:t>Small overall changes from class weighting</a:t>
            </a:r>
          </a:p>
        </p:txBody>
      </p:sp>
      <p:sp>
        <p:nvSpPr>
          <p:cNvPr id="7" name="Text 7">
            <a:extLst xmlns:a="http://schemas.openxmlformats.org/drawingml/2006/main">
              <a:ext uri="{FF2B5EF4-FFF2-40B4-BE49-F238E27FC236}">
                <a16:creationId xmlns:a16="http://schemas.microsoft.com/office/drawing/2014/main" id="{526444EF-6F97-44E6-9E0D-9480253CACB6}"/>
              </a:ext>
            </a:extLst>
          </p:cNvPr>
          <p:cNvSpPr>
            <a:spLocks xmlns:a="http://schemas.openxmlformats.org/drawingml/2006/main" noGrp="1"/>
          </p:cNvSpPr>
          <p:nvPr/>
        </p:nvSpPr>
        <p:spPr>
          <a:xfrm xmlns:a="http://schemas.openxmlformats.org/drawingml/2006/main">
            <a:off x="7447280" y="2007200"/>
            <a:ext cx="4142400" cy="2530107"/>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100">
                <a:solidFill>
                  <a:srgbClr val="1B1F2A"/>
                </a:solidFill>
                <a:latin typeface="Calibri"/>
                <a:ea typeface="Calibri"/>
                <a:cs typeface="Calibri"/>
              </a:rPr>
              <a:t>Weighted minus unweighted macro-F1 ranges from −0.0017 to +0.0036 across models. These small mean differences do not establish equivalence or statistical insignificance. Per-category trade-offs remain relevant.</a:t>
            </a:r>
          </a:p>
        </p:txBody>
      </p:sp>
      <p:sp>
        <p:nvSpPr>
          <p:cNvPr id="8" name="Shape 8">
            <a:extLst xmlns:a="http://schemas.openxmlformats.org/drawingml/2006/main">
              <a:ext uri="{FF2B5EF4-FFF2-40B4-BE49-F238E27FC236}">
                <a16:creationId xmlns:a16="http://schemas.microsoft.com/office/drawing/2014/main" id="{30679A67-6652-4F9F-BA5D-93B6796042CF}"/>
              </a:ext>
            </a:extLst>
          </p:cNvPr>
          <p:cNvSpPr>
            <a:spLocks xmlns:a="http://schemas.openxmlformats.org/drawingml/2006/main" noGrp="1"/>
          </p:cNvSpPr>
          <p:nvPr/>
        </p:nvSpPr>
        <p:spPr>
          <a:xfrm xmlns:a="http://schemas.openxmlformats.org/drawingml/2006/main">
            <a:off x="548640" y="4948787"/>
            <a:ext cx="6350000" cy="1400000"/>
          </a:xfrm>
          <a:prstGeom xmlns:a="http://schemas.openxmlformats.org/drawingml/2006/main" prst="roundRect">
            <a:avLst>
              <a:gd name="adj" fmla="val 4706"/>
            </a:avLst>
          </a:prstGeom>
          <a:solidFill xmlns:a="http://schemas.openxmlformats.org/drawingml/2006/main">
            <a:srgbClr val="FBF3D9"/>
          </a:solidFill>
        </p:spPr>
        <p:txBody>
          <a:bodyPr xmlns:a="http://schemas.openxmlformats.org/drawingml/2006/main"/>
          <a:lstStyle xmlns:a="http://schemas.openxmlformats.org/drawingml/2006/main"/>
          <a:p xmlns:a="http://schemas.openxmlformats.org/drawingml/2006/main">
            <a:endParaRPr/>
          </a:p>
        </p:txBody>
      </p:sp>
      <p:sp>
        <p:nvSpPr>
          <p:cNvPr id="9" name="Text 9">
            <a:extLst xmlns:a="http://schemas.openxmlformats.org/drawingml/2006/main">
              <a:ext uri="{FF2B5EF4-FFF2-40B4-BE49-F238E27FC236}">
                <a16:creationId xmlns:a16="http://schemas.microsoft.com/office/drawing/2014/main" id="{A19F9E0A-C5DD-4669-96D0-FE52715B3341}"/>
              </a:ext>
            </a:extLst>
          </p:cNvPr>
          <p:cNvSpPr>
            <a:spLocks xmlns:a="http://schemas.openxmlformats.org/drawingml/2006/main" noGrp="1"/>
          </p:cNvSpPr>
          <p:nvPr/>
        </p:nvSpPr>
        <p:spPr>
          <a:xfrm xmlns:a="http://schemas.openxmlformats.org/drawingml/2006/main">
            <a:off x="822960" y="5085947"/>
            <a:ext cx="580136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8A6D00"/>
                </a:solidFill>
                <a:latin typeface="Cambria"/>
                <a:ea typeface="Cambria"/>
                <a:cs typeface="Cambria"/>
              </a:rPr>
              <a:t>Soft voting does not beat XGBoost on average</a:t>
            </a:r>
          </a:p>
        </p:txBody>
      </p:sp>
      <p:sp>
        <p:nvSpPr>
          <p:cNvPr id="10" name="Text 10">
            <a:extLst xmlns:a="http://schemas.openxmlformats.org/drawingml/2006/main">
              <a:ext uri="{FF2B5EF4-FFF2-40B4-BE49-F238E27FC236}">
                <a16:creationId xmlns:a16="http://schemas.microsoft.com/office/drawing/2014/main" id="{1AA60A50-828D-4013-8D64-FD59B13B029B}"/>
              </a:ext>
            </a:extLst>
          </p:cNvPr>
          <p:cNvSpPr>
            <a:spLocks xmlns:a="http://schemas.openxmlformats.org/drawingml/2006/main" noGrp="1"/>
          </p:cNvSpPr>
          <p:nvPr/>
        </p:nvSpPr>
        <p:spPr>
          <a:xfrm xmlns:a="http://schemas.openxmlformats.org/drawingml/2006/main">
            <a:off x="822960" y="5405987"/>
            <a:ext cx="5801360" cy="805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100">
                <a:solidFill>
                  <a:srgbClr val="1B1F2A"/>
                </a:solidFill>
                <a:latin typeface="Calibri"/>
                <a:ea typeface="Calibri"/>
                <a:cs typeface="Calibri"/>
              </a:rPr>
              <a:t>XGBoost has higher mean accuracy and macro-F1 in all three configurations. With unweighted 1–3 grams, macro-F1 is 0.6837 for XGBoost and 0.6761 for soft voting.</a:t>
            </a:r>
          </a:p>
        </p:txBody>
      </p:sp>
      <p:sp>
        <p:nvSpPr>
          <p:cNvPr id="11" name="Shape 11">
            <a:extLst xmlns:a="http://schemas.openxmlformats.org/drawingml/2006/main">
              <a:ext uri="{FF2B5EF4-FFF2-40B4-BE49-F238E27FC236}">
                <a16:creationId xmlns:a16="http://schemas.microsoft.com/office/drawing/2014/main" id="{43347363-0FA2-4493-BEDD-836D7191EB1E}"/>
              </a:ext>
            </a:extLst>
          </p:cNvPr>
          <p:cNvSpPr>
            <a:spLocks xmlns:a="http://schemas.openxmlformats.org/drawingml/2006/main" noGrp="1"/>
          </p:cNvSpPr>
          <p:nvPr/>
        </p:nvSpPr>
        <p:spPr>
          <a:xfrm xmlns:a="http://schemas.openxmlformats.org/drawingml/2006/main">
            <a:off x="7172960" y="4948787"/>
            <a:ext cx="4691040" cy="1400000"/>
          </a:xfrm>
          <a:prstGeom xmlns:a="http://schemas.openxmlformats.org/drawingml/2006/main" prst="roundRect">
            <a:avLst>
              <a:gd name="adj" fmla="val 4706"/>
            </a:avLst>
          </a:prstGeom>
          <a:solidFill xmlns:a="http://schemas.openxmlformats.org/drawingml/2006/main">
            <a:srgbClr val="E8F5EE"/>
          </a:solidFill>
        </p:spPr>
        <p:txBody>
          <a:bodyPr xmlns:a="http://schemas.openxmlformats.org/drawingml/2006/main"/>
          <a:lstStyle xmlns:a="http://schemas.openxmlformats.org/drawingml/2006/main"/>
          <a:p xmlns:a="http://schemas.openxmlformats.org/drawingml/2006/main">
            <a:endParaRPr/>
          </a:p>
        </p:txBody>
      </p:sp>
      <p:sp>
        <p:nvSpPr>
          <p:cNvPr id="12" name="Text 12">
            <a:extLst xmlns:a="http://schemas.openxmlformats.org/drawingml/2006/main">
              <a:ext uri="{FF2B5EF4-FFF2-40B4-BE49-F238E27FC236}">
                <a16:creationId xmlns:a16="http://schemas.microsoft.com/office/drawing/2014/main" id="{F396080D-1855-45FC-9DF8-6EAE91F5ABB6}"/>
              </a:ext>
            </a:extLst>
          </p:cNvPr>
          <p:cNvSpPr>
            <a:spLocks xmlns:a="http://schemas.openxmlformats.org/drawingml/2006/main" noGrp="1"/>
          </p:cNvSpPr>
          <p:nvPr/>
        </p:nvSpPr>
        <p:spPr>
          <a:xfrm xmlns:a="http://schemas.openxmlformats.org/drawingml/2006/main">
            <a:off x="7447280" y="5085947"/>
            <a:ext cx="41424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E7A4C"/>
                </a:solidFill>
                <a:latin typeface="Cambria"/>
                <a:ea typeface="Cambria"/>
                <a:cs typeface="Cambria"/>
              </a:rPr>
              <a:t>Local n-gram features improve observed means</a:t>
            </a:r>
          </a:p>
        </p:txBody>
      </p:sp>
      <p:sp>
        <p:nvSpPr>
          <p:cNvPr id="13" name="Text 13">
            <a:extLst xmlns:a="http://schemas.openxmlformats.org/drawingml/2006/main">
              <a:ext uri="{FF2B5EF4-FFF2-40B4-BE49-F238E27FC236}">
                <a16:creationId xmlns:a16="http://schemas.microsoft.com/office/drawing/2014/main" id="{7DCD0D3F-56C1-4B8E-9454-E2C59305BB46}"/>
              </a:ext>
            </a:extLst>
          </p:cNvPr>
          <p:cNvSpPr>
            <a:spLocks xmlns:a="http://schemas.openxmlformats.org/drawingml/2006/main" noGrp="1"/>
          </p:cNvSpPr>
          <p:nvPr/>
        </p:nvSpPr>
        <p:spPr>
          <a:xfrm xmlns:a="http://schemas.openxmlformats.org/drawingml/2006/main">
            <a:off x="7447280" y="5405987"/>
            <a:ext cx="4142400" cy="805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100">
                <a:solidFill>
                  <a:srgbClr val="1B1F2A"/>
                </a:solidFill>
                <a:latin typeface="Calibri"/>
                <a:ea typeface="Calibri"/>
                <a:cs typeface="Calibri"/>
              </a:rPr>
              <a:t>Weighted XGBoost macro-F1 rises from 0.6500 with unigrams to 0.6836 with combined 1–3 grams: +3.36 percentage points using the same grouped folds.</a:t>
            </a:r>
          </a:p>
        </p:txBody>
      </p:sp>
      <p:sp>
        <p:nvSpPr>
          <p:cNvPr id="14" name="Text 14">
            <a:extLst xmlns:a="http://schemas.openxmlformats.org/drawingml/2006/main">
              <a:ext uri="{FF2B5EF4-FFF2-40B4-BE49-F238E27FC236}">
                <a16:creationId xmlns:a16="http://schemas.microsoft.com/office/drawing/2014/main" id="{8ABAA4AB-032B-4BAB-8D4D-982476A730BF}"/>
              </a:ext>
            </a:extLst>
          </p:cNvPr>
          <p:cNvSpPr>
            <a:spLocks xmlns:a="http://schemas.openxmlformats.org/drawingml/2006/main" noGrp="1"/>
          </p:cNvSpPr>
          <p:nvPr/>
        </p:nvSpPr>
        <p:spPr>
          <a:xfrm xmlns:a="http://schemas.openxmlformats.org/drawingml/2006/main">
            <a:off x="11521440" y="6446520"/>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5B6472"/>
                </a:solidFill>
                <a:latin typeface="Calibri"/>
                <a:ea typeface="Calibri"/>
                <a:cs typeface="Calibri"/>
              </a:rPr>
              <a:t>9</a:t>
            </a:r>
          </a:p>
        </p:txBody>
      </p:sp>
    </p:spTree>
    <p:extLst>
      <p:ext uri="{BB962C8B-B14F-4D97-AF65-F5344CB8AC3E}">
        <p14:creationId xmlns:p14="http://schemas.microsoft.com/office/powerpoint/2010/main" val="12556454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F544A08-1F8E-4927-830E-FD069BA514A3}"/>
              </a:ext>
            </a:extLst>
          </p:cNvPr>
          <p:cNvSpPr>
            <a:spLocks xmlns:a="http://schemas.openxmlformats.org/drawingml/2006/main" noGrp="1"/>
          </p:cNvSpPr>
          <p:nvPr/>
        </p:nvSpPr>
        <p:spPr>
          <a:xfrm xmlns:a="http://schemas.openxmlformats.org/drawingml/2006/main">
            <a:off x="628650" y="40005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20265E"/>
                </a:solidFill>
                <a:latin typeface="Arial"/>
                <a:ea typeface="Arial"/>
                <a:cs typeface="Arial"/>
              </a:defRPr>
            </a:pPr>
            <a:r>
              <a:rPr sz="1350" b="1">
                <a:solidFill>
                  <a:srgbClr val="20265E"/>
                </a:solidFill>
                <a:latin typeface="Arial"/>
                <a:ea typeface="Arial"/>
                <a:cs typeface="Arial"/>
              </a:rPr>
              <a:t>4. RESULTS</a:t>
            </a:r>
          </a:p>
        </p:txBody>
      </p:sp>
      <p:sp>
        <p:nvSpPr>
          <p:cNvPr id="2" name="">
            <a:extLst xmlns:a="http://schemas.openxmlformats.org/drawingml/2006/main">
              <a:ext uri="{FF2B5EF4-FFF2-40B4-BE49-F238E27FC236}">
                <a16:creationId xmlns:a16="http://schemas.microsoft.com/office/drawing/2014/main" id="{BC5DD4C0-B14F-44EB-9FBB-9D106028A27B}"/>
              </a:ext>
            </a:extLst>
          </p:cNvPr>
          <p:cNvSpPr>
            <a:spLocks xmlns:a="http://schemas.openxmlformats.org/drawingml/2006/main" noGrp="1"/>
          </p:cNvSpPr>
          <p:nvPr/>
        </p:nvSpPr>
        <p:spPr>
          <a:xfrm xmlns:a="http://schemas.openxmlformats.org/drawingml/2006/main">
            <a:off x="628650" y="904875"/>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20222D"/>
                </a:solidFill>
                <a:latin typeface="Arial"/>
                <a:ea typeface="Arial"/>
                <a:cs typeface="Arial"/>
              </a:defRPr>
            </a:pPr>
            <a:r>
              <a:rPr sz="2700" b="1">
                <a:solidFill>
                  <a:srgbClr val="20222D"/>
                </a:solidFill>
                <a:latin typeface="Arial"/>
                <a:ea typeface="Arial"/>
                <a:cs typeface="Arial"/>
              </a:rPr>
              <a:t>Random Forest is sensitive to the split protocol</a:t>
            </a:r>
          </a:p>
        </p:txBody>
      </p:sp>
      <p:graphicFrame>
        <p:nvGraphicFramePr>
          <p:cNvPr id="13" name=""/>
          <p:cNvGraphicFramePr/>
          <p:nvPr/>
        </p:nvGraphicFramePr>
        <p:xfrm>
          <a:off xmlns:a="http://schemas.openxmlformats.org/drawingml/2006/main" x="628650" y="1809750"/>
          <a:ext xmlns:a="http://schemas.openxmlformats.org/drawingml/2006/main" cx="10934700" cy="1714500"/>
        </p:xfrm>
        <a:graphic xmlns:a="http://schemas.openxmlformats.org/drawingml/2006/main">
          <a:graphicData uri="http://schemas.openxmlformats.org/drawingml/2006/table">
            <a:tbl>
              <a:tblPr/>
              <a:tblGrid>
                <a:gridCol w="1952625"/>
                <a:gridCol w="2809875"/>
                <a:gridCol w="2857500"/>
                <a:gridCol w="3314700"/>
              </a:tblGrid>
              <a:tr h="571500">
                <a:tc>
                  <a:txBody>
                    <a:bodyPr/>
                    <a:lstStyle/>
                    <a:p>
                      <a:r>
                        <a:rPr sz="1725" b="1">
                          <a:solidFill>
                            <a:srgbClr val="FFFFFF"/>
                          </a:solidFill>
                          <a:latin typeface="Arial"/>
                          <a:ea typeface="Arial"/>
                          <a:cs typeface="Arial"/>
                        </a:rPr>
                        <a:t>Evaluation</a:t>
                      </a:r>
                    </a:p>
                  </a:txBody>
                  <a:tcPr marL="91440" marR="91440" marT="45720" marB="45720">
                    <a:solidFill>
                      <a:srgbClr val="20265E"/>
                    </a:solidFill>
                  </a:tcPr>
                </a:tc>
                <a:tc>
                  <a:txBody>
                    <a:bodyPr/>
                    <a:lstStyle/>
                    <a:p>
                      <a:r>
                        <a:rPr sz="1725" b="1">
                          <a:solidFill>
                            <a:srgbClr val="FFFFFF"/>
                          </a:solidFill>
                          <a:latin typeface="Arial"/>
                          <a:ea typeface="Arial"/>
                          <a:cs typeface="Arial"/>
                        </a:rPr>
                        <a:t>Mean accuracy ± SD</a:t>
                      </a:r>
                    </a:p>
                  </a:txBody>
                  <a:tcPr marL="91440" marR="91440" marT="45720" marB="45720">
                    <a:solidFill>
                      <a:srgbClr val="20265E"/>
                    </a:solidFill>
                  </a:tcPr>
                </a:tc>
                <a:tc>
                  <a:txBody>
                    <a:bodyPr/>
                    <a:lstStyle/>
                    <a:p>
                      <a:r>
                        <a:rPr sz="1725" b="1">
                          <a:solidFill>
                            <a:srgbClr val="FFFFFF"/>
                          </a:solidFill>
                          <a:latin typeface="Arial"/>
                          <a:ea typeface="Arial"/>
                          <a:cs typeface="Arial"/>
                        </a:rPr>
                        <a:t>Mean macro-F1 ± SD</a:t>
                      </a:r>
                    </a:p>
                  </a:txBody>
                  <a:tcPr marL="91440" marR="91440" marT="45720" marB="45720">
                    <a:solidFill>
                      <a:srgbClr val="20265E"/>
                    </a:solidFill>
                  </a:tcPr>
                </a:tc>
                <a:tc>
                  <a:txBody>
                    <a:bodyPr/>
                    <a:lstStyle/>
                    <a:p>
                      <a:r>
                        <a:rPr sz="1725" b="1">
                          <a:solidFill>
                            <a:srgbClr val="FFFFFF"/>
                          </a:solidFill>
                          <a:latin typeface="Arial"/>
                          <a:ea typeface="Arial"/>
                          <a:cs typeface="Arial"/>
                        </a:rPr>
                        <a:t>Test sequence overlap</a:t>
                      </a:r>
                    </a:p>
                  </a:txBody>
                  <a:tcPr marL="91440" marR="91440" marT="45720" marB="45720">
                    <a:solidFill>
                      <a:srgbClr val="20265E"/>
                    </a:solidFill>
                  </a:tcPr>
                </a:tc>
              </a:tr>
              <a:tr h="571500">
                <a:tc>
                  <a:txBody>
                    <a:bodyPr/>
                    <a:lstStyle/>
                    <a:p>
                      <a:r>
                        <a:rPr sz="1725" b="0">
                          <a:solidFill>
                            <a:srgbClr val="20222D"/>
                          </a:solidFill>
                          <a:latin typeface="Arial"/>
                          <a:ea typeface="Arial"/>
                          <a:cs typeface="Arial"/>
                        </a:rPr>
                        <a:t>Grouped</a:t>
                      </a:r>
                    </a:p>
                  </a:txBody>
                  <a:tcPr marL="91440" marR="91440" marT="45720" marB="45720">
                    <a:solidFill>
                      <a:srgbClr val="F2F4F8"/>
                    </a:solidFill>
                  </a:tcPr>
                </a:tc>
                <a:tc>
                  <a:txBody>
                    <a:bodyPr/>
                    <a:lstStyle/>
                    <a:p>
                      <a:r>
                        <a:rPr sz="1725" b="0">
                          <a:solidFill>
                            <a:srgbClr val="20222D"/>
                          </a:solidFill>
                          <a:latin typeface="Arial"/>
                          <a:ea typeface="Arial"/>
                          <a:cs typeface="Arial"/>
                        </a:rPr>
                        <a:t>63.97% ± 2.65 pp</a:t>
                      </a:r>
                    </a:p>
                  </a:txBody>
                  <a:tcPr marL="91440" marR="91440" marT="45720" marB="45720">
                    <a:solidFill>
                      <a:srgbClr val="F2F4F8"/>
                    </a:solidFill>
                  </a:tcPr>
                </a:tc>
                <a:tc>
                  <a:txBody>
                    <a:bodyPr/>
                    <a:lstStyle/>
                    <a:p>
                      <a:r>
                        <a:rPr sz="1725" b="0">
                          <a:solidFill>
                            <a:srgbClr val="20222D"/>
                          </a:solidFill>
                          <a:latin typeface="Arial"/>
                          <a:ea typeface="Arial"/>
                          <a:cs typeface="Arial"/>
                        </a:rPr>
                        <a:t>0.6498 ± 0.0231</a:t>
                      </a:r>
                    </a:p>
                  </a:txBody>
                  <a:tcPr marL="91440" marR="91440" marT="45720" marB="45720">
                    <a:solidFill>
                      <a:srgbClr val="F2F4F8"/>
                    </a:solidFill>
                  </a:tcPr>
                </a:tc>
                <a:tc>
                  <a:txBody>
                    <a:bodyPr/>
                    <a:lstStyle/>
                    <a:p>
                      <a:r>
                        <a:rPr sz="1725" b="0">
                          <a:solidFill>
                            <a:srgbClr val="20222D"/>
                          </a:solidFill>
                          <a:latin typeface="Arial"/>
                          <a:ea typeface="Arial"/>
                          <a:cs typeface="Arial"/>
                        </a:rPr>
                        <a:t>0 / 7,107 (0%)</a:t>
                      </a:r>
                    </a:p>
                  </a:txBody>
                  <a:tcPr marL="91440" marR="91440" marT="45720" marB="45720">
                    <a:solidFill>
                      <a:srgbClr val="F2F4F8"/>
                    </a:solidFill>
                  </a:tcPr>
                </a:tc>
              </a:tr>
              <a:tr h="571500">
                <a:tc>
                  <a:txBody>
                    <a:bodyPr/>
                    <a:lstStyle/>
                    <a:p>
                      <a:r>
                        <a:rPr sz="1725" b="0">
                          <a:solidFill>
                            <a:srgbClr val="20222D"/>
                          </a:solidFill>
                          <a:latin typeface="Arial"/>
                          <a:ea typeface="Arial"/>
                          <a:cs typeface="Arial"/>
                        </a:rPr>
                        <a:t>Ordinary</a:t>
                      </a:r>
                    </a:p>
                  </a:txBody>
                  <a:tcPr marL="91440" marR="91440" marT="45720" marB="45720">
                    <a:solidFill>
                      <a:srgbClr val="FFFFFF"/>
                    </a:solidFill>
                  </a:tcPr>
                </a:tc>
                <a:tc>
                  <a:txBody>
                    <a:bodyPr/>
                    <a:lstStyle/>
                    <a:p>
                      <a:r>
                        <a:rPr sz="1725" b="0">
                          <a:solidFill>
                            <a:srgbClr val="20222D"/>
                          </a:solidFill>
                          <a:latin typeface="Arial"/>
                          <a:ea typeface="Arial"/>
                          <a:cs typeface="Arial"/>
                        </a:rPr>
                        <a:t>66.23% ± 1.05 pp</a:t>
                      </a:r>
                    </a:p>
                  </a:txBody>
                  <a:tcPr marL="91440" marR="91440" marT="45720" marB="45720">
                    <a:solidFill>
                      <a:srgbClr val="FFFFFF"/>
                    </a:solidFill>
                  </a:tcPr>
                </a:tc>
                <a:tc>
                  <a:txBody>
                    <a:bodyPr/>
                    <a:lstStyle/>
                    <a:p>
                      <a:r>
                        <a:rPr sz="1725" b="0">
                          <a:solidFill>
                            <a:srgbClr val="20222D"/>
                          </a:solidFill>
                          <a:latin typeface="Arial"/>
                          <a:ea typeface="Arial"/>
                          <a:cs typeface="Arial"/>
                        </a:rPr>
                        <a:t>0.6738 ± 0.0093</a:t>
                      </a:r>
                    </a:p>
                  </a:txBody>
                  <a:tcPr marL="91440" marR="91440" marT="45720" marB="45720">
                    <a:solidFill>
                      <a:srgbClr val="FFFFFF"/>
                    </a:solidFill>
                  </a:tcPr>
                </a:tc>
                <a:tc>
                  <a:txBody>
                    <a:bodyPr/>
                    <a:lstStyle/>
                    <a:p>
                      <a:r>
                        <a:rPr sz="1725" b="0">
                          <a:solidFill>
                            <a:srgbClr val="20222D"/>
                          </a:solidFill>
                          <a:latin typeface="Arial"/>
                          <a:ea typeface="Arial"/>
                          <a:cs typeface="Arial"/>
                        </a:rPr>
                        <a:t>788 / 7,107 (11.09%)</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5A6E334-1E45-4739-BA74-0E109BF3D04F}"/>
              </a:ext>
            </a:extLst>
          </p:cNvPr>
          <p:cNvSpPr>
            <a:spLocks xmlns:a="http://schemas.openxmlformats.org/drawingml/2006/main" noGrp="1"/>
          </p:cNvSpPr>
          <p:nvPr/>
        </p:nvSpPr>
        <p:spPr>
          <a:xfrm xmlns:a="http://schemas.openxmlformats.org/drawingml/2006/main">
            <a:off x="628650" y="38385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20265E"/>
                </a:solidFill>
                <a:latin typeface="Arial"/>
                <a:ea typeface="Arial"/>
                <a:cs typeface="Arial"/>
              </a:defRPr>
            </a:pPr>
            <a:r>
              <a:rPr sz="2025" b="1">
                <a:solidFill>
                  <a:srgbClr val="20265E"/>
                </a:solidFill>
                <a:latin typeface="Arial"/>
                <a:ea typeface="Arial"/>
                <a:cs typeface="Arial"/>
              </a:rPr>
              <a:t>Ordinary minus grouped</a:t>
            </a:r>
          </a:p>
        </p:txBody>
      </p:sp>
      <p:sp>
        <p:nvSpPr>
          <p:cNvPr id="5" name="">
            <a:extLst xmlns:a="http://schemas.openxmlformats.org/drawingml/2006/main">
              <a:ext uri="{FF2B5EF4-FFF2-40B4-BE49-F238E27FC236}">
                <a16:creationId xmlns:a16="http://schemas.microsoft.com/office/drawing/2014/main" id="{32E28AA8-93F1-4FA4-9CA8-FA989780457D}"/>
              </a:ext>
            </a:extLst>
          </p:cNvPr>
          <p:cNvSpPr>
            <a:spLocks xmlns:a="http://schemas.openxmlformats.org/drawingml/2006/main" noGrp="1"/>
          </p:cNvSpPr>
          <p:nvPr/>
        </p:nvSpPr>
        <p:spPr>
          <a:xfrm xmlns:a="http://schemas.openxmlformats.org/drawingml/2006/main">
            <a:off x="628650" y="43053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222D"/>
                </a:solidFill>
                <a:latin typeface="Arial"/>
                <a:ea typeface="Arial"/>
                <a:cs typeface="Arial"/>
              </a:defRPr>
            </a:pPr>
            <a:r>
              <a:rPr sz="1950" b="0">
                <a:solidFill>
                  <a:srgbClr val="20222D"/>
                </a:solidFill>
                <a:latin typeface="Arial"/>
                <a:ea typeface="Arial"/>
                <a:cs typeface="Arial"/>
              </a:rPr>
              <a:t>Accuracy: +2.259 percentage points     Macro-F1: +2.405 percentage points</a:t>
            </a:r>
          </a:p>
        </p:txBody>
      </p:sp>
      <p:sp>
        <p:nvSpPr>
          <p:cNvPr id="6" name="">
            <a:extLst xmlns:a="http://schemas.openxmlformats.org/drawingml/2006/main">
              <a:ext uri="{FF2B5EF4-FFF2-40B4-BE49-F238E27FC236}">
                <a16:creationId xmlns:a16="http://schemas.microsoft.com/office/drawing/2014/main" id="{3AB3C8C7-E38D-4C20-95A5-ECD2E7950AC7}"/>
              </a:ext>
            </a:extLst>
          </p:cNvPr>
          <p:cNvSpPr>
            <a:spLocks xmlns:a="http://schemas.openxmlformats.org/drawingml/2006/main" noGrp="1"/>
          </p:cNvSpPr>
          <p:nvPr/>
        </p:nvSpPr>
        <p:spPr>
          <a:xfrm xmlns:a="http://schemas.openxmlformats.org/drawingml/2006/main">
            <a:off x="628650" y="49149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20222D"/>
                </a:solidFill>
                <a:latin typeface="Arial"/>
                <a:ea typeface="Arial"/>
                <a:cs typeface="Arial"/>
              </a:defRPr>
            </a:pPr>
            <a:r>
              <a:rPr sz="1725" b="0">
                <a:solidFill>
                  <a:srgbClr val="20222D"/>
                </a:solidFill>
                <a:latin typeface="Arial"/>
                <a:ea typeface="Arial"/>
                <a:cs typeface="Arial"/>
              </a:rPr>
              <a:t>Same weighted 1–3 gram TF-IDF and RF settings; 300 trees; seed 42.</a:t>
            </a:r>
          </a:p>
        </p:txBody>
      </p:sp>
      <p:sp>
        <p:nvSpPr>
          <p:cNvPr id="7" name="">
            <a:extLst xmlns:a="http://schemas.openxmlformats.org/drawingml/2006/main">
              <a:ext uri="{FF2B5EF4-FFF2-40B4-BE49-F238E27FC236}">
                <a16:creationId xmlns:a16="http://schemas.microsoft.com/office/drawing/2014/main" id="{C068264D-FF0F-4E28-B8B4-05AB143DB1F0}"/>
              </a:ext>
            </a:extLst>
          </p:cNvPr>
          <p:cNvSpPr>
            <a:spLocks xmlns:a="http://schemas.openxmlformats.org/drawingml/2006/main" noGrp="1"/>
          </p:cNvSpPr>
          <p:nvPr/>
        </p:nvSpPr>
        <p:spPr>
          <a:xfrm xmlns:a="http://schemas.openxmlformats.org/drawingml/2006/main">
            <a:off x="628650" y="5495925"/>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20222D"/>
                </a:solidFill>
                <a:latin typeface="Arial"/>
                <a:ea typeface="Arial"/>
                <a:cs typeface="Arial"/>
              </a:defRPr>
            </a:pPr>
            <a:r>
              <a:rPr sz="1725" b="0">
                <a:solidFill>
                  <a:srgbClr val="20222D"/>
                </a:solidFill>
                <a:latin typeface="Arial"/>
                <a:ea typeface="Arial"/>
                <a:cs typeface="Arial"/>
              </a:rPr>
              <a:t>Test composition also changes. The difference does not isolate duplicate overlap’s causal effect. SD describes fold variation, not statistical significance.</a:t>
            </a:r>
          </a:p>
        </p:txBody>
      </p:sp>
      <p:sp>
        <p:nvSpPr>
          <p:cNvPr id="8" name="">
            <a:extLst xmlns:a="http://schemas.openxmlformats.org/drawingml/2006/main">
              <a:ext uri="{FF2B5EF4-FFF2-40B4-BE49-F238E27FC236}">
                <a16:creationId xmlns:a16="http://schemas.microsoft.com/office/drawing/2014/main" id="{3433173F-297F-4E79-B8D8-7A9C6689B971}"/>
              </a:ext>
            </a:extLst>
          </p:cNvPr>
          <p:cNvSpPr>
            <a:spLocks xmlns:a="http://schemas.openxmlformats.org/drawingml/2006/main" noGrp="1"/>
          </p:cNvSpPr>
          <p:nvPr/>
        </p:nvSpPr>
        <p:spPr>
          <a:xfrm xmlns:a="http://schemas.openxmlformats.org/drawingml/2006/main">
            <a:off x="11525250" y="64484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050">
                <a:solidFill>
                  <a:srgbClr val="666666"/>
                </a:solidFill>
                <a:latin typeface="Arial"/>
                <a:ea typeface="Arial"/>
                <a:cs typeface="Arial"/>
              </a:defRPr>
            </a:pPr>
            <a:r>
              <a:rPr sz="1050">
                <a:solidFill>
                  <a:srgbClr val="666666"/>
                </a:solidFill>
                <a:latin typeface="Arial"/>
                <a:ea typeface="Arial"/>
                <a:cs typeface="Arial"/>
              </a:rPr>
              <a:t>10</a:t>
            </a:r>
          </a:p>
        </p:txBody>
      </p:sp>
    </p:spTree>
    <p:extLst>
      <p:ext uri="{BB962C8B-B14F-4D97-AF65-F5344CB8AC3E}">
        <p14:creationId xmlns:p14="http://schemas.microsoft.com/office/powerpoint/2010/main" val="97497598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E29E577-CA64-43EC-9F24-BA6414536469}"/>
              </a:ext>
            </a:extLst>
          </p:cNvPr>
          <p:cNvSpPr>
            <a:spLocks xmlns:a="http://schemas.openxmlformats.org/drawingml/2006/main" noGrp="1"/>
          </p:cNvSpPr>
          <p:nvPr/>
        </p:nvSpPr>
        <p:spPr>
          <a:xfrm xmlns:a="http://schemas.openxmlformats.org/drawingml/2006/main">
            <a:off x="628650" y="3810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350" b="1">
                <a:solidFill>
                  <a:srgbClr val="20265E"/>
                </a:solidFill>
                <a:latin typeface="Arial"/>
                <a:ea typeface="Arial"/>
                <a:cs typeface="Arial"/>
              </a:defRPr>
            </a:pPr>
            <a:r>
              <a:rPr sz="1350" b="1">
                <a:solidFill>
                  <a:srgbClr val="20265E"/>
                </a:solidFill>
                <a:latin typeface="Arial"/>
                <a:ea typeface="Arial"/>
                <a:cs typeface="Arial"/>
              </a:rPr>
              <a:t>4. RESULTS</a:t>
            </a:r>
          </a:p>
        </p:txBody>
      </p:sp>
      <p:sp>
        <p:nvSpPr>
          <p:cNvPr id="2" name="">
            <a:extLst xmlns:a="http://schemas.openxmlformats.org/drawingml/2006/main">
              <a:ext uri="{FF2B5EF4-FFF2-40B4-BE49-F238E27FC236}">
                <a16:creationId xmlns:a16="http://schemas.microsoft.com/office/drawing/2014/main" id="{02526D57-EF4E-4CA2-876A-30A63EC2233B}"/>
              </a:ext>
            </a:extLst>
          </p:cNvPr>
          <p:cNvSpPr>
            <a:spLocks xmlns:a="http://schemas.openxmlformats.org/drawingml/2006/main" noGrp="1"/>
          </p:cNvSpPr>
          <p:nvPr/>
        </p:nvSpPr>
        <p:spPr>
          <a:xfrm xmlns:a="http://schemas.openxmlformats.org/drawingml/2006/main">
            <a:off x="628650" y="866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2700" b="1">
                <a:solidFill>
                  <a:srgbClr val="20265E"/>
                </a:solidFill>
                <a:latin typeface="Arial"/>
                <a:ea typeface="Arial"/>
                <a:cs typeface="Arial"/>
              </a:defRPr>
            </a:pPr>
            <a:r>
              <a:rPr sz="2700" b="1">
                <a:solidFill>
                  <a:srgbClr val="20265E"/>
                </a:solidFill>
                <a:latin typeface="Arial"/>
                <a:ea typeface="Arial"/>
                <a:cs typeface="Arial"/>
              </a:rPr>
              <a:t>Ordinary versus grouped Random Forest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d26390a34aa4355"/>
          <a:stretch xmlns:a="http://schemas.openxmlformats.org/drawingml/2006/main"/>
        </p:blipFill>
        <p:spPr>
          <a:xfrm xmlns:a="http://schemas.openxmlformats.org/drawingml/2006/main">
            <a:off x="1061298" y="1600200"/>
            <a:ext cx="10069405" cy="46482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2D46EE5-B45B-4DE9-B385-C0CE3BA0FA25}"/>
              </a:ext>
            </a:extLst>
          </p:cNvPr>
          <p:cNvSpPr>
            <a:spLocks xmlns:a="http://schemas.openxmlformats.org/drawingml/2006/main" noGrp="1"/>
          </p:cNvSpPr>
          <p:nvPr/>
        </p:nvSpPr>
        <p:spPr>
          <a:xfrm xmlns:a="http://schemas.openxmlformats.org/drawingml/2006/main">
            <a:off x="628650" y="6248400"/>
            <a:ext cx="1093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275" b="0">
                <a:solidFill>
                  <a:srgbClr val="20265E"/>
                </a:solidFill>
                <a:latin typeface="Arial"/>
                <a:ea typeface="Arial"/>
                <a:cs typeface="Arial"/>
              </a:defRPr>
            </a:pPr>
            <a:r>
              <a:rPr sz="1275" b="0">
                <a:solidFill>
                  <a:srgbClr val="20265E"/>
                </a:solidFill>
                <a:latin typeface="Arial"/>
                <a:ea typeface="Arial"/>
                <a:cs typeface="Arial"/>
              </a:rPr>
              <a:t>Different test partitions also affect scores; the difference is not solely attributable to duplicate overlap.</a:t>
            </a:r>
          </a:p>
        </p:txBody>
      </p:sp>
      <p:sp>
        <p:nvSpPr>
          <p:cNvPr id="5" name="">
            <a:extLst xmlns:a="http://schemas.openxmlformats.org/drawingml/2006/main">
              <a:ext uri="{FF2B5EF4-FFF2-40B4-BE49-F238E27FC236}">
                <a16:creationId xmlns:a16="http://schemas.microsoft.com/office/drawing/2014/main" id="{A3D2EDA4-8755-4A13-BF49-EB062F020359}"/>
              </a:ext>
            </a:extLst>
          </p:cNvPr>
          <p:cNvSpPr>
            <a:spLocks xmlns:a="http://schemas.openxmlformats.org/drawingml/2006/main" noGrp="1"/>
          </p:cNvSpPr>
          <p:nvPr/>
        </p:nvSpPr>
        <p:spPr>
          <a:xfrm xmlns:a="http://schemas.openxmlformats.org/drawingml/2006/main">
            <a:off x="11620500" y="65436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050">
                <a:solidFill>
                  <a:srgbClr val="666666"/>
                </a:solidFill>
                <a:latin typeface="Arial"/>
                <a:ea typeface="Arial"/>
                <a:cs typeface="Arial"/>
              </a:defRPr>
            </a:pPr>
            <a:r>
              <a:rPr sz="1050">
                <a:solidFill>
                  <a:srgbClr val="666666"/>
                </a:solidFill>
                <a:latin typeface="Arial"/>
                <a:ea typeface="Arial"/>
                <a:cs typeface="Arial"/>
              </a:rPr>
              <a:t>11</a:t>
            </a:r>
          </a:p>
        </p:txBody>
      </p:sp>
    </p:spTree>
    <p:extLst>
      <p:ext uri="{BB962C8B-B14F-4D97-AF65-F5344CB8AC3E}">
        <p14:creationId xmlns:p14="http://schemas.microsoft.com/office/powerpoint/2010/main" val="83724744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2">
            <a:extLst xmlns:a="http://schemas.openxmlformats.org/drawingml/2006/main">
              <a:ext uri="{FF2B5EF4-FFF2-40B4-BE49-F238E27FC236}">
                <a16:creationId xmlns:a16="http://schemas.microsoft.com/office/drawing/2014/main" id="{21D431AB-2C03-4B64-AF94-48E0CE738794}"/>
              </a:ext>
            </a:extLst>
          </p:cNvPr>
          <p:cNvSpPr>
            <a:spLocks xmlns:a="http://schemas.openxmlformats.org/drawingml/2006/main" noGrp="1"/>
          </p:cNvSpPr>
          <p:nvPr/>
        </p:nvSpPr>
        <p:spPr>
          <a:xfrm xmlns:a="http://schemas.openxmlformats.org/drawingml/2006/main">
            <a:off x="548640" y="365760"/>
            <a:ext cx="105156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spc="200">
                <a:solidFill>
                  <a:srgbClr val="1E2761"/>
                </a:solidFill>
                <a:latin typeface="Calibri"/>
                <a:ea typeface="Calibri"/>
                <a:cs typeface="Calibri"/>
              </a:rPr>
              <a:t>5. LIMITATIONS</a:t>
            </a:r>
          </a:p>
        </p:txBody>
      </p:sp>
      <p:sp>
        <p:nvSpPr>
          <p:cNvPr id="3" name="Text 3">
            <a:extLst xmlns:a="http://schemas.openxmlformats.org/drawingml/2006/main">
              <a:ext uri="{FF2B5EF4-FFF2-40B4-BE49-F238E27FC236}">
                <a16:creationId xmlns:a16="http://schemas.microsoft.com/office/drawing/2014/main" id="{CA5CCB30-3529-47B5-81C4-3914E293EA15}"/>
              </a:ext>
            </a:extLst>
          </p:cNvPr>
          <p:cNvSpPr>
            <a:spLocks xmlns:a="http://schemas.openxmlformats.org/drawingml/2006/main" noGrp="1"/>
          </p:cNvSpPr>
          <p:nvPr/>
        </p:nvSpPr>
        <p:spPr>
          <a:xfrm xmlns:a="http://schemas.openxmlformats.org/drawingml/2006/main">
            <a:off x="548640" y="685800"/>
            <a:ext cx="1131560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200" b="1">
                <a:solidFill>
                  <a:srgbClr val="1B1F2A"/>
                </a:solidFill>
                <a:latin typeface="Cambria"/>
                <a:ea typeface="Cambria"/>
                <a:cs typeface="Cambria"/>
              </a:rPr>
              <a:t>What this result still does not show</a:t>
            </a:r>
          </a:p>
        </p:txBody>
      </p:sp>
      <p:sp>
        <p:nvSpPr>
          <p:cNvPr id="4" name="Shape 4">
            <a:extLst xmlns:a="http://schemas.openxmlformats.org/drawingml/2006/main">
              <a:ext uri="{FF2B5EF4-FFF2-40B4-BE49-F238E27FC236}">
                <a16:creationId xmlns:a16="http://schemas.microsoft.com/office/drawing/2014/main" id="{F2590AFA-2EFC-48A1-ADEB-CC833E993BA1}"/>
              </a:ext>
            </a:extLst>
          </p:cNvPr>
          <p:cNvSpPr>
            <a:spLocks xmlns:a="http://schemas.openxmlformats.org/drawingml/2006/main" noGrp="1"/>
          </p:cNvSpPr>
          <p:nvPr/>
        </p:nvSpPr>
        <p:spPr>
          <a:xfrm xmlns:a="http://schemas.openxmlformats.org/drawingml/2006/main">
            <a:off x="548640" y="1600200"/>
            <a:ext cx="5588000" cy="1490980"/>
          </a:xfrm>
          <a:prstGeom xmlns:a="http://schemas.openxmlformats.org/drawingml/2006/main" prst="roundRect">
            <a:avLst>
              <a:gd name="adj" fmla="val 3600"/>
            </a:avLst>
          </a:prstGeom>
          <a:solidFill xmlns:a="http://schemas.openxmlformats.org/drawingml/2006/main">
            <a:srgbClr val="F4F6FB"/>
          </a:solidFill>
        </p:spPr>
        <p:txBody>
          <a:bodyPr xmlns:a="http://schemas.openxmlformats.org/drawingml/2006/main"/>
          <a:lstStyle xmlns:a="http://schemas.openxmlformats.org/drawingml/2006/main"/>
          <a:p xmlns:a="http://schemas.openxmlformats.org/drawingml/2006/main">
            <a:endParaRPr/>
          </a:p>
        </p:txBody>
      </p:sp>
      <p:sp>
        <p:nvSpPr>
          <p:cNvPr id="5" name="Text 5">
            <a:extLst xmlns:a="http://schemas.openxmlformats.org/drawingml/2006/main">
              <a:ext uri="{FF2B5EF4-FFF2-40B4-BE49-F238E27FC236}">
                <a16:creationId xmlns:a16="http://schemas.microsoft.com/office/drawing/2014/main" id="{4F944B15-367F-409E-B7B8-A7D504F23D27}"/>
              </a:ext>
            </a:extLst>
          </p:cNvPr>
          <p:cNvSpPr>
            <a:spLocks xmlns:a="http://schemas.openxmlformats.org/drawingml/2006/main" noGrp="1"/>
          </p:cNvSpPr>
          <p:nvPr/>
        </p:nvSpPr>
        <p:spPr>
          <a:xfrm xmlns:a="http://schemas.openxmlformats.org/drawingml/2006/main">
            <a:off x="822960" y="1773936"/>
            <a:ext cx="503936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E2761"/>
                </a:solidFill>
                <a:latin typeface="Cambria"/>
                <a:ea typeface="Cambria"/>
                <a:cs typeface="Cambria"/>
              </a:rPr>
              <a:t>Restricted dataset and task</a:t>
            </a:r>
          </a:p>
        </p:txBody>
      </p:sp>
      <p:sp>
        <p:nvSpPr>
          <p:cNvPr id="6" name="Text 6">
            <a:extLst xmlns:a="http://schemas.openxmlformats.org/drawingml/2006/main">
              <a:ext uri="{FF2B5EF4-FFF2-40B4-BE49-F238E27FC236}">
                <a16:creationId xmlns:a16="http://schemas.microsoft.com/office/drawing/2014/main" id="{D32D9829-9D44-41BA-AB00-BB8436C60812}"/>
              </a:ext>
            </a:extLst>
          </p:cNvPr>
          <p:cNvSpPr>
            <a:spLocks xmlns:a="http://schemas.openxmlformats.org/drawingml/2006/main" noGrp="1"/>
          </p:cNvSpPr>
          <p:nvPr/>
        </p:nvSpPr>
        <p:spPr>
          <a:xfrm xmlns:a="http://schemas.openxmlformats.org/drawingml/2006/main">
            <a:off x="822960" y="2194560"/>
            <a:ext cx="5039360" cy="7594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3000"/>
              </a:lnSpc>
              <a:buNone/>
            </a:pPr>
            <a:r>
              <a:rPr sz="1050">
                <a:solidFill>
                  <a:srgbClr val="1B1F2A"/>
                </a:solidFill>
                <a:latin typeface="Calibri"/>
                <a:ea typeface="Calibri"/>
                <a:cs typeface="Calibri"/>
              </a:rPr>
              <a:t>Eight malware-only categories, with no benign class or metamorphic-engine labels. Results do not establish binary detection, obfuscation robustness or performance on future malware.</a:t>
            </a:r>
          </a:p>
        </p:txBody>
      </p:sp>
      <p:sp>
        <p:nvSpPr>
          <p:cNvPr id="7" name="Shape 7">
            <a:extLst xmlns:a="http://schemas.openxmlformats.org/drawingml/2006/main">
              <a:ext uri="{FF2B5EF4-FFF2-40B4-BE49-F238E27FC236}">
                <a16:creationId xmlns:a16="http://schemas.microsoft.com/office/drawing/2014/main" id="{DEFB2E32-D7C1-4E4D-BA4E-38141FEB9236}"/>
              </a:ext>
            </a:extLst>
          </p:cNvPr>
          <p:cNvSpPr>
            <a:spLocks xmlns:a="http://schemas.openxmlformats.org/drawingml/2006/main" noGrp="1"/>
          </p:cNvSpPr>
          <p:nvPr/>
        </p:nvSpPr>
        <p:spPr>
          <a:xfrm xmlns:a="http://schemas.openxmlformats.org/drawingml/2006/main">
            <a:off x="6410960" y="1600200"/>
            <a:ext cx="5571490" cy="1490980"/>
          </a:xfrm>
          <a:prstGeom xmlns:a="http://schemas.openxmlformats.org/drawingml/2006/main" prst="roundRect">
            <a:avLst>
              <a:gd name="adj" fmla="val 3600"/>
            </a:avLst>
          </a:prstGeom>
          <a:solidFill xmlns:a="http://schemas.openxmlformats.org/drawingml/2006/main">
            <a:srgbClr val="F4F6FB"/>
          </a:solidFill>
        </p:spPr>
        <p:txBody>
          <a:bodyPr xmlns:a="http://schemas.openxmlformats.org/drawingml/2006/main"/>
          <a:lstStyle xmlns:a="http://schemas.openxmlformats.org/drawingml/2006/main"/>
          <a:p xmlns:a="http://schemas.openxmlformats.org/drawingml/2006/main">
            <a:endParaRPr/>
          </a:p>
        </p:txBody>
      </p:sp>
      <p:sp>
        <p:nvSpPr>
          <p:cNvPr id="8" name="Text 8">
            <a:extLst xmlns:a="http://schemas.openxmlformats.org/drawingml/2006/main">
              <a:ext uri="{FF2B5EF4-FFF2-40B4-BE49-F238E27FC236}">
                <a16:creationId xmlns:a16="http://schemas.microsoft.com/office/drawing/2014/main" id="{D7CB7D41-00FC-4373-9459-279A7E22AC14}"/>
              </a:ext>
            </a:extLst>
          </p:cNvPr>
          <p:cNvSpPr>
            <a:spLocks xmlns:a="http://schemas.openxmlformats.org/drawingml/2006/main" noGrp="1"/>
          </p:cNvSpPr>
          <p:nvPr/>
        </p:nvSpPr>
        <p:spPr>
          <a:xfrm xmlns:a="http://schemas.openxmlformats.org/drawingml/2006/main">
            <a:off x="6685280" y="1773936"/>
            <a:ext cx="503936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E2761"/>
                </a:solidFill>
                <a:latin typeface="Cambria"/>
                <a:ea typeface="Cambria"/>
                <a:cs typeface="Cambria"/>
              </a:rPr>
              <a:t>Identical traces with conflicting labels</a:t>
            </a:r>
          </a:p>
        </p:txBody>
      </p:sp>
      <p:sp>
        <p:nvSpPr>
          <p:cNvPr id="9" name="Text 9">
            <a:extLst xmlns:a="http://schemas.openxmlformats.org/drawingml/2006/main">
              <a:ext uri="{FF2B5EF4-FFF2-40B4-BE49-F238E27FC236}">
                <a16:creationId xmlns:a16="http://schemas.microsoft.com/office/drawing/2014/main" id="{E18D0520-3F30-4578-8448-B5A87D1B9A7B}"/>
              </a:ext>
            </a:extLst>
          </p:cNvPr>
          <p:cNvSpPr>
            <a:spLocks xmlns:a="http://schemas.openxmlformats.org/drawingml/2006/main" noGrp="1"/>
          </p:cNvSpPr>
          <p:nvPr/>
        </p:nvSpPr>
        <p:spPr>
          <a:xfrm xmlns:a="http://schemas.openxmlformats.org/drawingml/2006/main">
            <a:off x="6685280" y="2194560"/>
            <a:ext cx="5039360" cy="7594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3000"/>
              </a:lnSpc>
              <a:buNone/>
            </a:pPr>
            <a:r>
              <a:rPr sz="1050">
                <a:solidFill>
                  <a:srgbClr val="1B1F2A"/>
                </a:solidFill>
                <a:latin typeface="Calibri"/>
                <a:ea typeface="Calibri"/>
                <a:cs typeface="Calibri"/>
              </a:rPr>
              <a:t>33 full-sequence groups have multiple labels. A deterministic classifier using only that sequence cannot distinguish those labels. External evidence is needed before correcting any labels.</a:t>
            </a:r>
          </a:p>
        </p:txBody>
      </p:sp>
      <p:sp>
        <p:nvSpPr>
          <p:cNvPr id="10" name="Shape 10">
            <a:extLst xmlns:a="http://schemas.openxmlformats.org/drawingml/2006/main">
              <a:ext uri="{FF2B5EF4-FFF2-40B4-BE49-F238E27FC236}">
                <a16:creationId xmlns:a16="http://schemas.microsoft.com/office/drawing/2014/main" id="{DB8DF83C-96B7-4A0C-92F2-CAAE789DE2DE}"/>
              </a:ext>
            </a:extLst>
          </p:cNvPr>
          <p:cNvSpPr>
            <a:spLocks xmlns:a="http://schemas.openxmlformats.org/drawingml/2006/main" noGrp="1"/>
          </p:cNvSpPr>
          <p:nvPr/>
        </p:nvSpPr>
        <p:spPr>
          <a:xfrm xmlns:a="http://schemas.openxmlformats.org/drawingml/2006/main">
            <a:off x="548640" y="3228340"/>
            <a:ext cx="5588000" cy="1490980"/>
          </a:xfrm>
          <a:prstGeom xmlns:a="http://schemas.openxmlformats.org/drawingml/2006/main" prst="roundRect">
            <a:avLst>
              <a:gd name="adj" fmla="val 3600"/>
            </a:avLst>
          </a:prstGeom>
          <a:solidFill xmlns:a="http://schemas.openxmlformats.org/drawingml/2006/main">
            <a:srgbClr val="F4F6FB"/>
          </a:solidFill>
        </p:spPr>
        <p:txBody>
          <a:bodyPr xmlns:a="http://schemas.openxmlformats.org/drawingml/2006/main"/>
          <a:lstStyle xmlns:a="http://schemas.openxmlformats.org/drawingml/2006/main"/>
          <a:p xmlns:a="http://schemas.openxmlformats.org/drawingml/2006/main">
            <a:endParaRPr/>
          </a:p>
        </p:txBody>
      </p:sp>
      <p:sp>
        <p:nvSpPr>
          <p:cNvPr id="11" name="Text 11">
            <a:extLst xmlns:a="http://schemas.openxmlformats.org/drawingml/2006/main">
              <a:ext uri="{FF2B5EF4-FFF2-40B4-BE49-F238E27FC236}">
                <a16:creationId xmlns:a16="http://schemas.microsoft.com/office/drawing/2014/main" id="{1563F973-DC62-4FA5-A5C3-03311287BA18}"/>
              </a:ext>
            </a:extLst>
          </p:cNvPr>
          <p:cNvSpPr>
            <a:spLocks xmlns:a="http://schemas.openxmlformats.org/drawingml/2006/main" noGrp="1"/>
          </p:cNvSpPr>
          <p:nvPr/>
        </p:nvSpPr>
        <p:spPr>
          <a:xfrm xmlns:a="http://schemas.openxmlformats.org/drawingml/2006/main">
            <a:off x="822960" y="3402076"/>
            <a:ext cx="503936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E2761"/>
                </a:solidFill>
                <a:latin typeface="Cambria"/>
                <a:ea typeface="Cambria"/>
                <a:cs typeface="Cambria"/>
              </a:rPr>
              <a:t>Split comparison has interpretation limits</a:t>
            </a:r>
          </a:p>
        </p:txBody>
      </p:sp>
      <p:sp>
        <p:nvSpPr>
          <p:cNvPr id="12" name="Text 12">
            <a:extLst xmlns:a="http://schemas.openxmlformats.org/drawingml/2006/main">
              <a:ext uri="{FF2B5EF4-FFF2-40B4-BE49-F238E27FC236}">
                <a16:creationId xmlns:a16="http://schemas.microsoft.com/office/drawing/2014/main" id="{C4A41A99-8242-4049-A507-1A069A2C81DE}"/>
              </a:ext>
            </a:extLst>
          </p:cNvPr>
          <p:cNvSpPr>
            <a:spLocks xmlns:a="http://schemas.openxmlformats.org/drawingml/2006/main" noGrp="1"/>
          </p:cNvSpPr>
          <p:nvPr/>
        </p:nvSpPr>
        <p:spPr>
          <a:xfrm xmlns:a="http://schemas.openxmlformats.org/drawingml/2006/main">
            <a:off x="822960" y="3822700"/>
            <a:ext cx="5039360" cy="7594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3000"/>
              </a:lnSpc>
              <a:buNone/>
            </a:pPr>
            <a:r>
              <a:rPr sz="1050">
                <a:solidFill>
                  <a:srgbClr val="1B1F2A"/>
                </a:solidFill>
                <a:latin typeface="Calibri"/>
                <a:ea typeface="Calibri"/>
                <a:cs typeface="Calibri"/>
              </a:rPr>
              <a:t>Ordinary and grouped splits also change test composition and category proportions. The observed score difference does not isolate the causal effect of duplicate overlap. Near duplicates remain untested.</a:t>
            </a:r>
          </a:p>
        </p:txBody>
      </p:sp>
      <p:sp>
        <p:nvSpPr>
          <p:cNvPr id="13" name="Shape 13">
            <a:extLst xmlns:a="http://schemas.openxmlformats.org/drawingml/2006/main">
              <a:ext uri="{FF2B5EF4-FFF2-40B4-BE49-F238E27FC236}">
                <a16:creationId xmlns:a16="http://schemas.microsoft.com/office/drawing/2014/main" id="{7A9B9B5D-9D3B-45DF-A1BB-557BAEB32AC3}"/>
              </a:ext>
            </a:extLst>
          </p:cNvPr>
          <p:cNvSpPr>
            <a:spLocks xmlns:a="http://schemas.openxmlformats.org/drawingml/2006/main" noGrp="1"/>
          </p:cNvSpPr>
          <p:nvPr/>
        </p:nvSpPr>
        <p:spPr>
          <a:xfrm xmlns:a="http://schemas.openxmlformats.org/drawingml/2006/main">
            <a:off x="6410960" y="3228340"/>
            <a:ext cx="5571490" cy="1490980"/>
          </a:xfrm>
          <a:prstGeom xmlns:a="http://schemas.openxmlformats.org/drawingml/2006/main" prst="roundRect">
            <a:avLst>
              <a:gd name="adj" fmla="val 3600"/>
            </a:avLst>
          </a:prstGeom>
          <a:solidFill xmlns:a="http://schemas.openxmlformats.org/drawingml/2006/main">
            <a:srgbClr val="F4F6FB"/>
          </a:solidFill>
        </p:spPr>
        <p:txBody>
          <a:bodyPr xmlns:a="http://schemas.openxmlformats.org/drawingml/2006/main"/>
          <a:lstStyle xmlns:a="http://schemas.openxmlformats.org/drawingml/2006/main"/>
          <a:p xmlns:a="http://schemas.openxmlformats.org/drawingml/2006/main">
            <a:endParaRPr/>
          </a:p>
        </p:txBody>
      </p:sp>
      <p:sp>
        <p:nvSpPr>
          <p:cNvPr id="14" name="Text 14">
            <a:extLst xmlns:a="http://schemas.openxmlformats.org/drawingml/2006/main">
              <a:ext uri="{FF2B5EF4-FFF2-40B4-BE49-F238E27FC236}">
                <a16:creationId xmlns:a16="http://schemas.microsoft.com/office/drawing/2014/main" id="{D9F4D9DA-4FA4-4E5C-85FE-595D06A426CB}"/>
              </a:ext>
            </a:extLst>
          </p:cNvPr>
          <p:cNvSpPr>
            <a:spLocks xmlns:a="http://schemas.openxmlformats.org/drawingml/2006/main" noGrp="1"/>
          </p:cNvSpPr>
          <p:nvPr/>
        </p:nvSpPr>
        <p:spPr>
          <a:xfrm xmlns:a="http://schemas.openxmlformats.org/drawingml/2006/main">
            <a:off x="6685280" y="3402076"/>
            <a:ext cx="503936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E2761"/>
                </a:solidFill>
                <a:latin typeface="Cambria"/>
                <a:ea typeface="Cambria"/>
                <a:cs typeface="Cambria"/>
              </a:rPr>
              <a:t>Model selection and uncertainty</a:t>
            </a:r>
          </a:p>
        </p:txBody>
      </p:sp>
      <p:sp>
        <p:nvSpPr>
          <p:cNvPr id="15" name="Text 15">
            <a:extLst xmlns:a="http://schemas.openxmlformats.org/drawingml/2006/main">
              <a:ext uri="{FF2B5EF4-FFF2-40B4-BE49-F238E27FC236}">
                <a16:creationId xmlns:a16="http://schemas.microsoft.com/office/drawing/2014/main" id="{F41B9A76-E12B-4719-B5D5-7B2ECF2EF309}"/>
              </a:ext>
            </a:extLst>
          </p:cNvPr>
          <p:cNvSpPr>
            <a:spLocks xmlns:a="http://schemas.openxmlformats.org/drawingml/2006/main" noGrp="1"/>
          </p:cNvSpPr>
          <p:nvPr/>
        </p:nvSpPr>
        <p:spPr>
          <a:xfrm xmlns:a="http://schemas.openxmlformats.org/drawingml/2006/main">
            <a:off x="6685280" y="3822700"/>
            <a:ext cx="5039360" cy="7594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3000"/>
              </a:lnSpc>
              <a:buNone/>
            </a:pPr>
            <a:r>
              <a:rPr sz="1050">
                <a:solidFill>
                  <a:srgbClr val="1B1F2A"/>
                </a:solidFill>
                <a:latin typeface="Calibri"/>
                <a:ea typeface="Calibri"/>
                <a:cs typeface="Calibri"/>
              </a:rPr>
              <a:t>Fixed hyperparameters and one five-fold partition. No independent final holdout or significance test. Future tuning may improve or reduce performance; 67.4% is not a guaranteed floor.</a:t>
            </a:r>
          </a:p>
        </p:txBody>
      </p:sp>
      <p:sp>
        <p:nvSpPr>
          <p:cNvPr id="16" name="Text 16">
            <a:extLst xmlns:a="http://schemas.openxmlformats.org/drawingml/2006/main">
              <a:ext uri="{FF2B5EF4-FFF2-40B4-BE49-F238E27FC236}">
                <a16:creationId xmlns:a16="http://schemas.microsoft.com/office/drawing/2014/main" id="{3870F92C-A293-4E86-99B9-D3EC9DF1A49C}"/>
              </a:ext>
            </a:extLst>
          </p:cNvPr>
          <p:cNvSpPr>
            <a:spLocks xmlns:a="http://schemas.openxmlformats.org/drawingml/2006/main" noGrp="1"/>
          </p:cNvSpPr>
          <p:nvPr/>
        </p:nvSpPr>
        <p:spPr>
          <a:xfrm xmlns:a="http://schemas.openxmlformats.org/drawingml/2006/main">
            <a:off x="11521440" y="6446520"/>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5B6472"/>
                </a:solidFill>
                <a:latin typeface="Calibri"/>
                <a:ea typeface="Calibri"/>
                <a:cs typeface="Calibri"/>
              </a:rPr>
              <a:t>12</a:t>
            </a:r>
          </a:p>
        </p:txBody>
      </p:sp>
    </p:spTree>
    <p:extLst>
      <p:ext uri="{BB962C8B-B14F-4D97-AF65-F5344CB8AC3E}">
        <p14:creationId xmlns:p14="http://schemas.microsoft.com/office/powerpoint/2010/main" val="113915777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2">
            <a:extLst xmlns:a="http://schemas.openxmlformats.org/drawingml/2006/main">
              <a:ext uri="{FF2B5EF4-FFF2-40B4-BE49-F238E27FC236}">
                <a16:creationId xmlns:a16="http://schemas.microsoft.com/office/drawing/2014/main" id="{500B4338-462F-4CB9-A02E-7EBDE94D4716}"/>
              </a:ext>
            </a:extLst>
          </p:cNvPr>
          <p:cNvSpPr>
            <a:spLocks xmlns:a="http://schemas.openxmlformats.org/drawingml/2006/main" noGrp="1"/>
          </p:cNvSpPr>
          <p:nvPr/>
        </p:nvSpPr>
        <p:spPr>
          <a:xfrm xmlns:a="http://schemas.openxmlformats.org/drawingml/2006/main">
            <a:off x="548640" y="365760"/>
            <a:ext cx="105156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lstStyle xmlns:a="http://schemas.openxmlformats.org/drawingml/2006/main"/>
          <a:p xmlns:a="http://schemas.openxmlformats.org/drawingml/2006/main">
            <a:pPr marL="0" indent="0">
              <a:buNone/>
            </a:pPr>
            <a:r>
              <a:rPr sz="1300" b="1" spc="200">
                <a:solidFill>
                  <a:srgbClr val="1E2761"/>
                </a:solidFill>
                <a:latin typeface="Calibri"/>
                <a:ea typeface="Calibri"/>
                <a:cs typeface="Calibri"/>
              </a:rPr>
              <a:t/>
            </a:r>
          </a:p>
        </p:txBody>
      </p:sp>
      <p:sp>
        <p:nvSpPr>
          <p:cNvPr id="3" name="Text 3">
            <a:extLst xmlns:a="http://schemas.openxmlformats.org/drawingml/2006/main">
              <a:ext uri="{FF2B5EF4-FFF2-40B4-BE49-F238E27FC236}">
                <a16:creationId xmlns:a16="http://schemas.microsoft.com/office/drawing/2014/main" id="{50C9F818-A50B-43CA-9EBF-489EA9A64A44}"/>
              </a:ext>
            </a:extLst>
          </p:cNvPr>
          <p:cNvSpPr>
            <a:spLocks xmlns:a="http://schemas.openxmlformats.org/drawingml/2006/main" noGrp="1"/>
          </p:cNvSpPr>
          <p:nvPr/>
        </p:nvSpPr>
        <p:spPr>
          <a:xfrm xmlns:a="http://schemas.openxmlformats.org/drawingml/2006/main">
            <a:off x="548640" y="685800"/>
            <a:ext cx="11315600" cy="822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lstStyle xmlns:a="http://schemas.openxmlformats.org/drawingml/2006/main"/>
          <a:p xmlns:a="http://schemas.openxmlformats.org/drawingml/2006/main">
            <a:pPr marL="0" indent="0">
              <a:buNone/>
            </a:pPr>
            <a:r>
              <a:rPr sz="3200" b="1">
                <a:solidFill>
                  <a:srgbClr val="1B1F2A"/>
                </a:solidFill>
                <a:latin typeface="Cambria"/>
                <a:ea typeface="Cambria"/>
                <a:cs typeface="Cambria"/>
              </a:rPr>
              <a:t/>
            </a:r>
          </a:p>
        </p:txBody>
      </p:sp>
      <p:sp>
        <p:nvSpPr>
          <p:cNvPr id="4" name="Shape 4">
            <a:extLst xmlns:a="http://schemas.openxmlformats.org/drawingml/2006/main">
              <a:ext uri="{FF2B5EF4-FFF2-40B4-BE49-F238E27FC236}">
                <a16:creationId xmlns:a16="http://schemas.microsoft.com/office/drawing/2014/main" id="{5A054C5F-7AE0-45BD-940C-790B0E3C27F8}"/>
              </a:ext>
            </a:extLst>
          </p:cNvPr>
          <p:cNvSpPr>
            <a:spLocks xmlns:a="http://schemas.openxmlformats.org/drawingml/2006/main" noGrp="1"/>
          </p:cNvSpPr>
          <p:nvPr/>
        </p:nvSpPr>
        <p:spPr>
          <a:xfrm xmlns:a="http://schemas.openxmlformats.org/drawingml/2006/main">
            <a:off x="548640" y="1600200"/>
            <a:ext cx="5588000" cy="3520440"/>
          </a:xfrm>
          <a:prstGeom xmlns:a="http://schemas.openxmlformats.org/drawingml/2006/main" prst="roundRect">
            <a:avLst>
              <a:gd name="adj" fmla="val 2200"/>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t/>
            </a:r>
            <a:endParaRPr/>
          </a:p>
        </p:txBody>
      </p:sp>
      <p:sp>
        <p:nvSpPr>
          <p:cNvPr id="5" name="Text 5">
            <a:extLst xmlns:a="http://schemas.openxmlformats.org/drawingml/2006/main">
              <a:ext uri="{FF2B5EF4-FFF2-40B4-BE49-F238E27FC236}">
                <a16:creationId xmlns:a16="http://schemas.microsoft.com/office/drawing/2014/main" id="{CFD154E5-1A97-4D3F-BA59-8D800FC0E630}"/>
              </a:ext>
            </a:extLst>
          </p:cNvPr>
          <p:cNvSpPr>
            <a:spLocks xmlns:a="http://schemas.openxmlformats.org/drawingml/2006/main" noGrp="1"/>
          </p:cNvSpPr>
          <p:nvPr/>
        </p:nvSpPr>
        <p:spPr>
          <a:xfrm xmlns:a="http://schemas.openxmlformats.org/drawingml/2006/main">
            <a:off x="822960" y="1783080"/>
            <a:ext cx="5039360"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lstStyle xmlns:a="http://schemas.openxmlformats.org/drawingml/2006/main"/>
          <a:p xmlns:a="http://schemas.openxmlformats.org/drawingml/2006/main">
            <a:pPr marL="0" indent="0">
              <a:buNone/>
            </a:pPr>
            <a:r>
              <a:rPr sz="1700" b="1">
                <a:solidFill>
                  <a:srgbClr val="FFFFFF"/>
                </a:solidFill>
                <a:latin typeface="Cambria"/>
                <a:ea typeface="Cambria"/>
                <a:cs typeface="Cambria"/>
              </a:rPr>
              <a:t/>
            </a:r>
          </a:p>
        </p:txBody>
      </p:sp>
      <p:sp>
        <p:nvSpPr>
          <p:cNvPr id="6" name="Text 6">
            <a:extLst xmlns:a="http://schemas.openxmlformats.org/drawingml/2006/main">
              <a:ext uri="{FF2B5EF4-FFF2-40B4-BE49-F238E27FC236}">
                <a16:creationId xmlns:a16="http://schemas.microsoft.com/office/drawing/2014/main" id="{4B5938CD-A21E-4830-AFD6-F8590B9318B6}"/>
              </a:ext>
            </a:extLst>
          </p:cNvPr>
          <p:cNvSpPr>
            <a:spLocks xmlns:a="http://schemas.openxmlformats.org/drawingml/2006/main" noGrp="1"/>
          </p:cNvSpPr>
          <p:nvPr/>
        </p:nvSpPr>
        <p:spPr>
          <a:xfrm xmlns:a="http://schemas.openxmlformats.org/drawingml/2006/main">
            <a:off x="868640" y="2331720"/>
            <a:ext cx="220000" cy="22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F8961E"/>
                </a:solidFill>
                <a:latin typeface="Calibri"/>
                <a:ea typeface="Calibri"/>
                <a:cs typeface="Calibri"/>
              </a:rPr>
              <a:t/>
            </a:r>
          </a:p>
        </p:txBody>
      </p:sp>
      <p:sp>
        <p:nvSpPr>
          <p:cNvPr id="7" name="Text 7">
            <a:extLst xmlns:a="http://schemas.openxmlformats.org/drawingml/2006/main">
              <a:ext uri="{FF2B5EF4-FFF2-40B4-BE49-F238E27FC236}">
                <a16:creationId xmlns:a16="http://schemas.microsoft.com/office/drawing/2014/main" id="{99083EDF-A0D2-4C5D-BA29-3A8CEB06953D}"/>
              </a:ext>
            </a:extLst>
          </p:cNvPr>
          <p:cNvSpPr>
            <a:spLocks xmlns:a="http://schemas.openxmlformats.org/drawingml/2006/main" noGrp="1"/>
          </p:cNvSpPr>
          <p:nvPr/>
        </p:nvSpPr>
        <p:spPr>
          <a:xfrm xmlns:a="http://schemas.openxmlformats.org/drawingml/2006/main">
            <a:off x="1143000" y="2286000"/>
            <a:ext cx="4688000" cy="50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050">
                <a:solidFill>
                  <a:srgbClr val="E3E7F5"/>
                </a:solidFill>
                <a:latin typeface="Calibri"/>
                <a:ea typeface="Calibri"/>
                <a:cs typeface="Calibri"/>
              </a:rPr>
              <a:t/>
            </a:r>
          </a:p>
        </p:txBody>
      </p:sp>
      <p:sp>
        <p:nvSpPr>
          <p:cNvPr id="8" name="Text 8">
            <a:extLst xmlns:a="http://schemas.openxmlformats.org/drawingml/2006/main">
              <a:ext uri="{FF2B5EF4-FFF2-40B4-BE49-F238E27FC236}">
                <a16:creationId xmlns:a16="http://schemas.microsoft.com/office/drawing/2014/main" id="{507810F6-4FAA-4579-889A-773B60CBF3BD}"/>
              </a:ext>
            </a:extLst>
          </p:cNvPr>
          <p:cNvSpPr>
            <a:spLocks xmlns:a="http://schemas.openxmlformats.org/drawingml/2006/main" noGrp="1"/>
          </p:cNvSpPr>
          <p:nvPr/>
        </p:nvSpPr>
        <p:spPr>
          <a:xfrm xmlns:a="http://schemas.openxmlformats.org/drawingml/2006/main">
            <a:off x="868640" y="2951720"/>
            <a:ext cx="220000" cy="22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F8961E"/>
                </a:solidFill>
                <a:latin typeface="Calibri"/>
                <a:ea typeface="Calibri"/>
                <a:cs typeface="Calibri"/>
              </a:rPr>
              <a:t/>
            </a:r>
          </a:p>
        </p:txBody>
      </p:sp>
      <p:sp>
        <p:nvSpPr>
          <p:cNvPr id="9" name="Text 9">
            <a:extLst xmlns:a="http://schemas.openxmlformats.org/drawingml/2006/main">
              <a:ext uri="{FF2B5EF4-FFF2-40B4-BE49-F238E27FC236}">
                <a16:creationId xmlns:a16="http://schemas.microsoft.com/office/drawing/2014/main" id="{6E2A45E1-6F9C-494A-9A4B-9F7066CCDD4A}"/>
              </a:ext>
            </a:extLst>
          </p:cNvPr>
          <p:cNvSpPr>
            <a:spLocks xmlns:a="http://schemas.openxmlformats.org/drawingml/2006/main" noGrp="1"/>
          </p:cNvSpPr>
          <p:nvPr/>
        </p:nvSpPr>
        <p:spPr>
          <a:xfrm xmlns:a="http://schemas.openxmlformats.org/drawingml/2006/main">
            <a:off x="1143000" y="2906000"/>
            <a:ext cx="4688000" cy="50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050">
                <a:solidFill>
                  <a:srgbClr val="E3E7F5"/>
                </a:solidFill>
                <a:latin typeface="Calibri"/>
                <a:ea typeface="Calibri"/>
                <a:cs typeface="Calibri"/>
              </a:rPr>
              <a:t/>
            </a:r>
          </a:p>
        </p:txBody>
      </p:sp>
      <p:sp>
        <p:nvSpPr>
          <p:cNvPr id="10" name="Text 10">
            <a:extLst xmlns:a="http://schemas.openxmlformats.org/drawingml/2006/main">
              <a:ext uri="{FF2B5EF4-FFF2-40B4-BE49-F238E27FC236}">
                <a16:creationId xmlns:a16="http://schemas.microsoft.com/office/drawing/2014/main" id="{698A9683-8AC2-4EED-A247-BCE3632F8C34}"/>
              </a:ext>
            </a:extLst>
          </p:cNvPr>
          <p:cNvSpPr>
            <a:spLocks xmlns:a="http://schemas.openxmlformats.org/drawingml/2006/main" noGrp="1"/>
          </p:cNvSpPr>
          <p:nvPr/>
        </p:nvSpPr>
        <p:spPr>
          <a:xfrm xmlns:a="http://schemas.openxmlformats.org/drawingml/2006/main">
            <a:off x="868640" y="3571720"/>
            <a:ext cx="220000" cy="22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F8961E"/>
                </a:solidFill>
                <a:latin typeface="Calibri"/>
                <a:ea typeface="Calibri"/>
                <a:cs typeface="Calibri"/>
              </a:rPr>
              <a:t/>
            </a:r>
          </a:p>
        </p:txBody>
      </p:sp>
      <p:sp>
        <p:nvSpPr>
          <p:cNvPr id="11" name="Text 11">
            <a:extLst xmlns:a="http://schemas.openxmlformats.org/drawingml/2006/main">
              <a:ext uri="{FF2B5EF4-FFF2-40B4-BE49-F238E27FC236}">
                <a16:creationId xmlns:a16="http://schemas.microsoft.com/office/drawing/2014/main" id="{77C2A0EE-B663-432E-A7EB-035DCC8A1217}"/>
              </a:ext>
            </a:extLst>
          </p:cNvPr>
          <p:cNvSpPr>
            <a:spLocks xmlns:a="http://schemas.openxmlformats.org/drawingml/2006/main" noGrp="1"/>
          </p:cNvSpPr>
          <p:nvPr/>
        </p:nvSpPr>
        <p:spPr>
          <a:xfrm xmlns:a="http://schemas.openxmlformats.org/drawingml/2006/main">
            <a:off x="1143000" y="3526000"/>
            <a:ext cx="4688000" cy="50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050">
                <a:solidFill>
                  <a:srgbClr val="E3E7F5"/>
                </a:solidFill>
                <a:latin typeface="Calibri"/>
                <a:ea typeface="Calibri"/>
                <a:cs typeface="Calibri"/>
              </a:rPr>
              <a:t/>
            </a:r>
          </a:p>
        </p:txBody>
      </p:sp>
      <p:sp>
        <p:nvSpPr>
          <p:cNvPr id="12" name="Shape 12">
            <a:extLst xmlns:a="http://schemas.openxmlformats.org/drawingml/2006/main">
              <a:ext uri="{FF2B5EF4-FFF2-40B4-BE49-F238E27FC236}">
                <a16:creationId xmlns:a16="http://schemas.microsoft.com/office/drawing/2014/main" id="{E61F8921-AF42-4251-ADF6-D789DFA21134}"/>
              </a:ext>
            </a:extLst>
          </p:cNvPr>
          <p:cNvSpPr>
            <a:spLocks xmlns:a="http://schemas.openxmlformats.org/drawingml/2006/main" noGrp="1"/>
          </p:cNvSpPr>
          <p:nvPr/>
        </p:nvSpPr>
        <p:spPr>
          <a:xfrm xmlns:a="http://schemas.openxmlformats.org/drawingml/2006/main">
            <a:off x="6410960" y="1600200"/>
            <a:ext cx="5571490" cy="3520440"/>
          </a:xfrm>
          <a:prstGeom xmlns:a="http://schemas.openxmlformats.org/drawingml/2006/main" prst="roundRect">
            <a:avLst>
              <a:gd name="adj" fmla="val 2200"/>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t/>
            </a:r>
            <a:endParaRPr/>
          </a:p>
        </p:txBody>
      </p:sp>
      <p:sp>
        <p:nvSpPr>
          <p:cNvPr id="13" name="Text 13">
            <a:extLst xmlns:a="http://schemas.openxmlformats.org/drawingml/2006/main">
              <a:ext uri="{FF2B5EF4-FFF2-40B4-BE49-F238E27FC236}">
                <a16:creationId xmlns:a16="http://schemas.microsoft.com/office/drawing/2014/main" id="{7FB6B5EA-76E7-470B-89F2-F99E0438FF54}"/>
              </a:ext>
            </a:extLst>
          </p:cNvPr>
          <p:cNvSpPr>
            <a:spLocks xmlns:a="http://schemas.openxmlformats.org/drawingml/2006/main" noGrp="1"/>
          </p:cNvSpPr>
          <p:nvPr/>
        </p:nvSpPr>
        <p:spPr>
          <a:xfrm xmlns:a="http://schemas.openxmlformats.org/drawingml/2006/main">
            <a:off x="6685280" y="1783080"/>
            <a:ext cx="5039360"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lstStyle xmlns:a="http://schemas.openxmlformats.org/drawingml/2006/main"/>
          <a:p xmlns:a="http://schemas.openxmlformats.org/drawingml/2006/main">
            <a:pPr marL="0" indent="0">
              <a:buNone/>
            </a:pPr>
            <a:r>
              <a:rPr sz="1700" b="1">
                <a:solidFill>
                  <a:srgbClr val="FFFFFF"/>
                </a:solidFill>
                <a:latin typeface="Cambria"/>
                <a:ea typeface="Cambria"/>
                <a:cs typeface="Cambria"/>
              </a:rPr>
              <a:t/>
            </a:r>
          </a:p>
        </p:txBody>
      </p:sp>
      <p:sp>
        <p:nvSpPr>
          <p:cNvPr id="14" name="Text 14">
            <a:extLst xmlns:a="http://schemas.openxmlformats.org/drawingml/2006/main">
              <a:ext uri="{FF2B5EF4-FFF2-40B4-BE49-F238E27FC236}">
                <a16:creationId xmlns:a16="http://schemas.microsoft.com/office/drawing/2014/main" id="{680EAAA8-D1F0-46EF-A97F-74D76BB2FE24}"/>
              </a:ext>
            </a:extLst>
          </p:cNvPr>
          <p:cNvSpPr>
            <a:spLocks xmlns:a="http://schemas.openxmlformats.org/drawingml/2006/main" noGrp="1"/>
          </p:cNvSpPr>
          <p:nvPr/>
        </p:nvSpPr>
        <p:spPr>
          <a:xfrm xmlns:a="http://schemas.openxmlformats.org/drawingml/2006/main">
            <a:off x="6730960" y="2331720"/>
            <a:ext cx="220000" cy="22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F8961E"/>
                </a:solidFill>
                <a:latin typeface="Calibri"/>
                <a:ea typeface="Calibri"/>
                <a:cs typeface="Calibri"/>
              </a:rPr>
              <a:t/>
            </a:r>
          </a:p>
        </p:txBody>
      </p:sp>
      <p:sp>
        <p:nvSpPr>
          <p:cNvPr id="15" name="Text 15">
            <a:extLst xmlns:a="http://schemas.openxmlformats.org/drawingml/2006/main">
              <a:ext uri="{FF2B5EF4-FFF2-40B4-BE49-F238E27FC236}">
                <a16:creationId xmlns:a16="http://schemas.microsoft.com/office/drawing/2014/main" id="{D7E517A3-EE83-4457-84AC-D7574566A487}"/>
              </a:ext>
            </a:extLst>
          </p:cNvPr>
          <p:cNvSpPr>
            <a:spLocks xmlns:a="http://schemas.openxmlformats.org/drawingml/2006/main" noGrp="1"/>
          </p:cNvSpPr>
          <p:nvPr/>
        </p:nvSpPr>
        <p:spPr>
          <a:xfrm xmlns:a="http://schemas.openxmlformats.org/drawingml/2006/main">
            <a:off x="7005320" y="2286000"/>
            <a:ext cx="4688000" cy="50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050">
                <a:solidFill>
                  <a:srgbClr val="E3E7F5"/>
                </a:solidFill>
                <a:latin typeface="Calibri"/>
                <a:ea typeface="Calibri"/>
                <a:cs typeface="Calibri"/>
              </a:rPr>
              <a:t/>
            </a:r>
          </a:p>
        </p:txBody>
      </p:sp>
      <p:sp>
        <p:nvSpPr>
          <p:cNvPr id="16" name="Text 16">
            <a:extLst xmlns:a="http://schemas.openxmlformats.org/drawingml/2006/main">
              <a:ext uri="{FF2B5EF4-FFF2-40B4-BE49-F238E27FC236}">
                <a16:creationId xmlns:a16="http://schemas.microsoft.com/office/drawing/2014/main" id="{8F39AB27-3AC0-469F-AEBD-73558B070991}"/>
              </a:ext>
            </a:extLst>
          </p:cNvPr>
          <p:cNvSpPr>
            <a:spLocks xmlns:a="http://schemas.openxmlformats.org/drawingml/2006/main" noGrp="1"/>
          </p:cNvSpPr>
          <p:nvPr/>
        </p:nvSpPr>
        <p:spPr>
          <a:xfrm xmlns:a="http://schemas.openxmlformats.org/drawingml/2006/main">
            <a:off x="6730960" y="2951720"/>
            <a:ext cx="220000" cy="22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F8961E"/>
                </a:solidFill>
                <a:latin typeface="Calibri"/>
                <a:ea typeface="Calibri"/>
                <a:cs typeface="Calibri"/>
              </a:rPr>
              <a:t/>
            </a:r>
          </a:p>
        </p:txBody>
      </p:sp>
      <p:sp>
        <p:nvSpPr>
          <p:cNvPr id="17" name="Text 17">
            <a:extLst xmlns:a="http://schemas.openxmlformats.org/drawingml/2006/main">
              <a:ext uri="{FF2B5EF4-FFF2-40B4-BE49-F238E27FC236}">
                <a16:creationId xmlns:a16="http://schemas.microsoft.com/office/drawing/2014/main" id="{82B4B4B9-7957-46FB-9FB1-419CAAD67EBE}"/>
              </a:ext>
            </a:extLst>
          </p:cNvPr>
          <p:cNvSpPr>
            <a:spLocks xmlns:a="http://schemas.openxmlformats.org/drawingml/2006/main" noGrp="1"/>
          </p:cNvSpPr>
          <p:nvPr/>
        </p:nvSpPr>
        <p:spPr>
          <a:xfrm xmlns:a="http://schemas.openxmlformats.org/drawingml/2006/main">
            <a:off x="7005320" y="2906000"/>
            <a:ext cx="4688000" cy="50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050">
                <a:solidFill>
                  <a:srgbClr val="E3E7F5"/>
                </a:solidFill>
                <a:latin typeface="Calibri"/>
                <a:ea typeface="Calibri"/>
                <a:cs typeface="Calibri"/>
              </a:rPr>
              <a:t/>
            </a:r>
          </a:p>
        </p:txBody>
      </p:sp>
      <p:sp>
        <p:nvSpPr>
          <p:cNvPr id="18" name="Text 18">
            <a:extLst xmlns:a="http://schemas.openxmlformats.org/drawingml/2006/main">
              <a:ext uri="{FF2B5EF4-FFF2-40B4-BE49-F238E27FC236}">
                <a16:creationId xmlns:a16="http://schemas.microsoft.com/office/drawing/2014/main" id="{1A213023-3E30-43CE-92EB-7C49E0D89A56}"/>
              </a:ext>
            </a:extLst>
          </p:cNvPr>
          <p:cNvSpPr>
            <a:spLocks xmlns:a="http://schemas.openxmlformats.org/drawingml/2006/main" noGrp="1"/>
          </p:cNvSpPr>
          <p:nvPr/>
        </p:nvSpPr>
        <p:spPr>
          <a:xfrm xmlns:a="http://schemas.openxmlformats.org/drawingml/2006/main">
            <a:off x="6730960" y="3571720"/>
            <a:ext cx="220000" cy="22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F8961E"/>
                </a:solidFill>
                <a:latin typeface="Calibri"/>
                <a:ea typeface="Calibri"/>
                <a:cs typeface="Calibri"/>
              </a:rPr>
              <a:t/>
            </a:r>
          </a:p>
        </p:txBody>
      </p:sp>
      <p:sp>
        <p:nvSpPr>
          <p:cNvPr id="19" name="Text 19">
            <a:extLst xmlns:a="http://schemas.openxmlformats.org/drawingml/2006/main">
              <a:ext uri="{FF2B5EF4-FFF2-40B4-BE49-F238E27FC236}">
                <a16:creationId xmlns:a16="http://schemas.microsoft.com/office/drawing/2014/main" id="{84D3F080-3246-40FD-96FE-94EE9BF716EF}"/>
              </a:ext>
            </a:extLst>
          </p:cNvPr>
          <p:cNvSpPr>
            <a:spLocks xmlns:a="http://schemas.openxmlformats.org/drawingml/2006/main" noGrp="1"/>
          </p:cNvSpPr>
          <p:nvPr/>
        </p:nvSpPr>
        <p:spPr>
          <a:xfrm xmlns:a="http://schemas.openxmlformats.org/drawingml/2006/main">
            <a:off x="7005320" y="3526000"/>
            <a:ext cx="4688000" cy="50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050">
                <a:solidFill>
                  <a:srgbClr val="E3E7F5"/>
                </a:solidFill>
                <a:latin typeface="Calibri"/>
                <a:ea typeface="Calibri"/>
                <a:cs typeface="Calibri"/>
              </a:rPr>
              <a:t/>
            </a:r>
          </a:p>
        </p:txBody>
      </p:sp>
      <p:sp>
        <p:nvSpPr>
          <p:cNvPr id="20" name="Text 20">
            <a:extLst xmlns:a="http://schemas.openxmlformats.org/drawingml/2006/main">
              <a:ext uri="{FF2B5EF4-FFF2-40B4-BE49-F238E27FC236}">
                <a16:creationId xmlns:a16="http://schemas.microsoft.com/office/drawing/2014/main" id="{EE64AACA-646F-4D8D-BB38-9D1B4161AF56}"/>
              </a:ext>
            </a:extLst>
          </p:cNvPr>
          <p:cNvSpPr>
            <a:spLocks xmlns:a="http://schemas.openxmlformats.org/drawingml/2006/main" noGrp="1"/>
          </p:cNvSpPr>
          <p:nvPr/>
        </p:nvSpPr>
        <p:spPr>
          <a:xfrm xmlns:a="http://schemas.openxmlformats.org/drawingml/2006/main">
            <a:off x="11521440" y="6446520"/>
            <a:ext cx="4572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5B6472"/>
                </a:solidFill>
                <a:latin typeface="Calibri"/>
                <a:ea typeface="Calibri"/>
                <a:cs typeface="Calibri"/>
              </a:rPr>
              <a:t/>
            </a:r>
          </a:p>
        </p:txBody>
      </p:sp>
      <p:sp>
        <p:nvSpPr>
          <p:cNvPr id="21" name="">
            <a:extLst xmlns:a="http://schemas.openxmlformats.org/drawingml/2006/main">
              <a:ext uri="{FF2B5EF4-FFF2-40B4-BE49-F238E27FC236}">
                <a16:creationId xmlns:a16="http://schemas.microsoft.com/office/drawing/2014/main" id="{E67A1FAB-401E-4F19-8624-C7E4F252D805}"/>
              </a:ext>
            </a:extLst>
          </p:cNvPr>
          <p:cNvSpPr>
            <a:spLocks xmlns:a="http://schemas.openxmlformats.org/drawingml/2006/main" noGrp="1"/>
          </p:cNvSpPr>
          <p:nvPr/>
        </p:nvSpPr>
        <p:spPr>
          <a:xfrm xmlns:a="http://schemas.openxmlformats.org/drawingml/2006/main">
            <a:off x="628650" y="40005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0265E"/>
                </a:solidFill>
                <a:latin typeface="Arial"/>
                <a:ea typeface="Arial"/>
                <a:cs typeface="Arial"/>
              </a:defRPr>
            </a:pPr>
            <a:r>
              <a:rPr sz="1350" b="1">
                <a:solidFill>
                  <a:srgbClr val="20265E"/>
                </a:solidFill>
                <a:latin typeface="Arial"/>
                <a:ea typeface="Arial"/>
                <a:cs typeface="Arial"/>
              </a:rPr>
              <a:t>6. SCOPE OF IMPROVEMENTS WITHIN 2 WEEKS</a:t>
            </a:r>
          </a:p>
        </p:txBody>
      </p:sp>
      <p:sp>
        <p:nvSpPr>
          <p:cNvPr id="22" name="">
            <a:extLst xmlns:a="http://schemas.openxmlformats.org/drawingml/2006/main">
              <a:ext uri="{FF2B5EF4-FFF2-40B4-BE49-F238E27FC236}">
                <a16:creationId xmlns:a16="http://schemas.microsoft.com/office/drawing/2014/main" id="{0548312F-A59C-48C8-B2FE-4B086997E97E}"/>
              </a:ext>
            </a:extLst>
          </p:cNvPr>
          <p:cNvSpPr>
            <a:spLocks xmlns:a="http://schemas.openxmlformats.org/drawingml/2006/main" noGrp="1"/>
          </p:cNvSpPr>
          <p:nvPr/>
        </p:nvSpPr>
        <p:spPr>
          <a:xfrm xmlns:a="http://schemas.openxmlformats.org/drawingml/2006/main">
            <a:off x="628650" y="895350"/>
            <a:ext cx="10953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65E"/>
                </a:solidFill>
                <a:latin typeface="Arial"/>
                <a:ea typeface="Arial"/>
                <a:cs typeface="Arial"/>
              </a:defRPr>
            </a:pPr>
            <a:r>
              <a:rPr sz="2700" b="1">
                <a:solidFill>
                  <a:srgbClr val="20265E"/>
                </a:solidFill>
                <a:latin typeface="Arial"/>
                <a:ea typeface="Arial"/>
                <a:cs typeface="Arial"/>
              </a:rPr>
              <a:t>Further analysis and model comparisons</a:t>
            </a:r>
          </a:p>
        </p:txBody>
      </p:sp>
      <p:sp>
        <p:nvSpPr>
          <p:cNvPr id="23" name="">
            <a:extLst xmlns:a="http://schemas.openxmlformats.org/drawingml/2006/main">
              <a:ext uri="{FF2B5EF4-FFF2-40B4-BE49-F238E27FC236}">
                <a16:creationId xmlns:a16="http://schemas.microsoft.com/office/drawing/2014/main" id="{03A78DCC-59FA-49E7-959A-5E963BE26007}"/>
              </a:ext>
            </a:extLst>
          </p:cNvPr>
          <p:cNvSpPr>
            <a:spLocks xmlns:a="http://schemas.openxmlformats.org/drawingml/2006/main" noGrp="1"/>
          </p:cNvSpPr>
          <p:nvPr/>
        </p:nvSpPr>
        <p:spPr>
          <a:xfrm xmlns:a="http://schemas.openxmlformats.org/drawingml/2006/main">
            <a:off x="628650" y="1724025"/>
            <a:ext cx="1093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65E"/>
                </a:solidFill>
                <a:latin typeface="Arial"/>
                <a:ea typeface="Arial"/>
                <a:cs typeface="Arial"/>
              </a:defRPr>
            </a:pPr>
            <a:r>
              <a:rPr sz="1875" b="1">
                <a:solidFill>
                  <a:srgbClr val="20265E"/>
                </a:solidFill>
                <a:latin typeface="Arial"/>
                <a:ea typeface="Arial"/>
                <a:cs typeface="Arial"/>
              </a:rPr>
              <a:t>1. Completed: ordinary versus grouped RF evaluation</a:t>
            </a:r>
          </a:p>
        </p:txBody>
      </p:sp>
      <p:sp>
        <p:nvSpPr>
          <p:cNvPr id="24" name="">
            <a:extLst xmlns:a="http://schemas.openxmlformats.org/drawingml/2006/main">
              <a:ext uri="{FF2B5EF4-FFF2-40B4-BE49-F238E27FC236}">
                <a16:creationId xmlns:a16="http://schemas.microsoft.com/office/drawing/2014/main" id="{3F446221-93D1-4C21-8FAD-0F805B435679}"/>
              </a:ext>
            </a:extLst>
          </p:cNvPr>
          <p:cNvSpPr>
            <a:spLocks xmlns:a="http://schemas.openxmlformats.org/drawingml/2006/main" noGrp="1"/>
          </p:cNvSpPr>
          <p:nvPr/>
        </p:nvSpPr>
        <p:spPr>
          <a:xfrm xmlns:a="http://schemas.openxmlformats.org/drawingml/2006/main">
            <a:off x="628650" y="209550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0222D"/>
                </a:solidFill>
                <a:latin typeface="Arial"/>
                <a:ea typeface="Arial"/>
                <a:cs typeface="Arial"/>
              </a:defRPr>
            </a:pPr>
            <a:r>
              <a:rPr sz="1650" b="0">
                <a:solidFill>
                  <a:srgbClr val="20222D"/>
                </a:solidFill>
                <a:latin typeface="Arial"/>
                <a:ea typeface="Arial"/>
                <a:cs typeface="Arial"/>
              </a:rPr>
              <a:t>Measured exact-sequence overlap and compared accuracy and macro-F1 under the same model settings.</a:t>
            </a:r>
          </a:p>
        </p:txBody>
      </p:sp>
      <p:sp>
        <p:nvSpPr>
          <p:cNvPr id="25" name="">
            <a:extLst xmlns:a="http://schemas.openxmlformats.org/drawingml/2006/main">
              <a:ext uri="{FF2B5EF4-FFF2-40B4-BE49-F238E27FC236}">
                <a16:creationId xmlns:a16="http://schemas.microsoft.com/office/drawing/2014/main" id="{3D579DA4-4F6E-42DC-8F9D-953ECF97C4E8}"/>
              </a:ext>
            </a:extLst>
          </p:cNvPr>
          <p:cNvSpPr>
            <a:spLocks xmlns:a="http://schemas.openxmlformats.org/drawingml/2006/main" noGrp="1"/>
          </p:cNvSpPr>
          <p:nvPr/>
        </p:nvSpPr>
        <p:spPr>
          <a:xfrm xmlns:a="http://schemas.openxmlformats.org/drawingml/2006/main">
            <a:off x="628650" y="2657475"/>
            <a:ext cx="1093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65E"/>
                </a:solidFill>
                <a:latin typeface="Arial"/>
                <a:ea typeface="Arial"/>
                <a:cs typeface="Arial"/>
              </a:defRPr>
            </a:pPr>
            <a:r>
              <a:rPr sz="1875" b="1">
                <a:solidFill>
                  <a:srgbClr val="20265E"/>
                </a:solidFill>
                <a:latin typeface="Arial"/>
                <a:ea typeface="Arial"/>
                <a:cs typeface="Arial"/>
              </a:rPr>
              <a:t>2. Analyse overlap and category-level errors</a:t>
            </a:r>
          </a:p>
        </p:txBody>
      </p:sp>
      <p:sp>
        <p:nvSpPr>
          <p:cNvPr id="26" name="">
            <a:extLst xmlns:a="http://schemas.openxmlformats.org/drawingml/2006/main">
              <a:ext uri="{FF2B5EF4-FFF2-40B4-BE49-F238E27FC236}">
                <a16:creationId xmlns:a16="http://schemas.microsoft.com/office/drawing/2014/main" id="{B742E87E-6007-4352-84E2-19050FE3859A}"/>
              </a:ext>
            </a:extLst>
          </p:cNvPr>
          <p:cNvSpPr>
            <a:spLocks xmlns:a="http://schemas.openxmlformats.org/drawingml/2006/main" noGrp="1"/>
          </p:cNvSpPr>
          <p:nvPr/>
        </p:nvSpPr>
        <p:spPr>
          <a:xfrm xmlns:a="http://schemas.openxmlformats.org/drawingml/2006/main">
            <a:off x="628650" y="30289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0222D"/>
                </a:solidFill>
                <a:latin typeface="Arial"/>
                <a:ea typeface="Arial"/>
                <a:cs typeface="Arial"/>
              </a:defRPr>
            </a:pPr>
            <a:r>
              <a:rPr sz="1650" b="0">
                <a:solidFill>
                  <a:srgbClr val="20222D"/>
                </a:solidFill>
                <a:latin typeface="Arial"/>
                <a:ea typeface="Arial"/>
                <a:cs typeface="Arial"/>
              </a:rPr>
              <a:t>Use saved predictions to compare errors for overlapping versus unseen sequences, including Trojan and Spyware.</a:t>
            </a:r>
          </a:p>
        </p:txBody>
      </p:sp>
      <p:sp>
        <p:nvSpPr>
          <p:cNvPr id="27" name="">
            <a:extLst xmlns:a="http://schemas.openxmlformats.org/drawingml/2006/main">
              <a:ext uri="{FF2B5EF4-FFF2-40B4-BE49-F238E27FC236}">
                <a16:creationId xmlns:a16="http://schemas.microsoft.com/office/drawing/2014/main" id="{A66A125E-59F7-4054-8815-63BD629B7BCD}"/>
              </a:ext>
            </a:extLst>
          </p:cNvPr>
          <p:cNvSpPr>
            <a:spLocks xmlns:a="http://schemas.openxmlformats.org/drawingml/2006/main" noGrp="1"/>
          </p:cNvSpPr>
          <p:nvPr/>
        </p:nvSpPr>
        <p:spPr>
          <a:xfrm xmlns:a="http://schemas.openxmlformats.org/drawingml/2006/main">
            <a:off x="628650" y="3590925"/>
            <a:ext cx="1093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65E"/>
                </a:solidFill>
                <a:latin typeface="Arial"/>
                <a:ea typeface="Arial"/>
                <a:cs typeface="Arial"/>
              </a:defRPr>
            </a:pPr>
            <a:r>
              <a:rPr sz="1875" b="1">
                <a:solidFill>
                  <a:srgbClr val="20265E"/>
                </a:solidFill>
                <a:latin typeface="Arial"/>
                <a:ea typeface="Arial"/>
                <a:cs typeface="Arial"/>
              </a:rPr>
              <a:t>3. Check sensitivity to conflicting-label groups</a:t>
            </a:r>
          </a:p>
        </p:txBody>
      </p:sp>
      <p:sp>
        <p:nvSpPr>
          <p:cNvPr id="28" name="">
            <a:extLst xmlns:a="http://schemas.openxmlformats.org/drawingml/2006/main">
              <a:ext uri="{FF2B5EF4-FFF2-40B4-BE49-F238E27FC236}">
                <a16:creationId xmlns:a16="http://schemas.microsoft.com/office/drawing/2014/main" id="{C10B7DC4-8491-4ACF-81A1-0E9BC5BE649E}"/>
              </a:ext>
            </a:extLst>
          </p:cNvPr>
          <p:cNvSpPr>
            <a:spLocks xmlns:a="http://schemas.openxmlformats.org/drawingml/2006/main" noGrp="1"/>
          </p:cNvSpPr>
          <p:nvPr/>
        </p:nvSpPr>
        <p:spPr>
          <a:xfrm xmlns:a="http://schemas.openxmlformats.org/drawingml/2006/main">
            <a:off x="628650" y="396240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0222D"/>
                </a:solidFill>
                <a:latin typeface="Arial"/>
                <a:ea typeface="Arial"/>
                <a:cs typeface="Arial"/>
              </a:defRPr>
            </a:pPr>
            <a:r>
              <a:rPr sz="1650" b="0">
                <a:solidFill>
                  <a:srgbClr val="20222D"/>
                </a:solidFill>
                <a:latin typeface="Arial"/>
                <a:ea typeface="Arial"/>
                <a:cs typeface="Arial"/>
              </a:rPr>
              <a:t>Recalculate held-out metrics excluding the 33 conflicting-label groups; retain full-dataset results as the primary analysis.</a:t>
            </a:r>
          </a:p>
        </p:txBody>
      </p:sp>
      <p:sp>
        <p:nvSpPr>
          <p:cNvPr id="29" name="">
            <a:extLst xmlns:a="http://schemas.openxmlformats.org/drawingml/2006/main">
              <a:ext uri="{FF2B5EF4-FFF2-40B4-BE49-F238E27FC236}">
                <a16:creationId xmlns:a16="http://schemas.microsoft.com/office/drawing/2014/main" id="{2B4AA063-1776-4CD8-8289-7285467BA603}"/>
              </a:ext>
            </a:extLst>
          </p:cNvPr>
          <p:cNvSpPr>
            <a:spLocks xmlns:a="http://schemas.openxmlformats.org/drawingml/2006/main" noGrp="1"/>
          </p:cNvSpPr>
          <p:nvPr/>
        </p:nvSpPr>
        <p:spPr>
          <a:xfrm xmlns:a="http://schemas.openxmlformats.org/drawingml/2006/main">
            <a:off x="628650" y="4524375"/>
            <a:ext cx="1093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65E"/>
                </a:solidFill>
                <a:latin typeface="Arial"/>
                <a:ea typeface="Arial"/>
                <a:cs typeface="Arial"/>
              </a:defRPr>
            </a:pPr>
            <a:r>
              <a:rPr sz="1875" b="1">
                <a:solidFill>
                  <a:srgbClr val="20265E"/>
                </a:solidFill>
                <a:latin typeface="Arial"/>
                <a:ea typeface="Arial"/>
                <a:cs typeface="Arial"/>
              </a:rPr>
              <a:t>4. Tune Random Forest with grouped validation</a:t>
            </a:r>
          </a:p>
        </p:txBody>
      </p:sp>
      <p:sp>
        <p:nvSpPr>
          <p:cNvPr id="30" name="">
            <a:extLst xmlns:a="http://schemas.openxmlformats.org/drawingml/2006/main">
              <a:ext uri="{FF2B5EF4-FFF2-40B4-BE49-F238E27FC236}">
                <a16:creationId xmlns:a16="http://schemas.microsoft.com/office/drawing/2014/main" id="{DE148820-418A-4426-9FCF-7C6DAE7D9EC3}"/>
              </a:ext>
            </a:extLst>
          </p:cNvPr>
          <p:cNvSpPr>
            <a:spLocks xmlns:a="http://schemas.openxmlformats.org/drawingml/2006/main" noGrp="1"/>
          </p:cNvSpPr>
          <p:nvPr/>
        </p:nvSpPr>
        <p:spPr>
          <a:xfrm xmlns:a="http://schemas.openxmlformats.org/drawingml/2006/main">
            <a:off x="628650" y="48958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0222D"/>
                </a:solidFill>
                <a:latin typeface="Arial"/>
                <a:ea typeface="Arial"/>
                <a:cs typeface="Arial"/>
              </a:defRPr>
            </a:pPr>
            <a:r>
              <a:rPr sz="1650" b="0">
                <a:solidFill>
                  <a:srgbClr val="20222D"/>
                </a:solidFill>
                <a:latin typeface="Arial"/>
                <a:ea typeface="Arial"/>
                <a:cs typeface="Arial"/>
              </a:rPr>
              <a:t>Compare a small search over tree depth and minimum leaf size with the fixed baseline; tune only within outer-training folds.</a:t>
            </a:r>
          </a:p>
        </p:txBody>
      </p:sp>
      <p:sp>
        <p:nvSpPr>
          <p:cNvPr id="31" name="">
            <a:extLst xmlns:a="http://schemas.openxmlformats.org/drawingml/2006/main">
              <a:ext uri="{FF2B5EF4-FFF2-40B4-BE49-F238E27FC236}">
                <a16:creationId xmlns:a16="http://schemas.microsoft.com/office/drawing/2014/main" id="{A97AAAA6-BE0C-41FB-9FFD-35BE004B15CB}"/>
              </a:ext>
            </a:extLst>
          </p:cNvPr>
          <p:cNvSpPr>
            <a:spLocks xmlns:a="http://schemas.openxmlformats.org/drawingml/2006/main" noGrp="1"/>
          </p:cNvSpPr>
          <p:nvPr/>
        </p:nvSpPr>
        <p:spPr>
          <a:xfrm xmlns:a="http://schemas.openxmlformats.org/drawingml/2006/main">
            <a:off x="628650" y="5457825"/>
            <a:ext cx="1093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65E"/>
                </a:solidFill>
                <a:latin typeface="Arial"/>
                <a:ea typeface="Arial"/>
                <a:cs typeface="Arial"/>
              </a:defRPr>
            </a:pPr>
            <a:r>
              <a:rPr sz="1875" b="1">
                <a:solidFill>
                  <a:srgbClr val="20265E"/>
                </a:solidFill>
                <a:latin typeface="Arial"/>
                <a:ea typeface="Arial"/>
                <a:cs typeface="Arial"/>
              </a:rPr>
              <a:t>5. Compare two-model and three-model soft voting</a:t>
            </a:r>
          </a:p>
        </p:txBody>
      </p:sp>
      <p:sp>
        <p:nvSpPr>
          <p:cNvPr id="32" name="">
            <a:extLst xmlns:a="http://schemas.openxmlformats.org/drawingml/2006/main">
              <a:ext uri="{FF2B5EF4-FFF2-40B4-BE49-F238E27FC236}">
                <a16:creationId xmlns:a16="http://schemas.microsoft.com/office/drawing/2014/main" id="{72E8C650-366B-4965-B579-E29C692372E2}"/>
              </a:ext>
            </a:extLst>
          </p:cNvPr>
          <p:cNvSpPr>
            <a:spLocks xmlns:a="http://schemas.openxmlformats.org/drawingml/2006/main" noGrp="1"/>
          </p:cNvSpPr>
          <p:nvPr/>
        </p:nvSpPr>
        <p:spPr>
          <a:xfrm xmlns:a="http://schemas.openxmlformats.org/drawingml/2006/main">
            <a:off x="628650" y="582930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0222D"/>
                </a:solidFill>
                <a:latin typeface="Arial"/>
                <a:ea typeface="Arial"/>
                <a:cs typeface="Arial"/>
              </a:defRPr>
            </a:pPr>
            <a:r>
              <a:rPr sz="1650" b="0">
                <a:solidFill>
                  <a:srgbClr val="20222D"/>
                </a:solidFill>
                <a:latin typeface="Arial"/>
                <a:ea typeface="Arial"/>
                <a:cs typeface="Arial"/>
              </a:rPr>
              <a:t>Use saved probabilities to compare equal-weight RF + XGBoost voting with RF + XGBoost + SVM and XGBoost alone.</a:t>
            </a:r>
          </a:p>
        </p:txBody>
      </p:sp>
      <p:sp>
        <p:nvSpPr>
          <p:cNvPr id="33" name="">
            <a:extLst xmlns:a="http://schemas.openxmlformats.org/drawingml/2006/main">
              <a:ext uri="{FF2B5EF4-FFF2-40B4-BE49-F238E27FC236}">
                <a16:creationId xmlns:a16="http://schemas.microsoft.com/office/drawing/2014/main" id="{82237EEA-304A-48CC-84EE-F0A46CEBD2DC}"/>
              </a:ext>
            </a:extLst>
          </p:cNvPr>
          <p:cNvSpPr>
            <a:spLocks xmlns:a="http://schemas.openxmlformats.org/drawingml/2006/main" noGrp="1"/>
          </p:cNvSpPr>
          <p:nvPr/>
        </p:nvSpPr>
        <p:spPr>
          <a:xfrm xmlns:a="http://schemas.openxmlformats.org/drawingml/2006/main">
            <a:off x="11572875" y="652462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66666"/>
                </a:solidFill>
                <a:latin typeface="Arial"/>
                <a:ea typeface="Arial"/>
                <a:cs typeface="Arial"/>
              </a:defRPr>
            </a:pPr>
            <a:r>
              <a:rPr sz="1050" b="0">
                <a:solidFill>
                  <a:srgbClr val="666666"/>
                </a:solidFill>
                <a:latin typeface="Arial"/>
                <a:ea typeface="Arial"/>
                <a:cs typeface="Arial"/>
              </a:rPr>
              <a:t>13</a:t>
            </a:r>
          </a:p>
        </p:txBody>
      </p:sp>
    </p:spTree>
    <p:extLst>
      <p:ext uri="{BB962C8B-B14F-4D97-AF65-F5344CB8AC3E}">
        <p14:creationId xmlns:p14="http://schemas.microsoft.com/office/powerpoint/2010/main" val="673478361"/>
      </p:ext>
    </p:extLst>
  </p:cSld>
</p:sld>
</file>

<file path=ppt/slides/slide14.xml><?xml version="1.0" encoding="utf-8"?>
<p:sld xmlns:p="http://schemas.openxmlformats.org/presentationml/2006/main">
  <p:cSld>
    <p:bg>
      <p:bgPr>
        <a:solidFill xmlns:a="http://schemas.openxmlformats.org/drawingml/2006/main">
          <a:srgbClr val="1E2761"/>
        </a:solidFill>
      </p:bgPr>
    </p:bg>
    <p:spTree>
      <p:nvGrpSpPr>
        <p:cNvPr id="1" name=""/>
        <p:cNvGrpSpPr/>
        <p:nvPr/>
      </p:nvGrpSpPr>
      <p:grpSpPr>
        <a:xfrm xmlns:a="http://schemas.openxmlformats.org/drawingml/2006/main"/>
      </p:grpSpPr>
      <p:sp>
        <p:nvSpPr>
          <p:cNvPr id="2" name="Text 2">
            <a:extLst xmlns:a="http://schemas.openxmlformats.org/drawingml/2006/main">
              <a:ext uri="{FF2B5EF4-FFF2-40B4-BE49-F238E27FC236}">
                <a16:creationId xmlns:a16="http://schemas.microsoft.com/office/drawing/2014/main" id="{B201A62F-3782-4883-B170-5B4F9B7D7E70}"/>
              </a:ext>
            </a:extLst>
          </p:cNvPr>
          <p:cNvSpPr>
            <a:spLocks xmlns:a="http://schemas.openxmlformats.org/drawingml/2006/main" noGrp="1"/>
          </p:cNvSpPr>
          <p:nvPr/>
        </p:nvSpPr>
        <p:spPr>
          <a:xfrm xmlns:a="http://schemas.openxmlformats.org/drawingml/2006/main">
            <a:off x="548640" y="365760"/>
            <a:ext cx="105156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spc="200">
                <a:solidFill>
                  <a:srgbClr val="AFC0E8"/>
                </a:solidFill>
                <a:latin typeface="Calibri"/>
                <a:ea typeface="Calibri"/>
                <a:cs typeface="Calibri"/>
              </a:rPr>
              <a:t>7. SOURCE CODE</a:t>
            </a:r>
          </a:p>
        </p:txBody>
      </p:sp>
      <p:sp>
        <p:nvSpPr>
          <p:cNvPr id="3" name="Text 3">
            <a:extLst xmlns:a="http://schemas.openxmlformats.org/drawingml/2006/main">
              <a:ext uri="{FF2B5EF4-FFF2-40B4-BE49-F238E27FC236}">
                <a16:creationId xmlns:a16="http://schemas.microsoft.com/office/drawing/2014/main" id="{1ADD7B99-25D2-43FA-A3C0-B921E7AB251D}"/>
              </a:ext>
            </a:extLst>
          </p:cNvPr>
          <p:cNvSpPr>
            <a:spLocks xmlns:a="http://schemas.openxmlformats.org/drawingml/2006/main" noGrp="1"/>
          </p:cNvSpPr>
          <p:nvPr/>
        </p:nvSpPr>
        <p:spPr>
          <a:xfrm xmlns:a="http://schemas.openxmlformats.org/drawingml/2006/main">
            <a:off x="548640" y="685800"/>
            <a:ext cx="1131560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200" b="1">
                <a:solidFill>
                  <a:srgbClr val="FFFFFF"/>
                </a:solidFill>
                <a:latin typeface="Cambria"/>
                <a:ea typeface="Cambria"/>
                <a:cs typeface="Cambria"/>
              </a:rPr>
              <a:t>Source code and saved evidence</a:t>
            </a:r>
          </a:p>
        </p:txBody>
      </p:sp>
      <p:sp>
        <p:nvSpPr>
          <p:cNvPr id="4" name="Text 4">
            <a:extLst xmlns:a="http://schemas.openxmlformats.org/drawingml/2006/main">
              <a:ext uri="{FF2B5EF4-FFF2-40B4-BE49-F238E27FC236}">
                <a16:creationId xmlns:a16="http://schemas.microsoft.com/office/drawing/2014/main" id="{88039051-C5A7-4463-B2AD-2011DBA43396}"/>
              </a:ext>
            </a:extLst>
          </p:cNvPr>
          <p:cNvSpPr>
            <a:spLocks xmlns:a="http://schemas.openxmlformats.org/drawingml/2006/main" noGrp="1"/>
          </p:cNvSpPr>
          <p:nvPr/>
        </p:nvSpPr>
        <p:spPr>
          <a:xfrm xmlns:a="http://schemas.openxmlformats.org/drawingml/2006/main">
            <a:off x="548640" y="1600200"/>
            <a:ext cx="11315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a:solidFill>
                  <a:srgbClr val="FFFFFF"/>
                </a:solidFill>
                <a:latin typeface="Calibri"/>
                <a:ea typeface="Calibri"/>
                <a:cs typeface="Calibri"/>
              </a:rPr>
              <a:t>Corrected notebook: grouped five-fold experiments</a:t>
            </a:r>
          </a:p>
        </p:txBody>
      </p:sp>
      <p:sp>
        <p:nvSpPr>
          <p:cNvPr id="5" name="Shape 5">
            <a:extLst xmlns:a="http://schemas.openxmlformats.org/drawingml/2006/main">
              <a:ext uri="{FF2B5EF4-FFF2-40B4-BE49-F238E27FC236}">
                <a16:creationId xmlns:a16="http://schemas.microsoft.com/office/drawing/2014/main" id="{6E06EE60-6675-4604-B696-3375F1307FF5}"/>
              </a:ext>
            </a:extLst>
          </p:cNvPr>
          <p:cNvSpPr>
            <a:spLocks xmlns:a="http://schemas.openxmlformats.org/drawingml/2006/main" noGrp="1"/>
          </p:cNvSpPr>
          <p:nvPr/>
        </p:nvSpPr>
        <p:spPr>
          <a:xfrm xmlns:a="http://schemas.openxmlformats.org/drawingml/2006/main">
            <a:off x="548640" y="1975000"/>
            <a:ext cx="11315600" cy="731520"/>
          </a:xfrm>
          <a:prstGeom xmlns:a="http://schemas.openxmlformats.org/drawingml/2006/main" prst="roundRect">
            <a:avLst>
              <a:gd name="adj" fmla="val 2200"/>
            </a:avLst>
          </a:prstGeom>
          <a:solidFill xmlns:a="http://schemas.openxmlformats.org/drawingml/2006/main">
            <a:srgbClr val="2A3372"/>
          </a:solidFill>
        </p:spPr>
        <p:txBody>
          <a:bodyPr xmlns:a="http://schemas.openxmlformats.org/drawingml/2006/main"/>
          <a:lstStyle xmlns:a="http://schemas.openxmlformats.org/drawingml/2006/main"/>
          <a:p xmlns:a="http://schemas.openxmlformats.org/drawingml/2006/main">
            <a:endParaRPr/>
          </a:p>
        </p:txBody>
      </p:sp>
      <p:sp>
        <p:nvSpPr>
          <p:cNvPr id="6" name="Link 6">
            <a:extLst xmlns:a="http://schemas.openxmlformats.org/drawingml/2006/main">
              <a:ext uri="{FF2B5EF4-FFF2-40B4-BE49-F238E27FC236}">
                <a16:creationId xmlns:a16="http://schemas.microsoft.com/office/drawing/2014/main" id="{F3FC1A99-A897-4188-A74A-42FB22A50912}"/>
              </a:ext>
            </a:extLst>
          </p:cNvPr>
          <p:cNvSpPr>
            <a:spLocks xmlns:a="http://schemas.openxmlformats.org/drawingml/2006/main" noGrp="1"/>
          </p:cNvSpPr>
          <p:nvPr/>
        </p:nvSpPr>
        <p:spPr>
          <a:xfrm xmlns:a="http://schemas.openxmlformats.org/drawingml/2006/main">
            <a:off x="822960" y="1975000"/>
            <a:ext cx="10766960"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u="sng">
                <a:solidFill>
                  <a:srgbClr val="CADCFC"/>
                </a:solidFill>
                <a:latin typeface="Calibri"/>
                <a:ea typeface="Calibri"/>
                <a:cs typeface="Calibri"/>
                <a:hlinkClick xmlns:r="http://schemas.openxmlformats.org/officeDocument/2006/relationships" r:id="R2bb21a9a11d045d3"/>
              </a:rPr>
              <a:t>https://colab.research.google.com/drive/15LGubBMgX0g2SrTR0kcktygGyAW1ZC4v?usp=sharing</a:t>
            </a:r>
          </a:p>
        </p:txBody>
      </p:sp>
      <p:sp>
        <p:nvSpPr>
          <p:cNvPr id="7" name="Text 7">
            <a:extLst xmlns:a="http://schemas.openxmlformats.org/drawingml/2006/main">
              <a:ext uri="{FF2B5EF4-FFF2-40B4-BE49-F238E27FC236}">
                <a16:creationId xmlns:a16="http://schemas.microsoft.com/office/drawing/2014/main" id="{F9566AAC-4B48-484D-A068-1D97A5F94533}"/>
              </a:ext>
            </a:extLst>
          </p:cNvPr>
          <p:cNvSpPr>
            <a:spLocks xmlns:a="http://schemas.openxmlformats.org/drawingml/2006/main" noGrp="1"/>
          </p:cNvSpPr>
          <p:nvPr/>
        </p:nvSpPr>
        <p:spPr>
          <a:xfrm xmlns:a="http://schemas.openxmlformats.org/drawingml/2006/main">
            <a:off x="548640" y="2960000"/>
            <a:ext cx="11315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a:solidFill>
                  <a:srgbClr val="C9D2EE"/>
                </a:solidFill>
                <a:latin typeface="Calibri"/>
                <a:ea typeface="Calibri"/>
                <a:cs typeface="Calibri"/>
              </a:rPr>
              <a:t>Saved evidence: settings, fold assignments and per-sample predictions</a:t>
            </a:r>
          </a:p>
        </p:txBody>
      </p:sp>
      <p:sp>
        <p:nvSpPr>
          <p:cNvPr id="8" name="Shape 8">
            <a:extLst xmlns:a="http://schemas.openxmlformats.org/drawingml/2006/main">
              <a:ext uri="{FF2B5EF4-FFF2-40B4-BE49-F238E27FC236}">
                <a16:creationId xmlns:a16="http://schemas.microsoft.com/office/drawing/2014/main" id="{08E1A0B7-DA0F-4F12-914C-1B27609AF68E}"/>
              </a:ext>
            </a:extLst>
          </p:cNvPr>
          <p:cNvSpPr>
            <a:spLocks xmlns:a="http://schemas.openxmlformats.org/drawingml/2006/main" noGrp="1"/>
          </p:cNvSpPr>
          <p:nvPr/>
        </p:nvSpPr>
        <p:spPr>
          <a:xfrm xmlns:a="http://schemas.openxmlformats.org/drawingml/2006/main">
            <a:off x="548640" y="3335000"/>
            <a:ext cx="11315600" cy="731520"/>
          </a:xfrm>
          <a:prstGeom xmlns:a="http://schemas.openxmlformats.org/drawingml/2006/main" prst="roundRect">
            <a:avLst>
              <a:gd name="adj" fmla="val 2200"/>
            </a:avLst>
          </a:prstGeom>
          <a:solidFill xmlns:a="http://schemas.openxmlformats.org/drawingml/2006/main">
            <a:srgbClr val="2A3372"/>
          </a:solidFill>
        </p:spPr>
        <p:txBody>
          <a:bodyPr xmlns:a="http://schemas.openxmlformats.org/drawingml/2006/main"/>
          <a:lstStyle xmlns:a="http://schemas.openxmlformats.org/drawingml/2006/main"/>
          <a:p xmlns:a="http://schemas.openxmlformats.org/drawingml/2006/main">
            <a:endParaRPr/>
          </a:p>
        </p:txBody>
      </p:sp>
      <p:sp>
        <p:nvSpPr>
          <p:cNvPr id="9" name="Link 9">
            <a:extLst xmlns:a="http://schemas.openxmlformats.org/drawingml/2006/main">
              <a:ext uri="{FF2B5EF4-FFF2-40B4-BE49-F238E27FC236}">
                <a16:creationId xmlns:a16="http://schemas.microsoft.com/office/drawing/2014/main" id="{B6CC8760-F6F9-4CA0-BF03-7A49F3D5D432}"/>
              </a:ext>
            </a:extLst>
          </p:cNvPr>
          <p:cNvSpPr>
            <a:spLocks xmlns:a="http://schemas.openxmlformats.org/drawingml/2006/main" noGrp="1"/>
          </p:cNvSpPr>
          <p:nvPr/>
        </p:nvSpPr>
        <p:spPr>
          <a:xfrm xmlns:a="http://schemas.openxmlformats.org/drawingml/2006/main">
            <a:off x="822960" y="3335000"/>
            <a:ext cx="10766960"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u="sng">
                <a:solidFill>
                  <a:srgbClr val="9FAEDB"/>
                </a:solidFill>
                <a:latin typeface="Calibri"/>
                <a:ea typeface="Calibri"/>
                <a:cs typeface="Calibri"/>
                <a:hlinkClick xmlns:r="http://schemas.openxmlformats.org/officeDocument/2006/relationships" r:id="Rd94647bd20ae420f"/>
              </a:rPr>
              <a:t/>
            </a:r>
          </a:p>
        </p:txBody>
      </p:sp>
      <p:sp>
        <p:nvSpPr>
          <p:cNvPr id="10" name="Text 10">
            <a:extLst xmlns:a="http://schemas.openxmlformats.org/drawingml/2006/main">
              <a:ext uri="{FF2B5EF4-FFF2-40B4-BE49-F238E27FC236}">
                <a16:creationId xmlns:a16="http://schemas.microsoft.com/office/drawing/2014/main" id="{FF80B5D1-EAF6-4616-A3E8-93AB6DADED2E}"/>
              </a:ext>
            </a:extLst>
          </p:cNvPr>
          <p:cNvSpPr>
            <a:spLocks xmlns:a="http://schemas.openxmlformats.org/drawingml/2006/main" noGrp="1"/>
          </p:cNvSpPr>
          <p:nvPr/>
        </p:nvSpPr>
        <p:spPr>
          <a:xfrm xmlns:a="http://schemas.openxmlformats.org/drawingml/2006/main">
            <a:off x="11521440" y="6446520"/>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AFC0E8"/>
                </a:solidFill>
                <a:latin typeface="Calibri"/>
                <a:ea typeface="Calibri"/>
                <a:cs typeface="Calibri"/>
              </a:rPr>
              <a:t>14</a:t>
            </a:r>
          </a:p>
        </p:txBody>
      </p:sp>
      <p:sp>
        <p:nvSpPr>
          <p:cNvPr id="11" name="">
            <a:extLst xmlns:a="http://schemas.openxmlformats.org/drawingml/2006/main">
              <a:ext uri="{FF2B5EF4-FFF2-40B4-BE49-F238E27FC236}">
                <a16:creationId xmlns:a16="http://schemas.microsoft.com/office/drawing/2014/main" id="{A348055D-43A7-4CA0-A049-BF0E4C10B33A}"/>
              </a:ext>
            </a:extLst>
          </p:cNvPr>
          <p:cNvSpPr>
            <a:spLocks xmlns:a="http://schemas.openxmlformats.org/drawingml/2006/main" noGrp="1"/>
          </p:cNvSpPr>
          <p:nvPr/>
        </p:nvSpPr>
        <p:spPr>
          <a:xfrm xmlns:a="http://schemas.openxmlformats.org/drawingml/2006/main">
            <a:off x="828675" y="35242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C6D4F0"/>
                </a:solidFill>
                <a:latin typeface="Arial"/>
                <a:ea typeface="Arial"/>
                <a:cs typeface="Arial"/>
              </a:defRPr>
            </a:pPr>
            <a:r>
              <a:rPr sz="1350" b="0">
                <a:solidFill>
                  <a:srgbClr val="C6D4F0"/>
                </a:solidFill>
                <a:latin typeface="Arial"/>
                <a:ea typeface="Arial"/>
                <a:cs typeface="Arial"/>
              </a:rPr>
              <a:t>Three configurations: weighted unigrams, weighted 1–3 grams, unweighted 1–3 grams</a:t>
            </a:r>
          </a:p>
        </p:txBody>
      </p:sp>
    </p:spTree>
    <p:extLst>
      <p:ext uri="{BB962C8B-B14F-4D97-AF65-F5344CB8AC3E}">
        <p14:creationId xmlns:p14="http://schemas.microsoft.com/office/powerpoint/2010/main" val="8832866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2026-09-21T15:12:16.7510000Z</dcterms:created>
  <dcterms:modified xsi:type="dcterms:W3CDTF">2026-09-21T15:12:16.7510000Z</dcterms:modified>
</coreProperties>
</file>